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c94b68c1-c838-0e1c-7d9b-c8978791c97e}">
          <p14:sldIdLst>
            <p14:sldId id="256"/>
            <p14:sldId id="257"/>
            <p14:sldId id="258"/>
          </p14:sldIdLst>
        </p14:section>
        <p14:section name="Agentes de IA" id="{9fc95cd0-de05-8931-c38d-63762137f7ea}">
          <p14:sldIdLst>
            <p14:sldId id="259"/>
            <p14:sldId id="260"/>
            <p14:sldId id="261"/>
            <p14:sldId id="262"/>
            <p14:sldId id="263"/>
            <p14:sldId id="264"/>
            <p14:sldId id="265"/>
          </p14:sldIdLst>
        </p14:section>
        <p14:section name="Tests de integración" id="{a07e6a2c-519a-d01f-bc8b-9a175dde9849}">
          <p14:sldIdLst>
            <p14:sldId id="266"/>
            <p14:sldId id="267"/>
            <p14:sldId id="268"/>
            <p14:sldId id="269"/>
            <p14:sldId id="270"/>
            <p14:sldId id="271"/>
            <p14:sldId id="272"/>
            <p14:sldId id="273"/>
          </p14:sldIdLst>
        </p14:section>
        <p14:section name="Frameworks y CI/CD" id="{0d7f083c-5165-d70c-b819-7fac4ae117fe}">
          <p14:sldIdLst>
            <p14:sldId id="274"/>
            <p14:sldId id="275"/>
            <p14:sldId id="276"/>
            <p14:sldId id="277"/>
            <p14:sldId id="278"/>
            <p14:sldId id="279"/>
          </p14:sldIdLst>
        </p14:section>
        <p14:section name="Cierre" id="{2313dced-137b-7d2a-fd28-9951e99ec74b}">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B2430"/>
                </a:solidFill>
                <a:latin typeface="+mn-lt"/>
              </a:defRPr>
            </a:pPr>
            <a:r>
              <a:rPr sz="1500" b="0" i="0" u="none" strike="noStrike">
                <a:solidFill>
                  <a:srgbClr val="1B2430"/>
                </a:solidFill>
                <a:latin typeface="+mn-lt"/>
              </a:rPr>
              <a:t>Tiempo total de los 5 casos de ANPR (segundos)</a:t>
            </a:r>
          </a:p>
        </c:rich>
      </c:tx>
      <c:layout/>
      <c:overlay val="0"/>
    </c:title>
    <c:autoTitleDeleted val="0"/>
    <c:plotArea>
      <c:layout/>
      <c:barChart>
        <c:barDir val="bar"/>
        <c:grouping val="clustered"/>
        <c:varyColors val="0"/>
        <c:ser>
          <c:idx val="0"/>
          <c:order val="0"/>
          <c:tx>
            <c:strRef>
              <c:f>Sheet1!$B$1</c:f>
              <c:strCache>
                <c:ptCount val="1"/>
                <c:pt idx="0">
                  <c:v>Tiempo total (s)</c:v>
                </c:pt>
              </c:strCache>
            </c:strRef>
          </c:tx>
          <c:spPr>
            <a:solidFill>
              <a:srgbClr val="0F8B8D"/>
            </a:solidFill>
            <a:effectLst/>
          </c:spPr>
          <c:invertIfNegative val="0"/>
          <c:dLbls>
            <c:numFmt formatCode="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0F8B8D"/>
              </a:solidFill>
              <a:effectLst/>
            </c:spPr>
          </c:dPt>
          <c:dPt>
            <c:idx val="1"/>
            <c:invertIfNegative val="0"/>
            <c:bubble3D val="0"/>
            <c:spPr>
              <a:solidFill>
                <a:srgbClr val="6B7C85"/>
              </a:solidFill>
              <a:effectLst/>
            </c:spPr>
          </c:dPt>
          <c:dPt>
            <c:idx val="2"/>
            <c:invertIfNegative val="0"/>
            <c:bubble3D val="0"/>
            <c:spPr>
              <a:solidFill>
                <a:srgbClr val="6B7C85"/>
              </a:solidFill>
              <a:effectLst/>
            </c:spPr>
          </c:dPt>
          <c:dPt>
            <c:idx val="3"/>
            <c:invertIfNegative val="0"/>
            <c:bubble3D val="0"/>
            <c:spPr>
              <a:solidFill>
                <a:srgbClr val="6B7C85"/>
              </a:solidFill>
              <a:effectLst/>
            </c:spPr>
          </c:dPt>
          <c:cat>
            <c:multiLvlStrRef>
              <c:f>Sheet1!$A$2:$A$5</c:f>
              <c:multiLvlStrCache>
                <c:ptCount val="4"/>
                <c:lvl>
                  <c:pt idx="0">
                    <c:v>Playwright</c:v>
                  </c:pt>
                  <c:pt idx="1">
                    <c:v>Selenium</c:v>
                  </c:pt>
                  <c:pt idx="2">
                    <c:v>Cypress</c:v>
                  </c:pt>
                  <c:pt idx="3">
                    <c:v>Katalon</c:v>
                  </c:pt>
                </c:lvl>
              </c:multiLvlStrCache>
            </c:multiLvlStrRef>
          </c:cat>
          <c:val>
            <c:numRef>
              <c:f>Sheet1!$B$2:$B$5</c:f>
              <c:numCache>
                <c:formatCode>General</c:formatCode>
                <c:ptCount val="4"/>
                <c:pt idx="0">
                  <c:v>11.8</c:v>
                </c:pt>
                <c:pt idx="1">
                  <c:v>24.1</c:v>
                </c:pt>
                <c:pt idx="2">
                  <c:v>54.9</c:v>
                </c:pt>
                <c:pt idx="3">
                  <c:v>55</c:v>
                </c:pt>
              </c:numCache>
            </c:numRef>
          </c:val>
        </c:ser>
        <c:dLbls>
          <c:numFmt formatCode="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Presentarme y presentar el workshop: cómo usamos un agente de IA para automatizar pruebas end-to-end de nuestros productos, incluidas integraciones entre sistemas, y cómo lo llevamos a CI/CD.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bloques. Los dos primeros son conceptuales; del tercero en adelante hay demo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productos de la plataforma, tres integraciones de punta a punta y cuatro frameworks comparados. Lo más valioso: los hallazgos que aparecieron al automatizar.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la base: qué es un agente de IA y por qué no es lo mismo que un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Antigravity es el entorno de desarrollo de Google con agentes integrados. La diferencia con un chat: el agente hace el trabajo completo y deja evidencia para que la persona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palabras que se mezclan mucho. El editor es el programa donde se trabaja. El asistente sugiere y responde, pero la persona hace cada paso. El agente recibe un objetivo y lo lleva adelante solo: explora, ejecuta y revisa, y la persona controla el resultado. Hoy muchos editores traen un agente adentro, como Antigravity o Cursor, y Copilot sumó un modo agente.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estos agentes escriben código; cambia dónde trabajan y qué pueden hacer solos. Antigravity trae su propio navegador y deja capturas y videos: ideal para QA. Los demás pueden sumar esas capacidades con MCP. En el workshop usamos Antigravity para explorar la web y crear tests, y un agente de terminal para las integraciones con servidores, escritorio y Jenkins. Es una foto a octubre de 2026: cambia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elegimos porque está pensado para el trabajo de un tester: usa la aplicación en su propio navegador, deja capturas y videos, muestra su plan antes de actuar y permite pedir los casos en español. No es el único agente: para las tareas fuera del navegador (servidores por SSH, la aplicación de escritorio de VMS, Jenkins, Docker y Kubernetes) lo complementamos con Claude Code, el agente de Anthropic que trabaja desde la terminal. Cada agente para su tarea.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Ningún test entra al repositorio sin revisión de QA. El caso se registra en el tablero y se cierra solo con el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riesgos de usar IA en testing y cómo los controlamos. El último ejemplo es real: un test generado dejaba datos sin borrar y lo detectamos mirando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tests de integración son los que más valor dieron: prueban lo que ningún test de un solo producto 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flecha es una integración automatizada. Cada una tiene su carpeta de tests, su Jenkinsfile y su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detecta patentes en un video y las manda a ANPR. Verificamos en pantalla y en la base de datos. Así encontramos que nuestro propio test dejaba patentes sin borrar: por pantalla estaba en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Center es una aplicación de escritorio con controles dibujados: casi nada se puede tocar por código. La resolvimos como lo haría una persona: leer la pantalla y usar mouse y teclado. Mientras corre no hay que tocar la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test programa la analítica desde la hora del servidor, instala AS y abre el modal de cada evento que llega. Al tercero corta, desinstala y deja el JSON como estaba.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valor no está solo en el test en verde: automatizar obligó a mirar con lupa. Dos son de seguridad o de producto y quedaron abiertos para los equipos; uno era de nuestro propio test. Las dos diapositivas siguientes muestran la evidencia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Izquierda: la pantalla muestra la contraseña con puntos, pero UI Automation (lo que usan los lectores de pantalla y cualquier programa) la lee en texto plano. El valor real no se muestra en esta presentación. Derecha: el log real de AS en la corrida de Jenkins: analizó la imagen y el evento llegó, pero registró la tarea como salteada.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Izquierda: el test estaba en verde por pantalla, pero la base mostró que la patente seguía activa. Derecha: capturas reales de Control Center y Biblioteca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Mismos 5 casos de ANPR en las cuatro herramientas, mismo Chrome, uno por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solo los 5 casos de ANPR (login, logout y smoke), los mismos en las cuatro herramientas; las integraciones no entran. La ejecución de los casos es parecida; la diferencia está en el arranque. Playwright fue la más rápida y la única sin adaptaciones. Katalon necesita licencia paga para correr por consola, que es lo que pide un CI. Katalon se midió desde su 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CI/CD, para un tester, es que los tests corran solos en cada cambio, siempre igual, y que el resultado quede a la vista. No son herramientas que compiten: cada una resuelve una parte. GitHub Actions revisa cada cambio en la nube. Jenkins corre las pruebas de verdad contra nuestros ambientes, adentro de la red. Docker es una caja con todo lo que el test necesita, para que corra igual en cualquier lado. Kubernetes organiza muchas de esas cajas a la vez. Explicación completa, con analogías y preguntas frecuentes, en docs/ci-cd-para-testers.md.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Izquierda: qué pasa cuando alguien sube un cambio. GitHub Actions valida en la nube en minutos; Jenkins corre las pruebas de punta a punta adentro de la red y deja el reporte. Derecha: no todas las pruebas pueden correr en todos lados. GitHub Actions solo valida que compilen, porque no llega a la red. Las pruebas web usan Chrome sin ventana y corren en Docker y Kubernetes. VMS es una aplicación de escritorio de Windows: el test usa el mouse y lee la pantalla, y un contenedor es un Linux sin pantalla. Por eso VMS corre en Jenkins, en una PC Windows con la sesión abierta. Las integraciones con AS (SSH más web) podrían ir en contenedores; todavía no lo probamos.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misma imagen corre en un contenedor y en Kubernetes. Las credenciales nunca entran en la imagen: se pasan al correrla (el .env en Docker, un Secret en Kubernetes). Usamos Rancher Desktop: gratis y open source, trae Docker y Kubernetes. Docker Desktop requiere licencia paga en empresas de más de 250 empleados o 10 millones de dólares de facturación. VMS queda afuera: necesita el escritorio de Windows. Corrida real: en Docker, ANPR 7/7 y Biblioteca 5/5 en 46 segundos; en Kubernetes, los dos Jobs en paralelo terminaron en 35 segundos (ANPR 29 s y Biblioteca 21 s). Guía para responder preguntas: docs/ci-cd-para-testers.md.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Job es la orden: corré estos tests hasta que terminen. El Pod es donde corre. El contenedor es nuestra caja con los tests, hecha a partir de la imagen: la misma imagen que en Docker, pero Kubernetes corre dos a la vez. Cada Pod tiene además un contenedor de pausa que pone Kubernetes para guardar la red: se puede ignorar. Cuando los tests terminan, los contenedores quedan como exited: es lo esperado. Si fallaran, el Job diría Failed en vez de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idea central: la IA acelera la automatización, pero el criterio de QA es lo que encuentra los problemas. Próximo paso: el feedback de la líder de QA y del equipo. Abrir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766560" cy="2011680"/>
          </a:xfrm>
          <a:prstGeom prst="rect">
            <a:avLst/>
          </a:prstGeom>
          <a:noFill/>
          <a:ln/>
        </p:spPr>
        <p:txBody>
          <a:bodyPr wrap="square" rtlCol="0"/>
          <a:lstStyle>
            <a:lvl1pPr algn="l" indent="0" marL="0">
              <a:buNone/>
              <a:defRPr lang="es-AR" altLang="en-US" sz="4000" b="1" dirty="0">
                <a:solidFill>
                  <a:schemeClr val="bg1"/>
                </a:solidFill>
              </a:defRPr>
            </a:lvl1pPr>
          </a:lstStyle>
          <a:p>
            <a:pPr algn="l" indent="0" marL="0">
              <a:buNone/>
            </a:pPr>
            <a:endParaRPr lang="es-AR" sz="4000" dirty="0"/>
          </a:p>
        </p:txBody>
      </p:sp>
      <p:sp>
        <p:nvSpPr>
          <p:cNvPr id="3" name="Text 0"/>
          <p:cNvSpPr/>
          <p:nvPr>
            <p:ph idx="101" type="body" hasCustomPrompt="1"/>
          </p:nvPr>
        </p:nvSpPr>
        <p:spPr>
          <a:xfrm>
            <a:off x="731520" y="3931920"/>
            <a:ext cx="6583680" cy="914400"/>
          </a:xfrm>
          <a:prstGeom prst="rect">
            <a:avLst/>
          </a:prstGeom>
          <a:noFill/>
          <a:ln/>
        </p:spPr>
        <p:txBody>
          <a:bodyPr wrap="square" rtlCol="0"/>
          <a:lstStyle>
            <a:lvl1pPr indent="0" marL="0">
              <a:buNone/>
              <a:defRPr lang="es-AR" altLang="en-US" sz="1800" dirty="0">
                <a:solidFill>
                  <a:schemeClr val="bg2"/>
                </a:solidFill>
              </a:defRPr>
            </a:lvl1pPr>
          </a:lstStyle>
          <a:p>
            <a:pPr indent="0" marL="0">
              <a:buNone/>
            </a:pPr>
            <a:endParaRPr lang="es-AR"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parado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8229600" cy="1097280"/>
          </a:xfrm>
          <a:prstGeom prst="rect">
            <a:avLst/>
          </a:prstGeom>
          <a:noFill/>
          <a:ln/>
        </p:spPr>
        <p:txBody>
          <a:bodyPr wrap="square" rtlCol="0"/>
          <a:lstStyle>
            <a:lvl1pPr algn="l" indent="0" marL="0">
              <a:buNone/>
              <a:defRPr lang="es-AR" altLang="en-US" sz="4000" b="1" dirty="0">
                <a:solidFill>
                  <a:schemeClr val="bg1"/>
                </a:solidFill>
              </a:defRPr>
            </a:lvl1pPr>
          </a:lstStyle>
          <a:p>
            <a:pPr algn="l" indent="0" marL="0">
              <a:buNone/>
            </a:pPr>
            <a:endParaRPr lang="es-AR" sz="4000" dirty="0"/>
          </a:p>
        </p:txBody>
      </p:sp>
      <p:sp>
        <p:nvSpPr>
          <p:cNvPr id="3" name="Text 0"/>
          <p:cNvSpPr/>
          <p:nvPr>
            <p:ph idx="101" type="body" hasCustomPrompt="1"/>
          </p:nvPr>
        </p:nvSpPr>
        <p:spPr>
          <a:xfrm>
            <a:off x="731520" y="3931920"/>
            <a:ext cx="8229600" cy="914400"/>
          </a:xfrm>
          <a:prstGeom prst="rect">
            <a:avLst/>
          </a:prstGeom>
          <a:noFill/>
          <a:ln/>
        </p:spPr>
        <p:txBody>
          <a:bodyPr wrap="square" rtlCol="0"/>
          <a:lstStyle>
            <a:lvl1pPr indent="0" marL="0">
              <a:buNone/>
              <a:defRPr lang="es-AR" altLang="en-US" sz="1800" dirty="0">
                <a:solidFill>
                  <a:schemeClr val="bg2"/>
                </a:solidFill>
              </a:defRPr>
            </a:lvl1pPr>
          </a:lstStyle>
          <a:p>
            <a:pPr indent="0" marL="0">
              <a:buNone/>
            </a:pPr>
            <a:endParaRPr lang="es-AR" sz="1800" dirty="0"/>
          </a:p>
        </p:txBody>
      </p:sp>
      <p:sp>
        <p:nvSpPr>
          <p:cNvPr id="4" name="Text 0"/>
          <p:cNvSpPr/>
          <p:nvPr/>
        </p:nvSpPr>
        <p:spPr>
          <a:xfrm>
            <a:off x="548640" y="6400800"/>
            <a:ext cx="6400800" cy="274320"/>
          </a:xfrm>
          <a:prstGeom prst="rect">
            <a:avLst/>
          </a:prstGeom>
          <a:noFill/>
          <a:ln/>
        </p:spPr>
        <p:txBody>
          <a:bodyPr wrap="square" lIns="0" tIns="0" rIns="0" bIns="0" rtlCol="0" anchor="t"/>
          <a:lstStyle/>
          <a:p>
            <a:pPr indent="0" marL="0">
              <a:buNone/>
            </a:pPr>
            <a:r>
              <a:rPr lang="es-AR" altLang="en-US" sz="1000" dirty="0">
                <a:solidFill>
                  <a:schemeClr val="bg2"/>
                </a:solidFill>
              </a:rPr>
              <a:t>Maximiliano Francesconi · Workshop QA + IA</a:t>
            </a:r>
            <a:endParaRPr lang="es-AR" sz="1000" dirty="0"/>
          </a:p>
        </p:txBody>
      </p:sp>
      <p:sp>
        <p:nvSpPr>
          <p:cNvPr id="5" name="Text 1"/>
          <p:cNvSpPr/>
          <p:nvPr/>
        </p:nvSpPr>
        <p:spPr>
          <a:xfrm>
            <a:off x="11274552" y="6400800"/>
            <a:ext cx="457200" cy="274320"/>
          </a:xfrm>
          <a:prstGeom prst="rect">
            <a:avLst/>
          </a:prstGeom>
          <a:noFill/>
          <a:ln/>
        </p:spPr>
        <p:txBody>
          <a:bodyPr wrap="square" lIns="0" tIns="0" rIns="0" bIns="0" rtlCol="0" anchor="t"/>
          <a:lstStyle/>
          <a:p>
            <a:pPr algn="l" indent="0" marL="0">
              <a:buNone/>
            </a:pPr>
            <a:r>
              <a:rPr lang="en-US" sz="1000" dirty="0">
                <a:solidFill>
                  <a:schemeClr val="bg2"/>
                </a:solidFill>
              </a:rPr>
              <a:t>/ 25</a:t>
            </a:r>
            <a:endParaRPr lang="en-US" sz="10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s-AR" altLang="en-US" sz="3200" b="1" dirty="0">
                <a:solidFill>
                  <a:schemeClr val="tx1"/>
                </a:solidFill>
              </a:defRPr>
            </a:lvl1pPr>
          </a:lstStyle>
          <a:p>
            <a:pPr algn="l" indent="0" marL="0">
              <a:buNone/>
            </a:pPr>
            <a:endParaRPr lang="es-AR" sz="3200" dirty="0"/>
          </a:p>
        </p:txBody>
      </p:sp>
      <p:sp>
        <p:nvSpPr>
          <p:cNvPr id="3" name="Text 0"/>
          <p:cNvSpPr/>
          <p:nvPr/>
        </p:nvSpPr>
        <p:spPr>
          <a:xfrm>
            <a:off x="548640" y="6400800"/>
            <a:ext cx="6400800" cy="274320"/>
          </a:xfrm>
          <a:prstGeom prst="rect">
            <a:avLst/>
          </a:prstGeom>
          <a:noFill/>
          <a:ln/>
        </p:spPr>
        <p:txBody>
          <a:bodyPr wrap="square" lIns="0" tIns="0" rIns="0" bIns="0" rtlCol="0" anchor="t"/>
          <a:lstStyle/>
          <a:p>
            <a:pPr indent="0" marL="0">
              <a:buNone/>
            </a:pPr>
            <a:r>
              <a:rPr lang="es-AR" altLang="en-US" sz="1000" dirty="0">
                <a:solidFill>
                  <a:schemeClr val="accent3"/>
                </a:solidFill>
              </a:rPr>
              <a:t>Maximiliano Francesconi · Workshop QA + IA</a:t>
            </a:r>
            <a:endParaRPr lang="es-AR" sz="1000" dirty="0"/>
          </a:p>
        </p:txBody>
      </p:sp>
      <p:sp>
        <p:nvSpPr>
          <p:cNvPr id="4" name="Text 1"/>
          <p:cNvSpPr/>
          <p:nvPr/>
        </p:nvSpPr>
        <p:spPr>
          <a:xfrm>
            <a:off x="11274552" y="6400800"/>
            <a:ext cx="457200" cy="274320"/>
          </a:xfrm>
          <a:prstGeom prst="rect">
            <a:avLst/>
          </a:prstGeom>
          <a:noFill/>
          <a:ln/>
        </p:spPr>
        <p:txBody>
          <a:bodyPr wrap="square" lIns="0" tIns="0" rIns="0" bIns="0" rtlCol="0" anchor="t"/>
          <a:lstStyle/>
          <a:p>
            <a:pPr algn="l" indent="0" marL="0">
              <a:buNone/>
            </a:pPr>
            <a:r>
              <a:rPr lang="en-US" sz="1000" dirty="0">
                <a:solidFill>
                  <a:schemeClr val="accent3"/>
                </a:solidFill>
              </a:rPr>
              <a:t>/ 25</a:t>
            </a:r>
            <a:endParaRPr lang="en-US" sz="10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s-AR" altLang="en-US" sz="3200" b="1" dirty="0">
                <a:solidFill>
                  <a:schemeClr val="bg1"/>
                </a:solidFill>
              </a:defRPr>
            </a:lvl1pPr>
          </a:lstStyle>
          <a:p>
            <a:pPr algn="l" indent="0" marL="0">
              <a:buNone/>
            </a:pPr>
            <a:endParaRPr lang="es-AR" sz="3200" dirty="0"/>
          </a:p>
        </p:txBody>
      </p:sp>
      <p:sp>
        <p:nvSpPr>
          <p:cNvPr id="3" name="Text 0"/>
          <p:cNvSpPr/>
          <p:nvPr/>
        </p:nvSpPr>
        <p:spPr>
          <a:xfrm>
            <a:off x="548640" y="6400800"/>
            <a:ext cx="6400800" cy="274320"/>
          </a:xfrm>
          <a:prstGeom prst="rect">
            <a:avLst/>
          </a:prstGeom>
          <a:noFill/>
          <a:ln/>
        </p:spPr>
        <p:txBody>
          <a:bodyPr wrap="square" lIns="0" tIns="0" rIns="0" bIns="0" rtlCol="0" anchor="t"/>
          <a:lstStyle/>
          <a:p>
            <a:pPr indent="0" marL="0">
              <a:buNone/>
            </a:pPr>
            <a:r>
              <a:rPr lang="es-AR" altLang="en-US" sz="1000" dirty="0">
                <a:solidFill>
                  <a:schemeClr val="bg2"/>
                </a:solidFill>
              </a:rPr>
              <a:t>Maximiliano Francesconi · Workshop QA + IA</a:t>
            </a:r>
            <a:endParaRPr lang="es-AR" sz="1000" dirty="0"/>
          </a:p>
        </p:txBody>
      </p:sp>
      <p:sp>
        <p:nvSpPr>
          <p:cNvPr id="4" name="Text 1"/>
          <p:cNvSpPr/>
          <p:nvPr/>
        </p:nvSpPr>
        <p:spPr>
          <a:xfrm>
            <a:off x="11274552" y="6400800"/>
            <a:ext cx="457200" cy="274320"/>
          </a:xfrm>
          <a:prstGeom prst="rect">
            <a:avLst/>
          </a:prstGeom>
          <a:noFill/>
          <a:ln/>
        </p:spPr>
        <p:txBody>
          <a:bodyPr wrap="square" lIns="0" tIns="0" rIns="0" bIns="0" rtlCol="0" anchor="t"/>
          <a:lstStyle/>
          <a:p>
            <a:pPr algn="l" indent="0" marL="0">
              <a:buNone/>
            </a:pPr>
            <a:r>
              <a:rPr lang="en-US" sz="1000" dirty="0">
                <a:solidFill>
                  <a:schemeClr val="bg2"/>
                </a:solidFill>
              </a:rPr>
              <a:t>/ 25</a:t>
            </a:r>
            <a:endParaRPr lang="en-US" sz="10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4.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4.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5.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766560" cy="2011680"/>
          </a:xfrm>
          <a:prstGeom prst="rect">
            <a:avLst/>
          </a:prstGeom>
          <a:noFill/>
          <a:ln/>
        </p:spPr>
        <p:txBody>
          <a:bodyPr wrap="square" lIns="0" tIns="0" rIns="0" bIns="0" rtlCol="0" anchor="t"/>
          <a:lstStyle/>
          <a:p>
            <a:pPr algn="l" indent="0" marL="0">
              <a:buNone/>
            </a:pPr>
            <a:r>
              <a:rPr lang="es-AR" altLang="en-US" sz="4000" b="1" dirty="0">
                <a:solidFill>
                  <a:schemeClr val="bg1"/>
                </a:solidFill>
              </a:rPr>
              <a:t>Automatización de pruebas con agentes de IA</a:t>
            </a:r>
            <a:endParaRPr lang="es-AR" sz="4000" dirty="0"/>
          </a:p>
        </p:txBody>
      </p:sp>
      <p:sp>
        <p:nvSpPr>
          <p:cNvPr id="4" name="Text 0"/>
          <p:cNvSpPr/>
          <p:nvPr>
            <p:ph idx="101" type="body" hasCustomPrompt="1"/>
          </p:nvPr>
        </p:nvSpPr>
        <p:spPr>
          <a:xfrm>
            <a:off x="731520" y="3931920"/>
            <a:ext cx="6583680" cy="914400"/>
          </a:xfrm>
          <a:prstGeom prst="rect">
            <a:avLst/>
          </a:prstGeom>
          <a:noFill/>
          <a:ln/>
        </p:spPr>
        <p:txBody>
          <a:bodyPr wrap="square" lIns="0" tIns="0" rIns="0" bIns="0" rtlCol="0" anchor="t"/>
          <a:lstStyle/>
          <a:p>
            <a:pPr indent="0" marL="0">
              <a:buNone/>
            </a:pPr>
            <a:r>
              <a:rPr lang="es-AR" altLang="en-US" sz="1800" dirty="0">
                <a:solidFill>
                  <a:schemeClr val="bg2"/>
                </a:solidFill>
              </a:rPr>
              <a:t>Antigravity, integraciones end-to-end, comparación de frameworks y CI/CD</a:t>
            </a:r>
            <a:endParaRPr lang="es-AR" sz="1800" dirty="0"/>
          </a:p>
        </p:txBody>
      </p:sp>
      <p:sp>
        <p:nvSpPr>
          <p:cNvPr id="5" name="Text 2"/>
          <p:cNvSpPr txBox="1"/>
          <p:nvPr/>
        </p:nvSpPr>
        <p:spPr>
          <a:xfrm>
            <a:off x="731520" y="1188720"/>
            <a:ext cx="6400800" cy="365760"/>
          </a:xfrm>
          <a:prstGeom prst="rect">
            <a:avLst/>
          </a:prstGeom>
          <a:noFill/>
          <a:ln/>
        </p:spPr>
        <p:txBody>
          <a:bodyPr wrap="square" lIns="0" tIns="0" rIns="0" bIns="0" rtlCol="0" anchor="t"/>
          <a:lstStyle/>
          <a:p>
            <a:pPr indent="0" marL="0">
              <a:buNone/>
            </a:pPr>
            <a:r>
              <a:rPr lang="es-AR" altLang="en-US" sz="1400" b="1" spc="300" kern="0" dirty="0">
                <a:solidFill>
                  <a:schemeClr val="accent2"/>
                </a:solidFill>
              </a:rPr>
              <a:t>WORKSHOP QA + IA</a:t>
            </a:r>
            <a:endParaRPr lang="es-AR" sz="1400" dirty="0"/>
          </a:p>
        </p:txBody>
      </p:sp>
      <p:sp>
        <p:nvSpPr>
          <p:cNvPr id="6" name="Text 3"/>
          <p:cNvSpPr txBox="1"/>
          <p:nvPr/>
        </p:nvSpPr>
        <p:spPr>
          <a:xfrm>
            <a:off x="731520" y="5257800"/>
            <a:ext cx="6400800" cy="365760"/>
          </a:xfrm>
          <a:prstGeom prst="rect">
            <a:avLst/>
          </a:prstGeom>
          <a:noFill/>
          <a:ln/>
        </p:spPr>
        <p:txBody>
          <a:bodyPr wrap="square" lIns="0" tIns="0" rIns="0" bIns="0" rtlCol="0" anchor="t"/>
          <a:lstStyle/>
          <a:p>
            <a:pPr indent="0" marL="0">
              <a:buNone/>
            </a:pPr>
            <a:r>
              <a:rPr lang="es-AR" altLang="en-US" sz="2000" b="1" dirty="0">
                <a:solidFill>
                  <a:schemeClr val="bg1"/>
                </a:solidFill>
              </a:rPr>
              <a:t>Maximiliano Francesconi</a:t>
            </a:r>
            <a:endParaRPr lang="es-AR" sz="2000" dirty="0"/>
          </a:p>
        </p:txBody>
      </p:sp>
      <p:sp>
        <p:nvSpPr>
          <p:cNvPr id="7" name="circulo-portada-agente"/>
          <p:cNvSpPr/>
          <p:nvPr/>
        </p:nvSpPr>
        <p:spPr>
          <a:xfrm>
            <a:off x="8732520" y="2331720"/>
            <a:ext cx="1828800" cy="1828800"/>
          </a:xfrm>
          <a:prstGeom prst="ellipse">
            <a:avLst/>
          </a:prstGeom>
          <a:solidFill>
            <a:schemeClr val="accent2"/>
          </a:solidFill>
          <a:ln/>
        </p:spPr>
      </p:sp>
      <p:pic>
        <p:nvPicPr>
          <p:cNvPr id="8" name="icono-portada-agente" descr="preencoded.png">    </p:cNvPr>
          <p:cNvPicPr>
            <a:picLocks noChangeAspect="1"/>
          </p:cNvPicPr>
          <p:nvPr/>
        </p:nvPicPr>
        <p:blipFill>
          <a:blip r:embed="rId1"/>
          <a:stretch>
            <a:fillRect/>
          </a:stretch>
        </p:blipFill>
        <p:spPr>
          <a:xfrm>
            <a:off x="9208008" y="2807208"/>
            <a:ext cx="877824" cy="877824"/>
          </a:xfrm>
          <a:prstGeom prst="rect">
            <a:avLst/>
          </a:prstGeom>
        </p:spPr>
      </p:pic>
      <p:sp>
        <p:nvSpPr>
          <p:cNvPr id="9" name="circulo-portada-ANPR"/>
          <p:cNvSpPr/>
          <p:nvPr/>
        </p:nvSpPr>
        <p:spPr>
          <a:xfrm>
            <a:off x="8275320" y="868680"/>
            <a:ext cx="914400" cy="914400"/>
          </a:xfrm>
          <a:prstGeom prst="ellipse">
            <a:avLst/>
          </a:prstGeom>
          <a:solidFill>
            <a:schemeClr val="accent1"/>
          </a:solidFill>
          <a:ln/>
        </p:spPr>
      </p:sp>
      <p:pic>
        <p:nvPicPr>
          <p:cNvPr id="10" name="icono-portada-ANPR" descr="preencoded.png">    </p:cNvPr>
          <p:cNvPicPr>
            <a:picLocks noChangeAspect="1"/>
          </p:cNvPicPr>
          <p:nvPr/>
        </p:nvPicPr>
        <p:blipFill>
          <a:blip r:embed="rId2"/>
          <a:stretch>
            <a:fillRect/>
          </a:stretch>
        </p:blipFill>
        <p:spPr>
          <a:xfrm>
            <a:off x="8513064" y="1106424"/>
            <a:ext cx="438912" cy="438912"/>
          </a:xfrm>
          <a:prstGeom prst="rect">
            <a:avLst/>
          </a:prstGeom>
        </p:spPr>
      </p:pic>
      <p:sp>
        <p:nvSpPr>
          <p:cNvPr id="11" name="Text 6"/>
          <p:cNvSpPr txBox="1"/>
          <p:nvPr/>
        </p:nvSpPr>
        <p:spPr>
          <a:xfrm>
            <a:off x="7909560" y="1828800"/>
            <a:ext cx="1645920" cy="274320"/>
          </a:xfrm>
          <a:prstGeom prst="rect">
            <a:avLst/>
          </a:prstGeom>
          <a:noFill/>
          <a:ln/>
        </p:spPr>
        <p:txBody>
          <a:bodyPr wrap="square" lIns="0" tIns="0" rIns="0" bIns="0" rtlCol="0" anchor="t"/>
          <a:lstStyle/>
          <a:p>
            <a:pPr algn="ctr" indent="0" marL="0">
              <a:buNone/>
            </a:pPr>
            <a:r>
              <a:rPr lang="es-AR" altLang="en-US" sz="1200" dirty="0">
                <a:solidFill>
                  <a:schemeClr val="bg2"/>
                </a:solidFill>
              </a:rPr>
              <a:t>ANPR</a:t>
            </a:r>
            <a:endParaRPr lang="es-AR" sz="1200" dirty="0"/>
          </a:p>
        </p:txBody>
      </p:sp>
      <p:sp>
        <p:nvSpPr>
          <p:cNvPr id="12" name="circulo-portada-AS"/>
          <p:cNvSpPr/>
          <p:nvPr/>
        </p:nvSpPr>
        <p:spPr>
          <a:xfrm>
            <a:off x="10378440" y="1508760"/>
            <a:ext cx="914400" cy="914400"/>
          </a:xfrm>
          <a:prstGeom prst="ellipse">
            <a:avLst/>
          </a:prstGeom>
          <a:solidFill>
            <a:schemeClr val="accent1"/>
          </a:solidFill>
          <a:ln/>
        </p:spPr>
      </p:sp>
      <p:pic>
        <p:nvPicPr>
          <p:cNvPr id="13" name="icono-portada-AS" descr="preencoded.png">    </p:cNvPr>
          <p:cNvPicPr>
            <a:picLocks noChangeAspect="1"/>
          </p:cNvPicPr>
          <p:nvPr/>
        </p:nvPicPr>
        <p:blipFill>
          <a:blip r:embed="rId3"/>
          <a:stretch>
            <a:fillRect/>
          </a:stretch>
        </p:blipFill>
        <p:spPr>
          <a:xfrm>
            <a:off x="10616184" y="1746504"/>
            <a:ext cx="438912" cy="438912"/>
          </a:xfrm>
          <a:prstGeom prst="rect">
            <a:avLst/>
          </a:prstGeom>
        </p:spPr>
      </p:pic>
      <p:sp>
        <p:nvSpPr>
          <p:cNvPr id="14" name="Text 8"/>
          <p:cNvSpPr txBox="1"/>
          <p:nvPr/>
        </p:nvSpPr>
        <p:spPr>
          <a:xfrm>
            <a:off x="10012680" y="2468880"/>
            <a:ext cx="1645920" cy="274320"/>
          </a:xfrm>
          <a:prstGeom prst="rect">
            <a:avLst/>
          </a:prstGeom>
          <a:noFill/>
          <a:ln/>
        </p:spPr>
        <p:txBody>
          <a:bodyPr wrap="square" lIns="0" tIns="0" rIns="0" bIns="0" rtlCol="0" anchor="t"/>
          <a:lstStyle/>
          <a:p>
            <a:pPr algn="ctr" indent="0" marL="0">
              <a:buNone/>
            </a:pPr>
            <a:r>
              <a:rPr lang="es-AR" altLang="en-US" sz="1200" dirty="0">
                <a:solidFill>
                  <a:schemeClr val="bg2"/>
                </a:solidFill>
              </a:rPr>
              <a:t>AS</a:t>
            </a:r>
            <a:endParaRPr lang="es-AR" sz="1200" dirty="0"/>
          </a:p>
        </p:txBody>
      </p:sp>
      <p:sp>
        <p:nvSpPr>
          <p:cNvPr id="15" name="circulo-portada-VMS"/>
          <p:cNvSpPr/>
          <p:nvPr/>
        </p:nvSpPr>
        <p:spPr>
          <a:xfrm>
            <a:off x="10378440" y="4251960"/>
            <a:ext cx="914400" cy="914400"/>
          </a:xfrm>
          <a:prstGeom prst="ellipse">
            <a:avLst/>
          </a:prstGeom>
          <a:solidFill>
            <a:schemeClr val="accent1"/>
          </a:solidFill>
          <a:ln/>
        </p:spPr>
      </p:sp>
      <p:pic>
        <p:nvPicPr>
          <p:cNvPr id="16" name="icono-portada-VMS" descr="preencoded.png">    </p:cNvPr>
          <p:cNvPicPr>
            <a:picLocks noChangeAspect="1"/>
          </p:cNvPicPr>
          <p:nvPr/>
        </p:nvPicPr>
        <p:blipFill>
          <a:blip r:embed="rId4"/>
          <a:stretch>
            <a:fillRect/>
          </a:stretch>
        </p:blipFill>
        <p:spPr>
          <a:xfrm>
            <a:off x="10616184" y="4489704"/>
            <a:ext cx="438912" cy="438912"/>
          </a:xfrm>
          <a:prstGeom prst="rect">
            <a:avLst/>
          </a:prstGeom>
        </p:spPr>
      </p:pic>
      <p:sp>
        <p:nvSpPr>
          <p:cNvPr id="17" name="Text 10"/>
          <p:cNvSpPr txBox="1"/>
          <p:nvPr/>
        </p:nvSpPr>
        <p:spPr>
          <a:xfrm>
            <a:off x="10012680" y="5212080"/>
            <a:ext cx="1645920" cy="274320"/>
          </a:xfrm>
          <a:prstGeom prst="rect">
            <a:avLst/>
          </a:prstGeom>
          <a:noFill/>
          <a:ln/>
        </p:spPr>
        <p:txBody>
          <a:bodyPr wrap="square" lIns="0" tIns="0" rIns="0" bIns="0" rtlCol="0" anchor="t"/>
          <a:lstStyle/>
          <a:p>
            <a:pPr algn="ctr" indent="0" marL="0">
              <a:buNone/>
            </a:pPr>
            <a:r>
              <a:rPr lang="es-AR" altLang="en-US" sz="1200" dirty="0">
                <a:solidFill>
                  <a:schemeClr val="bg2"/>
                </a:solidFill>
              </a:rPr>
              <a:t>VMS</a:t>
            </a:r>
            <a:endParaRPr lang="es-AR" sz="1200" dirty="0"/>
          </a:p>
        </p:txBody>
      </p:sp>
      <p:sp>
        <p:nvSpPr>
          <p:cNvPr id="18" name="circulo-portada-Biblioteca"/>
          <p:cNvSpPr/>
          <p:nvPr/>
        </p:nvSpPr>
        <p:spPr>
          <a:xfrm>
            <a:off x="8275320" y="4709160"/>
            <a:ext cx="914400" cy="914400"/>
          </a:xfrm>
          <a:prstGeom prst="ellipse">
            <a:avLst/>
          </a:prstGeom>
          <a:solidFill>
            <a:schemeClr val="accent1"/>
          </a:solidFill>
          <a:ln/>
        </p:spPr>
      </p:sp>
      <p:pic>
        <p:nvPicPr>
          <p:cNvPr id="19" name="icono-portada-Biblioteca" descr="preencoded.png">    </p:cNvPr>
          <p:cNvPicPr>
            <a:picLocks noChangeAspect="1"/>
          </p:cNvPicPr>
          <p:nvPr/>
        </p:nvPicPr>
        <p:blipFill>
          <a:blip r:embed="rId5"/>
          <a:stretch>
            <a:fillRect/>
          </a:stretch>
        </p:blipFill>
        <p:spPr>
          <a:xfrm>
            <a:off x="8513064" y="4946904"/>
            <a:ext cx="438912" cy="438912"/>
          </a:xfrm>
          <a:prstGeom prst="rect">
            <a:avLst/>
          </a:prstGeom>
        </p:spPr>
      </p:pic>
      <p:sp>
        <p:nvSpPr>
          <p:cNvPr id="20" name="Text 12"/>
          <p:cNvSpPr txBox="1"/>
          <p:nvPr/>
        </p:nvSpPr>
        <p:spPr>
          <a:xfrm>
            <a:off x="7909560" y="5669280"/>
            <a:ext cx="1645920" cy="274320"/>
          </a:xfrm>
          <a:prstGeom prst="rect">
            <a:avLst/>
          </a:prstGeom>
          <a:noFill/>
          <a:ln/>
        </p:spPr>
        <p:txBody>
          <a:bodyPr wrap="square" lIns="0" tIns="0" rIns="0" bIns="0" rtlCol="0" anchor="t"/>
          <a:lstStyle/>
          <a:p>
            <a:pPr algn="ctr" indent="0" marL="0">
              <a:buNone/>
            </a:pPr>
            <a:r>
              <a:rPr lang="es-AR" altLang="en-US" sz="1200" dirty="0">
                <a:solidFill>
                  <a:schemeClr val="bg2"/>
                </a:solidFill>
              </a:rPr>
              <a:t>Biblioteca</a:t>
            </a:r>
            <a:endParaRPr lang="es-A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Agenda</a:t>
            </a:r>
            <a:endParaRPr lang="es-AR" sz="3200" dirty="0"/>
          </a:p>
        </p:txBody>
      </p:sp>
      <p:sp>
        <p:nvSpPr>
          <p:cNvPr id="4" name="tarjeta-agenda-0"/>
          <p:cNvSpPr/>
          <p:nvPr/>
        </p:nvSpPr>
        <p:spPr>
          <a:xfrm>
            <a:off x="548640" y="1463040"/>
            <a:ext cx="5303520" cy="1234440"/>
          </a:xfrm>
          <a:prstGeom prst="roundRect">
            <a:avLst>
              <a:gd name="adj" fmla="val 8889"/>
            </a:avLst>
          </a:prstGeom>
          <a:solidFill>
            <a:schemeClr val="bg2"/>
          </a:solidFill>
          <a:ln/>
          <a:effectLst>
            <a:outerShdw sx="100000" sy="100000" kx="0" ky="0" algn="bl" rotWithShape="0" blurRad="101600" dist="25400" dir="5400000">
              <a:srgbClr val="1B2430">
                <a:alpha val="12000"/>
              </a:srgbClr>
            </a:outerShdw>
          </a:effectLst>
        </p:spPr>
      </p:sp>
      <p:sp>
        <p:nvSpPr>
          <p:cNvPr id="5" name="agenda-numero-0"/>
          <p:cNvSpPr/>
          <p:nvPr/>
        </p:nvSpPr>
        <p:spPr>
          <a:xfrm>
            <a:off x="822960" y="1737360"/>
            <a:ext cx="685800" cy="685800"/>
          </a:xfrm>
          <a:prstGeom prst="ellipse">
            <a:avLst/>
          </a:prstGeom>
          <a:solidFill>
            <a:schemeClr val="accent1"/>
          </a:solidFill>
          <a:ln/>
        </p:spPr>
      </p:sp>
      <p:sp>
        <p:nvSpPr>
          <p:cNvPr id="6" name="Text 3"/>
          <p:cNvSpPr txBox="1"/>
          <p:nvPr/>
        </p:nvSpPr>
        <p:spPr>
          <a:xfrm>
            <a:off x="822960" y="1737360"/>
            <a:ext cx="685800" cy="685800"/>
          </a:xfrm>
          <a:prstGeom prst="rect">
            <a:avLst/>
          </a:prstGeom>
          <a:noFill/>
          <a:ln/>
        </p:spPr>
        <p:txBody>
          <a:bodyPr wrap="square" lIns="0" tIns="0" rIns="0" bIns="0" rtlCol="0" anchor="ctr"/>
          <a:lstStyle/>
          <a:p>
            <a:pPr algn="ctr" indent="0" marL="0">
              <a:buNone/>
            </a:pPr>
            <a:r>
              <a:rPr lang="es-AR" altLang="en-US" sz="2200" b="1" dirty="0">
                <a:solidFill>
                  <a:schemeClr val="bg1"/>
                </a:solidFill>
              </a:rPr>
              <a:t>1</a:t>
            </a:r>
            <a:endParaRPr lang="es-AR" sz="2200" dirty="0"/>
          </a:p>
        </p:txBody>
      </p:sp>
      <p:sp>
        <p:nvSpPr>
          <p:cNvPr id="7" name="Text 4"/>
          <p:cNvSpPr txBox="1"/>
          <p:nvPr/>
        </p:nvSpPr>
        <p:spPr>
          <a:xfrm>
            <a:off x="1783080" y="1719072"/>
            <a:ext cx="3840480" cy="365760"/>
          </a:xfrm>
          <a:prstGeom prst="rect">
            <a:avLst/>
          </a:prstGeom>
          <a:noFill/>
          <a:ln/>
        </p:spPr>
        <p:txBody>
          <a:bodyPr wrap="square" lIns="0" tIns="0" rIns="0" bIns="0" rtlCol="0" anchor="t"/>
          <a:lstStyle/>
          <a:p>
            <a:pPr indent="0" marL="0">
              <a:buNone/>
            </a:pPr>
            <a:r>
              <a:rPr lang="es-AR" altLang="en-US" sz="1800" b="1" dirty="0">
                <a:solidFill>
                  <a:schemeClr val="tx1"/>
                </a:solidFill>
              </a:rPr>
              <a:t>El workshop en números</a:t>
            </a:r>
            <a:endParaRPr lang="es-AR" sz="1800" dirty="0"/>
          </a:p>
        </p:txBody>
      </p:sp>
      <p:sp>
        <p:nvSpPr>
          <p:cNvPr id="8" name="Text 5"/>
          <p:cNvSpPr txBox="1"/>
          <p:nvPr/>
        </p:nvSpPr>
        <p:spPr>
          <a:xfrm>
            <a:off x="1783080" y="2148840"/>
            <a:ext cx="3840480" cy="365760"/>
          </a:xfrm>
          <a:prstGeom prst="rect">
            <a:avLst/>
          </a:prstGeom>
          <a:noFill/>
          <a:ln/>
        </p:spPr>
        <p:txBody>
          <a:bodyPr wrap="square" lIns="0" tIns="0" rIns="0" bIns="0" rtlCol="0" anchor="t"/>
          <a:lstStyle/>
          <a:p>
            <a:pPr indent="0" marL="0">
              <a:buNone/>
            </a:pPr>
            <a:r>
              <a:rPr lang="es-AR" altLang="en-US" sz="1400" dirty="0">
                <a:solidFill>
                  <a:schemeClr val="accent3"/>
                </a:solidFill>
              </a:rPr>
              <a:t>Qué automatizamos y qué encontramos</a:t>
            </a:r>
            <a:endParaRPr lang="es-AR" sz="1400" dirty="0"/>
          </a:p>
        </p:txBody>
      </p:sp>
      <p:sp>
        <p:nvSpPr>
          <p:cNvPr id="9" name="tarjeta-agenda-1"/>
          <p:cNvSpPr/>
          <p:nvPr/>
        </p:nvSpPr>
        <p:spPr>
          <a:xfrm>
            <a:off x="548640" y="2971800"/>
            <a:ext cx="5303520" cy="1234440"/>
          </a:xfrm>
          <a:prstGeom prst="roundRect">
            <a:avLst>
              <a:gd name="adj" fmla="val 8889"/>
            </a:avLst>
          </a:prstGeom>
          <a:solidFill>
            <a:schemeClr val="bg2"/>
          </a:solidFill>
          <a:ln/>
          <a:effectLst>
            <a:outerShdw sx="100000" sy="100000" kx="0" ky="0" algn="bl" rotWithShape="0" blurRad="101600" dist="25400" dir="5400000">
              <a:srgbClr val="1B2430">
                <a:alpha val="12000"/>
              </a:srgbClr>
            </a:outerShdw>
          </a:effectLst>
        </p:spPr>
      </p:sp>
      <p:sp>
        <p:nvSpPr>
          <p:cNvPr id="10" name="agenda-numero-1"/>
          <p:cNvSpPr/>
          <p:nvPr/>
        </p:nvSpPr>
        <p:spPr>
          <a:xfrm>
            <a:off x="822960" y="3246120"/>
            <a:ext cx="685800" cy="685800"/>
          </a:xfrm>
          <a:prstGeom prst="ellipse">
            <a:avLst/>
          </a:prstGeom>
          <a:solidFill>
            <a:schemeClr val="accent2"/>
          </a:solidFill>
          <a:ln/>
        </p:spPr>
      </p:sp>
      <p:sp>
        <p:nvSpPr>
          <p:cNvPr id="11" name="Text 8"/>
          <p:cNvSpPr txBox="1"/>
          <p:nvPr/>
        </p:nvSpPr>
        <p:spPr>
          <a:xfrm>
            <a:off x="822960" y="3246120"/>
            <a:ext cx="685800" cy="685800"/>
          </a:xfrm>
          <a:prstGeom prst="rect">
            <a:avLst/>
          </a:prstGeom>
          <a:noFill/>
          <a:ln/>
        </p:spPr>
        <p:txBody>
          <a:bodyPr wrap="square" lIns="0" tIns="0" rIns="0" bIns="0" rtlCol="0" anchor="ctr"/>
          <a:lstStyle/>
          <a:p>
            <a:pPr algn="ctr" indent="0" marL="0">
              <a:buNone/>
            </a:pPr>
            <a:r>
              <a:rPr lang="es-AR" altLang="en-US" sz="2200" b="1" dirty="0">
                <a:solidFill>
                  <a:schemeClr val="bg1"/>
                </a:solidFill>
              </a:rPr>
              <a:t>2</a:t>
            </a:r>
            <a:endParaRPr lang="es-AR" sz="2200" dirty="0"/>
          </a:p>
        </p:txBody>
      </p:sp>
      <p:sp>
        <p:nvSpPr>
          <p:cNvPr id="12" name="Text 9"/>
          <p:cNvSpPr txBox="1"/>
          <p:nvPr/>
        </p:nvSpPr>
        <p:spPr>
          <a:xfrm>
            <a:off x="1783080" y="3227832"/>
            <a:ext cx="3840480" cy="365760"/>
          </a:xfrm>
          <a:prstGeom prst="rect">
            <a:avLst/>
          </a:prstGeom>
          <a:noFill/>
          <a:ln/>
        </p:spPr>
        <p:txBody>
          <a:bodyPr wrap="square" lIns="0" tIns="0" rIns="0" bIns="0" rtlCol="0" anchor="t"/>
          <a:lstStyle/>
          <a:p>
            <a:pPr indent="0" marL="0">
              <a:buNone/>
            </a:pPr>
            <a:r>
              <a:rPr lang="es-AR" altLang="en-US" sz="1800" b="1" dirty="0">
                <a:solidFill>
                  <a:schemeClr val="tx1"/>
                </a:solidFill>
              </a:rPr>
              <a:t>Antigravity y otros agentes</a:t>
            </a:r>
            <a:endParaRPr lang="es-AR" sz="1800" dirty="0"/>
          </a:p>
        </p:txBody>
      </p:sp>
      <p:sp>
        <p:nvSpPr>
          <p:cNvPr id="13" name="Text 10"/>
          <p:cNvSpPr txBox="1"/>
          <p:nvPr/>
        </p:nvSpPr>
        <p:spPr>
          <a:xfrm>
            <a:off x="1783080" y="3657600"/>
            <a:ext cx="3840480" cy="365760"/>
          </a:xfrm>
          <a:prstGeom prst="rect">
            <a:avLst/>
          </a:prstGeom>
          <a:noFill/>
          <a:ln/>
        </p:spPr>
        <p:txBody>
          <a:bodyPr wrap="square" lIns="0" tIns="0" rIns="0" bIns="0" rtlCol="0" anchor="t"/>
          <a:lstStyle/>
          <a:p>
            <a:pPr indent="0" marL="0">
              <a:buNone/>
            </a:pPr>
            <a:r>
              <a:rPr lang="es-AR" altLang="en-US" sz="1400" dirty="0">
                <a:solidFill>
                  <a:schemeClr val="accent3"/>
                </a:solidFill>
              </a:rPr>
              <a:t>Qué es un agente de IA y en qué se diferencian</a:t>
            </a:r>
            <a:endParaRPr lang="es-AR" sz="1400" dirty="0"/>
          </a:p>
        </p:txBody>
      </p:sp>
      <p:sp>
        <p:nvSpPr>
          <p:cNvPr id="14" name="tarjeta-agenda-2"/>
          <p:cNvSpPr/>
          <p:nvPr/>
        </p:nvSpPr>
        <p:spPr>
          <a:xfrm>
            <a:off x="548640" y="4480560"/>
            <a:ext cx="5303520" cy="1234440"/>
          </a:xfrm>
          <a:prstGeom prst="roundRect">
            <a:avLst>
              <a:gd name="adj" fmla="val 8889"/>
            </a:avLst>
          </a:prstGeom>
          <a:solidFill>
            <a:schemeClr val="bg2"/>
          </a:solidFill>
          <a:ln/>
          <a:effectLst>
            <a:outerShdw sx="100000" sy="100000" kx="0" ky="0" algn="bl" rotWithShape="0" blurRad="101600" dist="25400" dir="5400000">
              <a:srgbClr val="1B2430">
                <a:alpha val="12000"/>
              </a:srgbClr>
            </a:outerShdw>
          </a:effectLst>
        </p:spPr>
      </p:sp>
      <p:sp>
        <p:nvSpPr>
          <p:cNvPr id="15" name="agenda-numero-2"/>
          <p:cNvSpPr/>
          <p:nvPr/>
        </p:nvSpPr>
        <p:spPr>
          <a:xfrm>
            <a:off x="822960" y="4754880"/>
            <a:ext cx="685800" cy="685800"/>
          </a:xfrm>
          <a:prstGeom prst="ellipse">
            <a:avLst/>
          </a:prstGeom>
          <a:solidFill>
            <a:schemeClr val="accent1"/>
          </a:solidFill>
          <a:ln/>
        </p:spPr>
      </p:sp>
      <p:sp>
        <p:nvSpPr>
          <p:cNvPr id="16" name="Text 13"/>
          <p:cNvSpPr txBox="1"/>
          <p:nvPr/>
        </p:nvSpPr>
        <p:spPr>
          <a:xfrm>
            <a:off x="822960" y="4754880"/>
            <a:ext cx="685800" cy="685800"/>
          </a:xfrm>
          <a:prstGeom prst="rect">
            <a:avLst/>
          </a:prstGeom>
          <a:noFill/>
          <a:ln/>
        </p:spPr>
        <p:txBody>
          <a:bodyPr wrap="square" lIns="0" tIns="0" rIns="0" bIns="0" rtlCol="0" anchor="ctr"/>
          <a:lstStyle/>
          <a:p>
            <a:pPr algn="ctr" indent="0" marL="0">
              <a:buNone/>
            </a:pPr>
            <a:r>
              <a:rPr lang="es-AR" altLang="en-US" sz="2200" b="1" dirty="0">
                <a:solidFill>
                  <a:schemeClr val="bg1"/>
                </a:solidFill>
              </a:rPr>
              <a:t>3</a:t>
            </a:r>
            <a:endParaRPr lang="es-AR" sz="2200" dirty="0"/>
          </a:p>
        </p:txBody>
      </p:sp>
      <p:sp>
        <p:nvSpPr>
          <p:cNvPr id="17" name="Text 14"/>
          <p:cNvSpPr txBox="1"/>
          <p:nvPr/>
        </p:nvSpPr>
        <p:spPr>
          <a:xfrm>
            <a:off x="1783080" y="4736592"/>
            <a:ext cx="3840480" cy="365760"/>
          </a:xfrm>
          <a:prstGeom prst="rect">
            <a:avLst/>
          </a:prstGeom>
          <a:noFill/>
          <a:ln/>
        </p:spPr>
        <p:txBody>
          <a:bodyPr wrap="square" lIns="0" tIns="0" rIns="0" bIns="0" rtlCol="0" anchor="t"/>
          <a:lstStyle/>
          <a:p>
            <a:pPr indent="0" marL="0">
              <a:buNone/>
            </a:pPr>
            <a:r>
              <a:rPr lang="es-AR" altLang="en-US" sz="1800" b="1" dirty="0">
                <a:solidFill>
                  <a:schemeClr val="tx1"/>
                </a:solidFill>
              </a:rPr>
              <a:t>Cómo trabajamos con el agente</a:t>
            </a:r>
            <a:endParaRPr lang="es-AR" sz="1800" dirty="0"/>
          </a:p>
        </p:txBody>
      </p:sp>
      <p:sp>
        <p:nvSpPr>
          <p:cNvPr id="18" name="Text 15"/>
          <p:cNvSpPr txBox="1"/>
          <p:nvPr/>
        </p:nvSpPr>
        <p:spPr>
          <a:xfrm>
            <a:off x="1783080" y="5166360"/>
            <a:ext cx="3840480" cy="365760"/>
          </a:xfrm>
          <a:prstGeom prst="rect">
            <a:avLst/>
          </a:prstGeom>
          <a:noFill/>
          <a:ln/>
        </p:spPr>
        <p:txBody>
          <a:bodyPr wrap="square" lIns="0" tIns="0" rIns="0" bIns="0" rtlCol="0" anchor="t"/>
          <a:lstStyle/>
          <a:p>
            <a:pPr indent="0" marL="0">
              <a:buNone/>
            </a:pPr>
            <a:r>
              <a:rPr lang="es-AR" altLang="en-US" sz="1400" dirty="0">
                <a:solidFill>
                  <a:schemeClr val="accent3"/>
                </a:solidFill>
              </a:rPr>
              <a:t>Flujo QA + IA y controles</a:t>
            </a:r>
            <a:endParaRPr lang="es-AR" sz="1400" dirty="0"/>
          </a:p>
        </p:txBody>
      </p:sp>
      <p:sp>
        <p:nvSpPr>
          <p:cNvPr id="19" name="tarjeta-agenda-3"/>
          <p:cNvSpPr/>
          <p:nvPr/>
        </p:nvSpPr>
        <p:spPr>
          <a:xfrm>
            <a:off x="6217920" y="1463040"/>
            <a:ext cx="5303520" cy="1234440"/>
          </a:xfrm>
          <a:prstGeom prst="roundRect">
            <a:avLst>
              <a:gd name="adj" fmla="val 8889"/>
            </a:avLst>
          </a:prstGeom>
          <a:solidFill>
            <a:schemeClr val="bg2"/>
          </a:solidFill>
          <a:ln/>
          <a:effectLst>
            <a:outerShdw sx="100000" sy="100000" kx="0" ky="0" algn="bl" rotWithShape="0" blurRad="101600" dist="25400" dir="5400000">
              <a:srgbClr val="1B2430">
                <a:alpha val="12000"/>
              </a:srgbClr>
            </a:outerShdw>
          </a:effectLst>
        </p:spPr>
      </p:sp>
      <p:sp>
        <p:nvSpPr>
          <p:cNvPr id="20" name="agenda-numero-3"/>
          <p:cNvSpPr/>
          <p:nvPr/>
        </p:nvSpPr>
        <p:spPr>
          <a:xfrm>
            <a:off x="6492240" y="1737360"/>
            <a:ext cx="685800" cy="685800"/>
          </a:xfrm>
          <a:prstGeom prst="ellipse">
            <a:avLst/>
          </a:prstGeom>
          <a:solidFill>
            <a:schemeClr val="accent2"/>
          </a:solidFill>
          <a:ln/>
        </p:spPr>
      </p:sp>
      <p:sp>
        <p:nvSpPr>
          <p:cNvPr id="21" name="Text 18"/>
          <p:cNvSpPr txBox="1"/>
          <p:nvPr/>
        </p:nvSpPr>
        <p:spPr>
          <a:xfrm>
            <a:off x="6492240" y="1737360"/>
            <a:ext cx="685800" cy="685800"/>
          </a:xfrm>
          <a:prstGeom prst="rect">
            <a:avLst/>
          </a:prstGeom>
          <a:noFill/>
          <a:ln/>
        </p:spPr>
        <p:txBody>
          <a:bodyPr wrap="square" lIns="0" tIns="0" rIns="0" bIns="0" rtlCol="0" anchor="ctr"/>
          <a:lstStyle/>
          <a:p>
            <a:pPr algn="ctr" indent="0" marL="0">
              <a:buNone/>
            </a:pPr>
            <a:r>
              <a:rPr lang="es-AR" altLang="en-US" sz="2200" b="1" dirty="0">
                <a:solidFill>
                  <a:schemeClr val="bg1"/>
                </a:solidFill>
              </a:rPr>
              <a:t>4</a:t>
            </a:r>
            <a:endParaRPr lang="es-AR" sz="2200" dirty="0"/>
          </a:p>
        </p:txBody>
      </p:sp>
      <p:sp>
        <p:nvSpPr>
          <p:cNvPr id="22" name="Text 19"/>
          <p:cNvSpPr txBox="1"/>
          <p:nvPr/>
        </p:nvSpPr>
        <p:spPr>
          <a:xfrm>
            <a:off x="7452360" y="1719072"/>
            <a:ext cx="3840480" cy="365760"/>
          </a:xfrm>
          <a:prstGeom prst="rect">
            <a:avLst/>
          </a:prstGeom>
          <a:noFill/>
          <a:ln/>
        </p:spPr>
        <p:txBody>
          <a:bodyPr wrap="square" lIns="0" tIns="0" rIns="0" bIns="0" rtlCol="0" anchor="t"/>
          <a:lstStyle/>
          <a:p>
            <a:pPr indent="0" marL="0">
              <a:buNone/>
            </a:pPr>
            <a:r>
              <a:rPr lang="es-AR" altLang="en-US" sz="1800" b="1" dirty="0">
                <a:solidFill>
                  <a:schemeClr val="tx1"/>
                </a:solidFill>
              </a:rPr>
              <a:t>Tests de integración</a:t>
            </a:r>
            <a:endParaRPr lang="es-AR" sz="1800" dirty="0"/>
          </a:p>
        </p:txBody>
      </p:sp>
      <p:sp>
        <p:nvSpPr>
          <p:cNvPr id="23" name="Text 20"/>
          <p:cNvSpPr txBox="1"/>
          <p:nvPr/>
        </p:nvSpPr>
        <p:spPr>
          <a:xfrm>
            <a:off x="7452360" y="2148840"/>
            <a:ext cx="3840480" cy="365760"/>
          </a:xfrm>
          <a:prstGeom prst="rect">
            <a:avLst/>
          </a:prstGeom>
          <a:noFill/>
          <a:ln/>
        </p:spPr>
        <p:txBody>
          <a:bodyPr wrap="square" lIns="0" tIns="0" rIns="0" bIns="0" rtlCol="0" anchor="t"/>
          <a:lstStyle/>
          <a:p>
            <a:pPr indent="0" marL="0">
              <a:buNone/>
            </a:pPr>
            <a:r>
              <a:rPr lang="es-AR" altLang="en-US" sz="1400" dirty="0">
                <a:solidFill>
                  <a:schemeClr val="accent3"/>
                </a:solidFill>
              </a:rPr>
              <a:t>AS → ANPR, VMS → Biblioteca Digital, AS → VMS</a:t>
            </a:r>
            <a:endParaRPr lang="es-AR" sz="1400" dirty="0"/>
          </a:p>
        </p:txBody>
      </p:sp>
      <p:sp>
        <p:nvSpPr>
          <p:cNvPr id="24" name="tarjeta-agenda-4"/>
          <p:cNvSpPr/>
          <p:nvPr/>
        </p:nvSpPr>
        <p:spPr>
          <a:xfrm>
            <a:off x="6217920" y="2971800"/>
            <a:ext cx="5303520" cy="1234440"/>
          </a:xfrm>
          <a:prstGeom prst="roundRect">
            <a:avLst>
              <a:gd name="adj" fmla="val 8889"/>
            </a:avLst>
          </a:prstGeom>
          <a:solidFill>
            <a:schemeClr val="bg2"/>
          </a:solidFill>
          <a:ln/>
          <a:effectLst>
            <a:outerShdw sx="100000" sy="100000" kx="0" ky="0" algn="bl" rotWithShape="0" blurRad="101600" dist="25400" dir="5400000">
              <a:srgbClr val="1B2430">
                <a:alpha val="12000"/>
              </a:srgbClr>
            </a:outerShdw>
          </a:effectLst>
        </p:spPr>
      </p:sp>
      <p:sp>
        <p:nvSpPr>
          <p:cNvPr id="25" name="agenda-numero-4"/>
          <p:cNvSpPr/>
          <p:nvPr/>
        </p:nvSpPr>
        <p:spPr>
          <a:xfrm>
            <a:off x="6492240" y="3246120"/>
            <a:ext cx="685800" cy="685800"/>
          </a:xfrm>
          <a:prstGeom prst="ellipse">
            <a:avLst/>
          </a:prstGeom>
          <a:solidFill>
            <a:schemeClr val="accent1"/>
          </a:solidFill>
          <a:ln/>
        </p:spPr>
      </p:sp>
      <p:sp>
        <p:nvSpPr>
          <p:cNvPr id="26" name="Text 23"/>
          <p:cNvSpPr txBox="1"/>
          <p:nvPr/>
        </p:nvSpPr>
        <p:spPr>
          <a:xfrm>
            <a:off x="6492240" y="3246120"/>
            <a:ext cx="685800" cy="685800"/>
          </a:xfrm>
          <a:prstGeom prst="rect">
            <a:avLst/>
          </a:prstGeom>
          <a:noFill/>
          <a:ln/>
        </p:spPr>
        <p:txBody>
          <a:bodyPr wrap="square" lIns="0" tIns="0" rIns="0" bIns="0" rtlCol="0" anchor="ctr"/>
          <a:lstStyle/>
          <a:p>
            <a:pPr algn="ctr" indent="0" marL="0">
              <a:buNone/>
            </a:pPr>
            <a:r>
              <a:rPr lang="es-AR" altLang="en-US" sz="2200" b="1" dirty="0">
                <a:solidFill>
                  <a:schemeClr val="bg1"/>
                </a:solidFill>
              </a:rPr>
              <a:t>5</a:t>
            </a:r>
            <a:endParaRPr lang="es-AR" sz="2200" dirty="0"/>
          </a:p>
        </p:txBody>
      </p:sp>
      <p:sp>
        <p:nvSpPr>
          <p:cNvPr id="27" name="Text 24"/>
          <p:cNvSpPr txBox="1"/>
          <p:nvPr/>
        </p:nvSpPr>
        <p:spPr>
          <a:xfrm>
            <a:off x="7452360" y="3227832"/>
            <a:ext cx="3840480" cy="365760"/>
          </a:xfrm>
          <a:prstGeom prst="rect">
            <a:avLst/>
          </a:prstGeom>
          <a:noFill/>
          <a:ln/>
        </p:spPr>
        <p:txBody>
          <a:bodyPr wrap="square" lIns="0" tIns="0" rIns="0" bIns="0" rtlCol="0" anchor="t"/>
          <a:lstStyle/>
          <a:p>
            <a:pPr indent="0" marL="0">
              <a:buNone/>
            </a:pPr>
            <a:r>
              <a:rPr lang="es-AR" altLang="en-US" sz="1800" b="1" dirty="0">
                <a:solidFill>
                  <a:schemeClr val="tx1"/>
                </a:solidFill>
              </a:rPr>
              <a:t>Comparación de frameworks</a:t>
            </a:r>
            <a:endParaRPr lang="es-AR" sz="1800" dirty="0"/>
          </a:p>
        </p:txBody>
      </p:sp>
      <p:sp>
        <p:nvSpPr>
          <p:cNvPr id="28" name="Text 25"/>
          <p:cNvSpPr txBox="1"/>
          <p:nvPr/>
        </p:nvSpPr>
        <p:spPr>
          <a:xfrm>
            <a:off x="7452360" y="3657600"/>
            <a:ext cx="3840480" cy="365760"/>
          </a:xfrm>
          <a:prstGeom prst="rect">
            <a:avLst/>
          </a:prstGeom>
          <a:noFill/>
          <a:ln/>
        </p:spPr>
        <p:txBody>
          <a:bodyPr wrap="square" lIns="0" tIns="0" rIns="0" bIns="0" rtlCol="0" anchor="t"/>
          <a:lstStyle/>
          <a:p>
            <a:pPr indent="0" marL="0">
              <a:buNone/>
            </a:pPr>
            <a:r>
              <a:rPr lang="es-AR" altLang="en-US" sz="1400" dirty="0">
                <a:solidFill>
                  <a:schemeClr val="accent3"/>
                </a:solidFill>
              </a:rPr>
              <a:t>Playwright, Cypress, Selenium y Katalon</a:t>
            </a:r>
            <a:endParaRPr lang="es-AR" sz="1400" dirty="0"/>
          </a:p>
        </p:txBody>
      </p:sp>
      <p:sp>
        <p:nvSpPr>
          <p:cNvPr id="29" name="tarjeta-agenda-5"/>
          <p:cNvSpPr/>
          <p:nvPr/>
        </p:nvSpPr>
        <p:spPr>
          <a:xfrm>
            <a:off x="6217920" y="4480560"/>
            <a:ext cx="5303520" cy="1234440"/>
          </a:xfrm>
          <a:prstGeom prst="roundRect">
            <a:avLst>
              <a:gd name="adj" fmla="val 8889"/>
            </a:avLst>
          </a:prstGeom>
          <a:solidFill>
            <a:schemeClr val="bg2"/>
          </a:solidFill>
          <a:ln/>
          <a:effectLst>
            <a:outerShdw sx="100000" sy="100000" kx="0" ky="0" algn="bl" rotWithShape="0" blurRad="101600" dist="25400" dir="5400000">
              <a:srgbClr val="1B2430">
                <a:alpha val="12000"/>
              </a:srgbClr>
            </a:outerShdw>
          </a:effectLst>
        </p:spPr>
      </p:sp>
      <p:sp>
        <p:nvSpPr>
          <p:cNvPr id="30" name="agenda-numero-5"/>
          <p:cNvSpPr/>
          <p:nvPr/>
        </p:nvSpPr>
        <p:spPr>
          <a:xfrm>
            <a:off x="6492240" y="4754880"/>
            <a:ext cx="685800" cy="685800"/>
          </a:xfrm>
          <a:prstGeom prst="ellipse">
            <a:avLst/>
          </a:prstGeom>
          <a:solidFill>
            <a:schemeClr val="accent2"/>
          </a:solidFill>
          <a:ln/>
        </p:spPr>
      </p:sp>
      <p:sp>
        <p:nvSpPr>
          <p:cNvPr id="31" name="Text 28"/>
          <p:cNvSpPr txBox="1"/>
          <p:nvPr/>
        </p:nvSpPr>
        <p:spPr>
          <a:xfrm>
            <a:off x="6492240" y="4754880"/>
            <a:ext cx="685800" cy="685800"/>
          </a:xfrm>
          <a:prstGeom prst="rect">
            <a:avLst/>
          </a:prstGeom>
          <a:noFill/>
          <a:ln/>
        </p:spPr>
        <p:txBody>
          <a:bodyPr wrap="square" lIns="0" tIns="0" rIns="0" bIns="0" rtlCol="0" anchor="ctr"/>
          <a:lstStyle/>
          <a:p>
            <a:pPr algn="ctr" indent="0" marL="0">
              <a:buNone/>
            </a:pPr>
            <a:r>
              <a:rPr lang="es-AR" altLang="en-US" sz="2200" b="1" dirty="0">
                <a:solidFill>
                  <a:schemeClr val="bg1"/>
                </a:solidFill>
              </a:rPr>
              <a:t>6</a:t>
            </a:r>
            <a:endParaRPr lang="es-AR" sz="2200" dirty="0"/>
          </a:p>
        </p:txBody>
      </p:sp>
      <p:sp>
        <p:nvSpPr>
          <p:cNvPr id="32" name="Text 29"/>
          <p:cNvSpPr txBox="1"/>
          <p:nvPr/>
        </p:nvSpPr>
        <p:spPr>
          <a:xfrm>
            <a:off x="7452360" y="4736592"/>
            <a:ext cx="3840480" cy="365760"/>
          </a:xfrm>
          <a:prstGeom prst="rect">
            <a:avLst/>
          </a:prstGeom>
          <a:noFill/>
          <a:ln/>
        </p:spPr>
        <p:txBody>
          <a:bodyPr wrap="square" lIns="0" tIns="0" rIns="0" bIns="0" rtlCol="0" anchor="t"/>
          <a:lstStyle/>
          <a:p>
            <a:pPr indent="0" marL="0">
              <a:buNone/>
            </a:pPr>
            <a:r>
              <a:rPr lang="es-AR" altLang="en-US" sz="1800" b="1" dirty="0">
                <a:solidFill>
                  <a:schemeClr val="tx1"/>
                </a:solidFill>
              </a:rPr>
              <a:t>CI/CD</a:t>
            </a:r>
            <a:endParaRPr lang="es-AR" sz="1800" dirty="0"/>
          </a:p>
        </p:txBody>
      </p:sp>
      <p:sp>
        <p:nvSpPr>
          <p:cNvPr id="33" name="Text 30"/>
          <p:cNvSpPr txBox="1"/>
          <p:nvPr/>
        </p:nvSpPr>
        <p:spPr>
          <a:xfrm>
            <a:off x="7452360" y="5166360"/>
            <a:ext cx="3840480" cy="365760"/>
          </a:xfrm>
          <a:prstGeom prst="rect">
            <a:avLst/>
          </a:prstGeom>
          <a:noFill/>
          <a:ln/>
        </p:spPr>
        <p:txBody>
          <a:bodyPr wrap="square" lIns="0" tIns="0" rIns="0" bIns="0" rtlCol="0" anchor="t"/>
          <a:lstStyle/>
          <a:p>
            <a:pPr indent="0" marL="0">
              <a:buNone/>
            </a:pPr>
            <a:r>
              <a:rPr lang="es-AR" altLang="en-US" sz="1400" dirty="0">
                <a:solidFill>
                  <a:schemeClr val="accent3"/>
                </a:solidFill>
              </a:rPr>
              <a:t>GitHub Actions, Jenkins, Docker y Kubernetes</a:t>
            </a:r>
            <a:endParaRPr lang="es-AR" sz="14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El workshop en números</a:t>
            </a:r>
            <a:endParaRPr lang="es-AR" sz="3200" dirty="0"/>
          </a:p>
        </p:txBody>
      </p:sp>
      <p:sp>
        <p:nvSpPr>
          <p:cNvPr id="4" name="tarjeta-numero-0"/>
          <p:cNvSpPr/>
          <p:nvPr/>
        </p:nvSpPr>
        <p:spPr>
          <a:xfrm>
            <a:off x="548640" y="1737360"/>
            <a:ext cx="2606040" cy="3566160"/>
          </a:xfrm>
          <a:prstGeom prst="roundRect">
            <a:avLst>
              <a:gd name="adj" fmla="val 4211"/>
            </a:avLst>
          </a:prstGeom>
          <a:solidFill>
            <a:schemeClr val="bg2"/>
          </a:solidFill>
          <a:ln/>
          <a:effectLst>
            <a:outerShdw sx="100000" sy="100000" kx="0" ky="0" algn="bl" rotWithShape="0" blurRad="101600" dist="25400" dir="5400000">
              <a:srgbClr val="1B2430">
                <a:alpha val="12000"/>
              </a:srgbClr>
            </a:outerShdw>
          </a:effectLst>
        </p:spPr>
      </p:sp>
      <p:sp>
        <p:nvSpPr>
          <p:cNvPr id="5" name="Text 2"/>
          <p:cNvSpPr txBox="1"/>
          <p:nvPr/>
        </p:nvSpPr>
        <p:spPr>
          <a:xfrm>
            <a:off x="822960" y="1965960"/>
            <a:ext cx="2103120" cy="1188720"/>
          </a:xfrm>
          <a:prstGeom prst="rect">
            <a:avLst/>
          </a:prstGeom>
          <a:noFill/>
          <a:ln/>
        </p:spPr>
        <p:txBody>
          <a:bodyPr wrap="square" lIns="0" tIns="0" rIns="0" bIns="0" rtlCol="0" anchor="t"/>
          <a:lstStyle/>
          <a:p>
            <a:pPr indent="0" marL="0">
              <a:buNone/>
            </a:pPr>
            <a:r>
              <a:rPr lang="es-AR" altLang="en-US" sz="6600" b="1" dirty="0">
                <a:solidFill>
                  <a:schemeClr val="accent1"/>
                </a:solidFill>
                <a:latin typeface="Arial" pitchFamily="34" charset="0"/>
                <a:ea typeface="Arial" pitchFamily="34" charset="-122"/>
                <a:cs typeface="Arial" pitchFamily="34" charset="-120"/>
              </a:rPr>
              <a:t>4</a:t>
            </a:r>
            <a:endParaRPr lang="es-AR" sz="6600" dirty="0"/>
          </a:p>
        </p:txBody>
      </p:sp>
      <p:sp>
        <p:nvSpPr>
          <p:cNvPr id="6" name="Text 3"/>
          <p:cNvSpPr txBox="1"/>
          <p:nvPr/>
        </p:nvSpPr>
        <p:spPr>
          <a:xfrm>
            <a:off x="822960" y="3200400"/>
            <a:ext cx="2103120" cy="457200"/>
          </a:xfrm>
          <a:prstGeom prst="rect">
            <a:avLst/>
          </a:prstGeom>
          <a:noFill/>
          <a:ln/>
        </p:spPr>
        <p:txBody>
          <a:bodyPr wrap="square" lIns="0" tIns="0" rIns="0" bIns="0" rtlCol="0" anchor="t"/>
          <a:lstStyle/>
          <a:p>
            <a:pPr indent="0" marL="0">
              <a:buNone/>
            </a:pPr>
            <a:r>
              <a:rPr lang="es-AR" altLang="en-US" sz="1800" b="1" dirty="0">
                <a:solidFill>
                  <a:schemeClr val="tx1"/>
                </a:solidFill>
              </a:rPr>
              <a:t>productos</a:t>
            </a:r>
            <a:endParaRPr lang="es-AR" sz="1800" dirty="0"/>
          </a:p>
        </p:txBody>
      </p:sp>
      <p:sp>
        <p:nvSpPr>
          <p:cNvPr id="7" name="Text 4"/>
          <p:cNvSpPr txBox="1"/>
          <p:nvPr/>
        </p:nvSpPr>
        <p:spPr>
          <a:xfrm>
            <a:off x="822960" y="3749040"/>
            <a:ext cx="2103120" cy="1371600"/>
          </a:xfrm>
          <a:prstGeom prst="rect">
            <a:avLst/>
          </a:prstGeom>
          <a:noFill/>
          <a:ln/>
        </p:spPr>
        <p:txBody>
          <a:bodyPr wrap="square" lIns="0" tIns="0" rIns="0" bIns="0" rtlCol="0" anchor="t"/>
          <a:lstStyle/>
          <a:p>
            <a:pPr indent="0" marL="0">
              <a:buNone/>
            </a:pPr>
            <a:r>
              <a:rPr lang="es-AR" altLang="en-US" sz="1400" dirty="0">
                <a:solidFill>
                  <a:schemeClr val="accent3"/>
                </a:solidFill>
              </a:rPr>
              <a:t>ANPR, AS, VMS y Biblioteca Digital</a:t>
            </a:r>
            <a:endParaRPr lang="es-AR" sz="1400" dirty="0"/>
          </a:p>
        </p:txBody>
      </p:sp>
      <p:sp>
        <p:nvSpPr>
          <p:cNvPr id="8" name="tarjeta-numero-1"/>
          <p:cNvSpPr/>
          <p:nvPr/>
        </p:nvSpPr>
        <p:spPr>
          <a:xfrm>
            <a:off x="3383280" y="1737360"/>
            <a:ext cx="2606040" cy="3566160"/>
          </a:xfrm>
          <a:prstGeom prst="roundRect">
            <a:avLst>
              <a:gd name="adj" fmla="val 4211"/>
            </a:avLst>
          </a:prstGeom>
          <a:solidFill>
            <a:schemeClr val="bg2"/>
          </a:solidFill>
          <a:ln/>
          <a:effectLst>
            <a:outerShdw sx="100000" sy="100000" kx="0" ky="0" algn="bl" rotWithShape="0" blurRad="101600" dist="25400" dir="5400000">
              <a:srgbClr val="1B2430">
                <a:alpha val="12000"/>
              </a:srgbClr>
            </a:outerShdw>
          </a:effectLst>
        </p:spPr>
      </p:sp>
      <p:sp>
        <p:nvSpPr>
          <p:cNvPr id="9" name="Text 6"/>
          <p:cNvSpPr txBox="1"/>
          <p:nvPr/>
        </p:nvSpPr>
        <p:spPr>
          <a:xfrm>
            <a:off x="3657600" y="1965960"/>
            <a:ext cx="2103120" cy="1188720"/>
          </a:xfrm>
          <a:prstGeom prst="rect">
            <a:avLst/>
          </a:prstGeom>
          <a:noFill/>
          <a:ln/>
        </p:spPr>
        <p:txBody>
          <a:bodyPr wrap="square" lIns="0" tIns="0" rIns="0" bIns="0" rtlCol="0" anchor="t"/>
          <a:lstStyle/>
          <a:p>
            <a:pPr indent="0" marL="0">
              <a:buNone/>
            </a:pPr>
            <a:r>
              <a:rPr lang="es-AR" altLang="en-US" sz="6600" b="1" dirty="0">
                <a:solidFill>
                  <a:schemeClr val="accent2"/>
                </a:solidFill>
                <a:latin typeface="Arial" pitchFamily="34" charset="0"/>
                <a:ea typeface="Arial" pitchFamily="34" charset="-122"/>
                <a:cs typeface="Arial" pitchFamily="34" charset="-120"/>
              </a:rPr>
              <a:t>3</a:t>
            </a:r>
            <a:endParaRPr lang="es-AR" sz="6600" dirty="0"/>
          </a:p>
        </p:txBody>
      </p:sp>
      <p:sp>
        <p:nvSpPr>
          <p:cNvPr id="10" name="Text 7"/>
          <p:cNvSpPr txBox="1"/>
          <p:nvPr/>
        </p:nvSpPr>
        <p:spPr>
          <a:xfrm>
            <a:off x="3657600" y="3200400"/>
            <a:ext cx="2103120" cy="457200"/>
          </a:xfrm>
          <a:prstGeom prst="rect">
            <a:avLst/>
          </a:prstGeom>
          <a:noFill/>
          <a:ln/>
        </p:spPr>
        <p:txBody>
          <a:bodyPr wrap="square" lIns="0" tIns="0" rIns="0" bIns="0" rtlCol="0" anchor="t"/>
          <a:lstStyle/>
          <a:p>
            <a:pPr indent="0" marL="0">
              <a:buNone/>
            </a:pPr>
            <a:r>
              <a:rPr lang="es-AR" altLang="en-US" sz="1800" b="1" dirty="0">
                <a:solidFill>
                  <a:schemeClr val="tx1"/>
                </a:solidFill>
              </a:rPr>
              <a:t>integraciones</a:t>
            </a:r>
            <a:endParaRPr lang="es-AR" sz="1800" dirty="0"/>
          </a:p>
        </p:txBody>
      </p:sp>
      <p:sp>
        <p:nvSpPr>
          <p:cNvPr id="11" name="Text 8"/>
          <p:cNvSpPr txBox="1"/>
          <p:nvPr/>
        </p:nvSpPr>
        <p:spPr>
          <a:xfrm>
            <a:off x="3657600" y="3749040"/>
            <a:ext cx="2103120" cy="1371600"/>
          </a:xfrm>
          <a:prstGeom prst="rect">
            <a:avLst/>
          </a:prstGeom>
          <a:noFill/>
          <a:ln/>
        </p:spPr>
        <p:txBody>
          <a:bodyPr wrap="square" lIns="0" tIns="0" rIns="0" bIns="0" rtlCol="0" anchor="t"/>
          <a:lstStyle/>
          <a:p>
            <a:pPr indent="0" marL="0">
              <a:buNone/>
            </a:pPr>
            <a:r>
              <a:rPr lang="es-AR" altLang="en-US" sz="1400" dirty="0">
                <a:solidFill>
                  <a:schemeClr val="accent3"/>
                </a:solidFill>
              </a:rPr>
              <a:t>De punta a punta entre productos, con datos reales de testing</a:t>
            </a:r>
            <a:endParaRPr lang="es-AR" sz="1400" dirty="0"/>
          </a:p>
        </p:txBody>
      </p:sp>
      <p:sp>
        <p:nvSpPr>
          <p:cNvPr id="12" name="tarjeta-numero-2"/>
          <p:cNvSpPr/>
          <p:nvPr/>
        </p:nvSpPr>
        <p:spPr>
          <a:xfrm>
            <a:off x="6217920" y="1737360"/>
            <a:ext cx="2606040" cy="3566160"/>
          </a:xfrm>
          <a:prstGeom prst="roundRect">
            <a:avLst>
              <a:gd name="adj" fmla="val 4211"/>
            </a:avLst>
          </a:prstGeom>
          <a:solidFill>
            <a:schemeClr val="bg2"/>
          </a:solidFill>
          <a:ln/>
          <a:effectLst>
            <a:outerShdw sx="100000" sy="100000" kx="0" ky="0" algn="bl" rotWithShape="0" blurRad="101600" dist="25400" dir="5400000">
              <a:srgbClr val="1B2430">
                <a:alpha val="12000"/>
              </a:srgbClr>
            </a:outerShdw>
          </a:effectLst>
        </p:spPr>
      </p:sp>
      <p:sp>
        <p:nvSpPr>
          <p:cNvPr id="13" name="Text 10"/>
          <p:cNvSpPr txBox="1"/>
          <p:nvPr/>
        </p:nvSpPr>
        <p:spPr>
          <a:xfrm>
            <a:off x="6492240" y="1965960"/>
            <a:ext cx="2103120" cy="1188720"/>
          </a:xfrm>
          <a:prstGeom prst="rect">
            <a:avLst/>
          </a:prstGeom>
          <a:noFill/>
          <a:ln/>
        </p:spPr>
        <p:txBody>
          <a:bodyPr wrap="square" lIns="0" tIns="0" rIns="0" bIns="0" rtlCol="0" anchor="t"/>
          <a:lstStyle/>
          <a:p>
            <a:pPr indent="0" marL="0">
              <a:buNone/>
            </a:pPr>
            <a:r>
              <a:rPr lang="es-AR" altLang="en-US" sz="6600" b="1" dirty="0">
                <a:solidFill>
                  <a:schemeClr val="accent1"/>
                </a:solidFill>
                <a:latin typeface="Arial" pitchFamily="34" charset="0"/>
                <a:ea typeface="Arial" pitchFamily="34" charset="-122"/>
                <a:cs typeface="Arial" pitchFamily="34" charset="-120"/>
              </a:rPr>
              <a:t>30</a:t>
            </a:r>
            <a:endParaRPr lang="es-AR" sz="6600" dirty="0"/>
          </a:p>
        </p:txBody>
      </p:sp>
      <p:sp>
        <p:nvSpPr>
          <p:cNvPr id="14" name="Text 11"/>
          <p:cNvSpPr txBox="1"/>
          <p:nvPr/>
        </p:nvSpPr>
        <p:spPr>
          <a:xfrm>
            <a:off x="6492240" y="3200400"/>
            <a:ext cx="2103120" cy="457200"/>
          </a:xfrm>
          <a:prstGeom prst="rect">
            <a:avLst/>
          </a:prstGeom>
          <a:noFill/>
          <a:ln/>
        </p:spPr>
        <p:txBody>
          <a:bodyPr wrap="square" lIns="0" tIns="0" rIns="0" bIns="0" rtlCol="0" anchor="t"/>
          <a:lstStyle/>
          <a:p>
            <a:pPr indent="0" marL="0">
              <a:buNone/>
            </a:pPr>
            <a:r>
              <a:rPr lang="es-AR" altLang="en-US" sz="1800" b="1" dirty="0">
                <a:solidFill>
                  <a:schemeClr val="tx1"/>
                </a:solidFill>
              </a:rPr>
              <a:t>tests en Playwright</a:t>
            </a:r>
            <a:endParaRPr lang="es-AR" sz="1800" dirty="0"/>
          </a:p>
        </p:txBody>
      </p:sp>
      <p:sp>
        <p:nvSpPr>
          <p:cNvPr id="15" name="Text 12"/>
          <p:cNvSpPr txBox="1"/>
          <p:nvPr/>
        </p:nvSpPr>
        <p:spPr>
          <a:xfrm>
            <a:off x="6492240" y="3749040"/>
            <a:ext cx="2103120" cy="1371600"/>
          </a:xfrm>
          <a:prstGeom prst="rect">
            <a:avLst/>
          </a:prstGeom>
          <a:noFill/>
          <a:ln/>
        </p:spPr>
        <p:txBody>
          <a:bodyPr wrap="square" lIns="0" tIns="0" rIns="0" bIns="0" rtlCol="0" anchor="t"/>
          <a:lstStyle/>
          <a:p>
            <a:pPr indent="0" marL="0">
              <a:buNone/>
            </a:pPr>
            <a:r>
              <a:rPr lang="es-AR" altLang="en-US" sz="1400" dirty="0">
                <a:solidFill>
                  <a:schemeClr val="accent3"/>
                </a:solidFill>
              </a:rPr>
              <a:t>Más los mismos casos de ANPR en Cypress, Selenium y Katalon</a:t>
            </a:r>
            <a:endParaRPr lang="es-AR" sz="1400" dirty="0"/>
          </a:p>
        </p:txBody>
      </p:sp>
      <p:sp>
        <p:nvSpPr>
          <p:cNvPr id="16" name="tarjeta-numero-3"/>
          <p:cNvSpPr/>
          <p:nvPr/>
        </p:nvSpPr>
        <p:spPr>
          <a:xfrm>
            <a:off x="9052560" y="1737360"/>
            <a:ext cx="2606040" cy="3566160"/>
          </a:xfrm>
          <a:prstGeom prst="roundRect">
            <a:avLst>
              <a:gd name="adj" fmla="val 4211"/>
            </a:avLst>
          </a:prstGeom>
          <a:solidFill>
            <a:schemeClr val="bg2"/>
          </a:solidFill>
          <a:ln/>
          <a:effectLst>
            <a:outerShdw sx="100000" sy="100000" kx="0" ky="0" algn="bl" rotWithShape="0" blurRad="101600" dist="25400" dir="5400000">
              <a:srgbClr val="1B2430">
                <a:alpha val="12000"/>
              </a:srgbClr>
            </a:outerShdw>
          </a:effectLst>
        </p:spPr>
      </p:sp>
      <p:sp>
        <p:nvSpPr>
          <p:cNvPr id="17" name="Text 14"/>
          <p:cNvSpPr txBox="1"/>
          <p:nvPr/>
        </p:nvSpPr>
        <p:spPr>
          <a:xfrm>
            <a:off x="9326880" y="1965960"/>
            <a:ext cx="2103120" cy="1188720"/>
          </a:xfrm>
          <a:prstGeom prst="rect">
            <a:avLst/>
          </a:prstGeom>
          <a:noFill/>
          <a:ln/>
        </p:spPr>
        <p:txBody>
          <a:bodyPr wrap="square" lIns="0" tIns="0" rIns="0" bIns="0" rtlCol="0" anchor="t"/>
          <a:lstStyle/>
          <a:p>
            <a:pPr indent="0" marL="0">
              <a:buNone/>
            </a:pPr>
            <a:r>
              <a:rPr lang="es-AR" altLang="en-US" sz="6600" b="1" dirty="0">
                <a:solidFill>
                  <a:schemeClr val="accent4"/>
                </a:solidFill>
                <a:latin typeface="Arial" pitchFamily="34" charset="0"/>
                <a:ea typeface="Arial" pitchFamily="34" charset="-122"/>
                <a:cs typeface="Arial" pitchFamily="34" charset="-120"/>
              </a:rPr>
              <a:t>6</a:t>
            </a:r>
            <a:endParaRPr lang="es-AR" sz="6600" dirty="0"/>
          </a:p>
        </p:txBody>
      </p:sp>
      <p:sp>
        <p:nvSpPr>
          <p:cNvPr id="18" name="Text 15"/>
          <p:cNvSpPr txBox="1"/>
          <p:nvPr/>
        </p:nvSpPr>
        <p:spPr>
          <a:xfrm>
            <a:off x="9326880" y="3200400"/>
            <a:ext cx="2103120" cy="457200"/>
          </a:xfrm>
          <a:prstGeom prst="rect">
            <a:avLst/>
          </a:prstGeom>
          <a:noFill/>
          <a:ln/>
        </p:spPr>
        <p:txBody>
          <a:bodyPr wrap="square" lIns="0" tIns="0" rIns="0" bIns="0" rtlCol="0" anchor="t"/>
          <a:lstStyle/>
          <a:p>
            <a:pPr indent="0" marL="0">
              <a:buNone/>
            </a:pPr>
            <a:r>
              <a:rPr lang="es-AR" altLang="en-US" sz="1800" b="1" dirty="0">
                <a:solidFill>
                  <a:schemeClr val="tx1"/>
                </a:solidFill>
              </a:rPr>
              <a:t>hallazgos</a:t>
            </a:r>
            <a:endParaRPr lang="es-AR" sz="1800" dirty="0"/>
          </a:p>
        </p:txBody>
      </p:sp>
      <p:sp>
        <p:nvSpPr>
          <p:cNvPr id="19" name="Text 16"/>
          <p:cNvSpPr txBox="1"/>
          <p:nvPr/>
        </p:nvSpPr>
        <p:spPr>
          <a:xfrm>
            <a:off x="9326880" y="3749040"/>
            <a:ext cx="2103120" cy="1371600"/>
          </a:xfrm>
          <a:prstGeom prst="rect">
            <a:avLst/>
          </a:prstGeom>
          <a:noFill/>
          <a:ln/>
        </p:spPr>
        <p:txBody>
          <a:bodyPr wrap="square" lIns="0" tIns="0" rIns="0" bIns="0" rtlCol="0" anchor="t"/>
          <a:lstStyle/>
          <a:p>
            <a:pPr indent="0" marL="0">
              <a:buNone/>
            </a:pPr>
            <a:r>
              <a:rPr lang="es-AR" altLang="en-US" sz="1400" dirty="0">
                <a:solidFill>
                  <a:schemeClr val="accent3"/>
                </a:solidFill>
              </a:rPr>
              <a:t>De seguridad, de producto y de nuestros propios tests</a:t>
            </a:r>
            <a:endParaRPr lang="es-AR" sz="14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8229600" cy="1097280"/>
          </a:xfrm>
          <a:prstGeom prst="rect">
            <a:avLst/>
          </a:prstGeom>
          <a:noFill/>
          <a:ln/>
        </p:spPr>
        <p:txBody>
          <a:bodyPr wrap="square" lIns="0" tIns="0" rIns="0" bIns="0" rtlCol="0" anchor="t"/>
          <a:lstStyle/>
          <a:p>
            <a:pPr algn="l" indent="0" marL="0">
              <a:buNone/>
            </a:pPr>
            <a:r>
              <a:rPr lang="es-AR" altLang="en-US" sz="4000" b="1" dirty="0">
                <a:solidFill>
                  <a:schemeClr val="bg1"/>
                </a:solidFill>
              </a:rPr>
              <a:t>Agentes de IA</a:t>
            </a:r>
            <a:endParaRPr lang="es-AR" sz="4000" dirty="0"/>
          </a:p>
        </p:txBody>
      </p:sp>
      <p:sp>
        <p:nvSpPr>
          <p:cNvPr id="4" name="Text 0"/>
          <p:cNvSpPr/>
          <p:nvPr>
            <p:ph idx="101" type="body" hasCustomPrompt="1"/>
          </p:nvPr>
        </p:nvSpPr>
        <p:spPr>
          <a:xfrm>
            <a:off x="731520" y="3931920"/>
            <a:ext cx="8229600" cy="914400"/>
          </a:xfrm>
          <a:prstGeom prst="rect">
            <a:avLst/>
          </a:prstGeom>
          <a:noFill/>
          <a:ln/>
        </p:spPr>
        <p:txBody>
          <a:bodyPr wrap="square" lIns="0" tIns="0" rIns="0" bIns="0" rtlCol="0" anchor="t"/>
          <a:lstStyle/>
          <a:p>
            <a:pPr indent="0" marL="0">
              <a:buNone/>
            </a:pPr>
            <a:r>
              <a:rPr lang="es-AR" altLang="en-US" sz="1800" dirty="0">
                <a:solidFill>
                  <a:schemeClr val="bg2"/>
                </a:solidFill>
              </a:rPr>
              <a:t>Antigravity y en qué se diferencia de otros agentes</a:t>
            </a:r>
            <a:endParaRPr lang="es-AR" sz="1800" dirty="0"/>
          </a:p>
        </p:txBody>
      </p:sp>
      <p:sp>
        <p:nvSpPr>
          <p:cNvPr id="5" name="Text 2"/>
          <p:cNvSpPr txBox="1"/>
          <p:nvPr/>
        </p:nvSpPr>
        <p:spPr>
          <a:xfrm>
            <a:off x="731520" y="1463040"/>
            <a:ext cx="1828800" cy="1097280"/>
          </a:xfrm>
          <a:prstGeom prst="rect">
            <a:avLst/>
          </a:prstGeom>
          <a:noFill/>
          <a:ln/>
        </p:spPr>
        <p:txBody>
          <a:bodyPr wrap="square" lIns="0" tIns="0" rIns="0" bIns="0" rtlCol="0" anchor="t"/>
          <a:lstStyle/>
          <a:p>
            <a:pPr indent="0" marL="0">
              <a:buNone/>
            </a:pPr>
            <a:r>
              <a:rPr lang="es-AR" altLang="en-US" sz="6000" b="1" dirty="0">
                <a:solidFill>
                  <a:schemeClr val="accent2"/>
                </a:solidFill>
                <a:latin typeface="Arial" pitchFamily="34" charset="0"/>
                <a:ea typeface="Arial" pitchFamily="34" charset="-122"/>
                <a:cs typeface="Arial" pitchFamily="34" charset="-120"/>
              </a:rPr>
              <a:t>01</a:t>
            </a:r>
            <a:endParaRPr lang="es-AR" sz="6000" dirty="0"/>
          </a:p>
        </p:txBody>
      </p:sp>
      <p:sp>
        <p:nvSpPr>
          <p:cNvPr id="6" name="circulo-sep-01"/>
          <p:cNvSpPr/>
          <p:nvPr/>
        </p:nvSpPr>
        <p:spPr>
          <a:xfrm>
            <a:off x="9052560" y="2194560"/>
            <a:ext cx="2194560" cy="2194560"/>
          </a:xfrm>
          <a:prstGeom prst="ellipse">
            <a:avLst/>
          </a:prstGeom>
          <a:solidFill>
            <a:schemeClr val="accent1"/>
          </a:solidFill>
          <a:ln/>
        </p:spPr>
      </p:sp>
      <p:pic>
        <p:nvPicPr>
          <p:cNvPr id="7" name="icono-sep-01" descr="preencoded.png">    </p:cNvPr>
          <p:cNvPicPr>
            <a:picLocks noChangeAspect="1"/>
          </p:cNvPicPr>
          <p:nvPr/>
        </p:nvPicPr>
        <p:blipFill>
          <a:blip r:embed="rId1"/>
          <a:stretch>
            <a:fillRect/>
          </a:stretch>
        </p:blipFill>
        <p:spPr>
          <a:xfrm>
            <a:off x="9623146" y="2765146"/>
            <a:ext cx="1053389" cy="1053389"/>
          </a:xfrm>
          <a:prstGeom prst="rect">
            <a:avLst/>
          </a:prstGeom>
        </p:spPr>
      </p:pic>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Antigravity: un agente que ejecuta, no solo sugiere</a:t>
            </a:r>
            <a:endParaRPr lang="es-AR" sz="3200" dirty="0"/>
          </a:p>
        </p:txBody>
      </p:sp>
      <p:sp>
        <p:nvSpPr>
          <p:cNvPr id="4" name="tarjeta-antigravity-resumen"/>
          <p:cNvSpPr/>
          <p:nvPr/>
        </p:nvSpPr>
        <p:spPr>
          <a:xfrm>
            <a:off x="548640" y="1463040"/>
            <a:ext cx="4937760" cy="4480560"/>
          </a:xfrm>
          <a:prstGeom prst="roundRect">
            <a:avLst>
              <a:gd name="adj" fmla="val 2449"/>
            </a:avLst>
          </a:prstGeom>
          <a:solidFill>
            <a:schemeClr val="tx2"/>
          </a:solidFill>
          <a:ln/>
          <a:effectLst>
            <a:outerShdw sx="100000" sy="100000" kx="0" ky="0" algn="bl" rotWithShape="0" blurRad="101600" dist="25400" dir="5400000">
              <a:srgbClr val="1B2430">
                <a:alpha val="12000"/>
              </a:srgbClr>
            </a:outerShdw>
          </a:effectLst>
        </p:spPr>
      </p:sp>
      <p:sp>
        <p:nvSpPr>
          <p:cNvPr id="5" name="Text 2"/>
          <p:cNvSpPr txBox="1"/>
          <p:nvPr/>
        </p:nvSpPr>
        <p:spPr>
          <a:xfrm>
            <a:off x="868680" y="1783080"/>
            <a:ext cx="4297680" cy="914400"/>
          </a:xfrm>
          <a:prstGeom prst="rect">
            <a:avLst/>
          </a:prstGeom>
          <a:noFill/>
          <a:ln/>
        </p:spPr>
        <p:txBody>
          <a:bodyPr wrap="square" lIns="0" tIns="0" rIns="0" bIns="0" rtlCol="0" anchor="t"/>
          <a:lstStyle/>
          <a:p>
            <a:pPr indent="0" marL="0">
              <a:buNone/>
            </a:pPr>
            <a:r>
              <a:rPr lang="es-AR" altLang="en-US" sz="2000" b="1" dirty="0">
                <a:solidFill>
                  <a:schemeClr val="bg1"/>
                </a:solidFill>
              </a:rPr>
              <a:t>Entorno de desarrollo de Google con agentes de IA integrados</a:t>
            </a:r>
            <a:endParaRPr lang="es-AR" sz="2000" dirty="0"/>
          </a:p>
        </p:txBody>
      </p:sp>
      <p:sp>
        <p:nvSpPr>
          <p:cNvPr id="6" name="Text 3"/>
          <p:cNvSpPr txBox="1"/>
          <p:nvPr/>
        </p:nvSpPr>
        <p:spPr>
          <a:xfrm>
            <a:off x="868680" y="2880360"/>
            <a:ext cx="4297680" cy="1463040"/>
          </a:xfrm>
          <a:prstGeom prst="rect">
            <a:avLst/>
          </a:prstGeom>
          <a:noFill/>
          <a:ln/>
        </p:spPr>
        <p:txBody>
          <a:bodyPr wrap="square" lIns="0" tIns="0" rIns="0" bIns="0" rtlCol="0" anchor="t"/>
          <a:lstStyle/>
          <a:p>
            <a:pPr indent="0" marL="0">
              <a:buNone/>
            </a:pPr>
            <a:r>
              <a:rPr lang="es-AR" altLang="en-US" sz="1600" dirty="0">
                <a:solidFill>
                  <a:schemeClr val="bg2"/>
                </a:solidFill>
              </a:rPr>
              <a:t>El tester define qué se prueba y qué resultado se espera. El agente explora la aplicación, escribe el test, lo ejecuta y entrega la evidencia.</a:t>
            </a:r>
            <a:endParaRPr lang="es-AR" sz="1600" dirty="0"/>
          </a:p>
        </p:txBody>
      </p:sp>
      <p:sp>
        <p:nvSpPr>
          <p:cNvPr id="7" name="Text 4"/>
          <p:cNvSpPr txBox="1"/>
          <p:nvPr/>
        </p:nvSpPr>
        <p:spPr>
          <a:xfrm>
            <a:off x="868680" y="4846320"/>
            <a:ext cx="4297680" cy="731520"/>
          </a:xfrm>
          <a:prstGeom prst="rect">
            <a:avLst/>
          </a:prstGeom>
          <a:noFill/>
          <a:ln/>
        </p:spPr>
        <p:txBody>
          <a:bodyPr wrap="square" lIns="0" tIns="0" rIns="0" bIns="0" rtlCol="0" anchor="t"/>
          <a:lstStyle/>
          <a:p>
            <a:pPr indent="0" marL="0">
              <a:buNone/>
            </a:pPr>
            <a:r>
              <a:rPr lang="es-AR" altLang="en-US" sz="1500" i="1" dirty="0">
                <a:solidFill>
                  <a:schemeClr val="accent2"/>
                </a:solidFill>
              </a:rPr>
              <a:t>La IA no reemplaza al tester: el criterio sigue siendo humano</a:t>
            </a:r>
            <a:endParaRPr lang="es-AR" sz="1500" dirty="0"/>
          </a:p>
        </p:txBody>
      </p:sp>
      <p:sp>
        <p:nvSpPr>
          <p:cNvPr id="8" name="circulo-ag-0"/>
          <p:cNvSpPr/>
          <p:nvPr/>
        </p:nvSpPr>
        <p:spPr>
          <a:xfrm>
            <a:off x="5943600" y="1508760"/>
            <a:ext cx="777240" cy="777240"/>
          </a:xfrm>
          <a:prstGeom prst="ellipse">
            <a:avLst/>
          </a:prstGeom>
          <a:solidFill>
            <a:schemeClr val="accent1"/>
          </a:solidFill>
          <a:ln/>
        </p:spPr>
      </p:sp>
      <p:pic>
        <p:nvPicPr>
          <p:cNvPr id="9" name="icono-ag-0" descr="preencoded.png">    </p:cNvPr>
          <p:cNvPicPr>
            <a:picLocks noChangeAspect="1"/>
          </p:cNvPicPr>
          <p:nvPr/>
        </p:nvPicPr>
        <p:blipFill>
          <a:blip r:embed="rId1"/>
          <a:stretch>
            <a:fillRect/>
          </a:stretch>
        </p:blipFill>
        <p:spPr>
          <a:xfrm>
            <a:off x="6145682" y="1710842"/>
            <a:ext cx="373075" cy="373075"/>
          </a:xfrm>
          <a:prstGeom prst="rect">
            <a:avLst/>
          </a:prstGeom>
        </p:spPr>
      </p:pic>
      <p:sp>
        <p:nvSpPr>
          <p:cNvPr id="10" name="Text 6"/>
          <p:cNvSpPr txBox="1"/>
          <p:nvPr/>
        </p:nvSpPr>
        <p:spPr>
          <a:xfrm>
            <a:off x="6949440" y="1527048"/>
            <a:ext cx="4663440" cy="365760"/>
          </a:xfrm>
          <a:prstGeom prst="rect">
            <a:avLst/>
          </a:prstGeom>
          <a:noFill/>
          <a:ln/>
        </p:spPr>
        <p:txBody>
          <a:bodyPr wrap="square" lIns="0" tIns="0" rIns="0" bIns="0" rtlCol="0" anchor="t"/>
          <a:lstStyle/>
          <a:p>
            <a:pPr indent="0" marL="0">
              <a:buNone/>
            </a:pPr>
            <a:r>
              <a:rPr lang="es-AR" altLang="en-US" sz="1800" b="1" dirty="0">
                <a:solidFill>
                  <a:schemeClr val="tx1"/>
                </a:solidFill>
              </a:rPr>
              <a:t>Explora</a:t>
            </a:r>
            <a:endParaRPr lang="es-AR" sz="1800" dirty="0"/>
          </a:p>
        </p:txBody>
      </p:sp>
      <p:sp>
        <p:nvSpPr>
          <p:cNvPr id="11" name="Text 7"/>
          <p:cNvSpPr txBox="1"/>
          <p:nvPr/>
        </p:nvSpPr>
        <p:spPr>
          <a:xfrm>
            <a:off x="6949440" y="1920240"/>
            <a:ext cx="4663440" cy="457200"/>
          </a:xfrm>
          <a:prstGeom prst="rect">
            <a:avLst/>
          </a:prstGeom>
          <a:noFill/>
          <a:ln/>
        </p:spPr>
        <p:txBody>
          <a:bodyPr wrap="square" lIns="0" tIns="0" rIns="0" bIns="0" rtlCol="0" anchor="t"/>
          <a:lstStyle/>
          <a:p>
            <a:pPr indent="0" marL="0">
              <a:buNone/>
            </a:pPr>
            <a:r>
              <a:rPr lang="es-AR" altLang="en-US" sz="1500" dirty="0">
                <a:solidFill>
                  <a:schemeClr val="accent3"/>
                </a:solidFill>
              </a:rPr>
              <a:t>Navega la aplicación y encuentra campos, botones y mensajes</a:t>
            </a:r>
            <a:endParaRPr lang="es-AR" sz="1500" dirty="0"/>
          </a:p>
        </p:txBody>
      </p:sp>
      <p:sp>
        <p:nvSpPr>
          <p:cNvPr id="12" name="circulo-ag-1"/>
          <p:cNvSpPr/>
          <p:nvPr/>
        </p:nvSpPr>
        <p:spPr>
          <a:xfrm>
            <a:off x="5943600" y="2624328"/>
            <a:ext cx="777240" cy="777240"/>
          </a:xfrm>
          <a:prstGeom prst="ellipse">
            <a:avLst/>
          </a:prstGeom>
          <a:solidFill>
            <a:schemeClr val="accent2"/>
          </a:solidFill>
          <a:ln/>
        </p:spPr>
      </p:sp>
      <p:pic>
        <p:nvPicPr>
          <p:cNvPr id="13" name="icono-ag-1" descr="preencoded.png">    </p:cNvPr>
          <p:cNvPicPr>
            <a:picLocks noChangeAspect="1"/>
          </p:cNvPicPr>
          <p:nvPr/>
        </p:nvPicPr>
        <p:blipFill>
          <a:blip r:embed="rId2"/>
          <a:stretch>
            <a:fillRect/>
          </a:stretch>
        </p:blipFill>
        <p:spPr>
          <a:xfrm>
            <a:off x="6145682" y="2826410"/>
            <a:ext cx="373075" cy="373075"/>
          </a:xfrm>
          <a:prstGeom prst="rect">
            <a:avLst/>
          </a:prstGeom>
        </p:spPr>
      </p:pic>
      <p:sp>
        <p:nvSpPr>
          <p:cNvPr id="14" name="Text 9"/>
          <p:cNvSpPr txBox="1"/>
          <p:nvPr/>
        </p:nvSpPr>
        <p:spPr>
          <a:xfrm>
            <a:off x="6949440" y="2642616"/>
            <a:ext cx="4663440" cy="365760"/>
          </a:xfrm>
          <a:prstGeom prst="rect">
            <a:avLst/>
          </a:prstGeom>
          <a:noFill/>
          <a:ln/>
        </p:spPr>
        <p:txBody>
          <a:bodyPr wrap="square" lIns="0" tIns="0" rIns="0" bIns="0" rtlCol="0" anchor="t"/>
          <a:lstStyle/>
          <a:p>
            <a:pPr indent="0" marL="0">
              <a:buNone/>
            </a:pPr>
            <a:r>
              <a:rPr lang="es-AR" altLang="en-US" sz="1800" b="1" dirty="0">
                <a:solidFill>
                  <a:schemeClr val="tx1"/>
                </a:solidFill>
              </a:rPr>
              <a:t>Escribe</a:t>
            </a:r>
            <a:endParaRPr lang="es-AR" sz="1800" dirty="0"/>
          </a:p>
        </p:txBody>
      </p:sp>
      <p:sp>
        <p:nvSpPr>
          <p:cNvPr id="15" name="Text 10"/>
          <p:cNvSpPr txBox="1"/>
          <p:nvPr/>
        </p:nvSpPr>
        <p:spPr>
          <a:xfrm>
            <a:off x="6949440" y="3035808"/>
            <a:ext cx="4663440" cy="457200"/>
          </a:xfrm>
          <a:prstGeom prst="rect">
            <a:avLst/>
          </a:prstGeom>
          <a:noFill/>
          <a:ln/>
        </p:spPr>
        <p:txBody>
          <a:bodyPr wrap="square" lIns="0" tIns="0" rIns="0" bIns="0" rtlCol="0" anchor="t"/>
          <a:lstStyle/>
          <a:p>
            <a:pPr indent="0" marL="0">
              <a:buNone/>
            </a:pPr>
            <a:r>
              <a:rPr lang="es-AR" altLang="en-US" sz="1500" dirty="0">
                <a:solidFill>
                  <a:schemeClr val="accent3"/>
                </a:solidFill>
              </a:rPr>
              <a:t>Genera el código del test en el framework pedido</a:t>
            </a:r>
            <a:endParaRPr lang="es-AR" sz="1500" dirty="0"/>
          </a:p>
        </p:txBody>
      </p:sp>
      <p:sp>
        <p:nvSpPr>
          <p:cNvPr id="16" name="circulo-ag-2"/>
          <p:cNvSpPr/>
          <p:nvPr/>
        </p:nvSpPr>
        <p:spPr>
          <a:xfrm>
            <a:off x="5943600" y="3739896"/>
            <a:ext cx="777240" cy="777240"/>
          </a:xfrm>
          <a:prstGeom prst="ellipse">
            <a:avLst/>
          </a:prstGeom>
          <a:solidFill>
            <a:schemeClr val="accent1"/>
          </a:solidFill>
          <a:ln/>
        </p:spPr>
      </p:sp>
      <p:pic>
        <p:nvPicPr>
          <p:cNvPr id="17" name="icono-ag-2" descr="preencoded.png">    </p:cNvPr>
          <p:cNvPicPr>
            <a:picLocks noChangeAspect="1"/>
          </p:cNvPicPr>
          <p:nvPr/>
        </p:nvPicPr>
        <p:blipFill>
          <a:blip r:embed="rId3"/>
          <a:stretch>
            <a:fillRect/>
          </a:stretch>
        </p:blipFill>
        <p:spPr>
          <a:xfrm>
            <a:off x="6145682" y="3941978"/>
            <a:ext cx="373075" cy="373075"/>
          </a:xfrm>
          <a:prstGeom prst="rect">
            <a:avLst/>
          </a:prstGeom>
        </p:spPr>
      </p:pic>
      <p:sp>
        <p:nvSpPr>
          <p:cNvPr id="18" name="Text 12"/>
          <p:cNvSpPr txBox="1"/>
          <p:nvPr/>
        </p:nvSpPr>
        <p:spPr>
          <a:xfrm>
            <a:off x="6949440" y="3758184"/>
            <a:ext cx="4663440" cy="365760"/>
          </a:xfrm>
          <a:prstGeom prst="rect">
            <a:avLst/>
          </a:prstGeom>
          <a:noFill/>
          <a:ln/>
        </p:spPr>
        <p:txBody>
          <a:bodyPr wrap="square" lIns="0" tIns="0" rIns="0" bIns="0" rtlCol="0" anchor="t"/>
          <a:lstStyle/>
          <a:p>
            <a:pPr indent="0" marL="0">
              <a:buNone/>
            </a:pPr>
            <a:r>
              <a:rPr lang="es-AR" altLang="en-US" sz="1800" b="1" dirty="0">
                <a:solidFill>
                  <a:schemeClr val="tx1"/>
                </a:solidFill>
              </a:rPr>
              <a:t>Ejecuta</a:t>
            </a:r>
            <a:endParaRPr lang="es-AR" sz="1800" dirty="0"/>
          </a:p>
        </p:txBody>
      </p:sp>
      <p:sp>
        <p:nvSpPr>
          <p:cNvPr id="19" name="Text 13"/>
          <p:cNvSpPr txBox="1"/>
          <p:nvPr/>
        </p:nvSpPr>
        <p:spPr>
          <a:xfrm>
            <a:off x="6949440" y="4151376"/>
            <a:ext cx="4663440" cy="457200"/>
          </a:xfrm>
          <a:prstGeom prst="rect">
            <a:avLst/>
          </a:prstGeom>
          <a:noFill/>
          <a:ln/>
        </p:spPr>
        <p:txBody>
          <a:bodyPr wrap="square" lIns="0" tIns="0" rIns="0" bIns="0" rtlCol="0" anchor="t"/>
          <a:lstStyle/>
          <a:p>
            <a:pPr indent="0" marL="0">
              <a:buNone/>
            </a:pPr>
            <a:r>
              <a:rPr lang="es-AR" altLang="en-US" sz="1500" dirty="0">
                <a:solidFill>
                  <a:schemeClr val="accent3"/>
                </a:solidFill>
              </a:rPr>
              <a:t>Corre los tests y analiza las fallas</a:t>
            </a:r>
            <a:endParaRPr lang="es-AR" sz="1500" dirty="0"/>
          </a:p>
        </p:txBody>
      </p:sp>
      <p:sp>
        <p:nvSpPr>
          <p:cNvPr id="20" name="circulo-ag-3"/>
          <p:cNvSpPr/>
          <p:nvPr/>
        </p:nvSpPr>
        <p:spPr>
          <a:xfrm>
            <a:off x="5943600" y="4855464"/>
            <a:ext cx="777240" cy="777240"/>
          </a:xfrm>
          <a:prstGeom prst="ellipse">
            <a:avLst/>
          </a:prstGeom>
          <a:solidFill>
            <a:schemeClr val="accent2"/>
          </a:solidFill>
          <a:ln/>
        </p:spPr>
      </p:sp>
      <p:pic>
        <p:nvPicPr>
          <p:cNvPr id="21" name="icono-ag-3" descr="preencoded.png">    </p:cNvPr>
          <p:cNvPicPr>
            <a:picLocks noChangeAspect="1"/>
          </p:cNvPicPr>
          <p:nvPr/>
        </p:nvPicPr>
        <p:blipFill>
          <a:blip r:embed="rId4"/>
          <a:stretch>
            <a:fillRect/>
          </a:stretch>
        </p:blipFill>
        <p:spPr>
          <a:xfrm>
            <a:off x="6145682" y="5057546"/>
            <a:ext cx="373075" cy="373075"/>
          </a:xfrm>
          <a:prstGeom prst="rect">
            <a:avLst/>
          </a:prstGeom>
        </p:spPr>
      </p:pic>
      <p:sp>
        <p:nvSpPr>
          <p:cNvPr id="22" name="Text 15"/>
          <p:cNvSpPr txBox="1"/>
          <p:nvPr/>
        </p:nvSpPr>
        <p:spPr>
          <a:xfrm>
            <a:off x="6949440" y="4873752"/>
            <a:ext cx="4663440" cy="365760"/>
          </a:xfrm>
          <a:prstGeom prst="rect">
            <a:avLst/>
          </a:prstGeom>
          <a:noFill/>
          <a:ln/>
        </p:spPr>
        <p:txBody>
          <a:bodyPr wrap="square" lIns="0" tIns="0" rIns="0" bIns="0" rtlCol="0" anchor="t"/>
          <a:lstStyle/>
          <a:p>
            <a:pPr indent="0" marL="0">
              <a:buNone/>
            </a:pPr>
            <a:r>
              <a:rPr lang="es-AR" altLang="en-US" sz="1800" b="1" dirty="0">
                <a:solidFill>
                  <a:schemeClr val="tx1"/>
                </a:solidFill>
              </a:rPr>
              <a:t>Deja evidencia</a:t>
            </a:r>
            <a:endParaRPr lang="es-AR" sz="1800" dirty="0"/>
          </a:p>
        </p:txBody>
      </p:sp>
      <p:sp>
        <p:nvSpPr>
          <p:cNvPr id="23" name="Text 16"/>
          <p:cNvSpPr txBox="1"/>
          <p:nvPr/>
        </p:nvSpPr>
        <p:spPr>
          <a:xfrm>
            <a:off x="6949440" y="5266944"/>
            <a:ext cx="4663440" cy="457200"/>
          </a:xfrm>
          <a:prstGeom prst="rect">
            <a:avLst/>
          </a:prstGeom>
          <a:noFill/>
          <a:ln/>
        </p:spPr>
        <p:txBody>
          <a:bodyPr wrap="square" lIns="0" tIns="0" rIns="0" bIns="0" rtlCol="0" anchor="t"/>
          <a:lstStyle/>
          <a:p>
            <a:pPr indent="0" marL="0">
              <a:buNone/>
            </a:pPr>
            <a:r>
              <a:rPr lang="es-AR" altLang="en-US" sz="1500" dirty="0">
                <a:solidFill>
                  <a:schemeClr val="accent3"/>
                </a:solidFill>
              </a:rPr>
              <a:t>Plan de trabajo, capturas y grabaciones para revisar</a:t>
            </a:r>
            <a:endParaRPr lang="es-AR" sz="15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Editor, asistente y agente: no son lo mismo</a:t>
            </a:r>
            <a:endParaRPr lang="es-AR" sz="3200" dirty="0"/>
          </a:p>
        </p:txBody>
      </p:sp>
      <p:sp>
        <p:nvSpPr>
          <p:cNvPr id="4" name="tarjeta-tipo-0"/>
          <p:cNvSpPr/>
          <p:nvPr/>
        </p:nvSpPr>
        <p:spPr>
          <a:xfrm>
            <a:off x="548640" y="1371600"/>
            <a:ext cx="3474720" cy="4160520"/>
          </a:xfrm>
          <a:prstGeom prst="roundRect">
            <a:avLst>
              <a:gd name="adj" fmla="val 3158"/>
            </a:avLst>
          </a:prstGeom>
          <a:solidFill>
            <a:schemeClr val="bg2"/>
          </a:solidFill>
          <a:ln/>
          <a:effectLst>
            <a:outerShdw sx="100000" sy="100000" kx="0" ky="0" algn="bl" rotWithShape="0" blurRad="101600" dist="25400" dir="5400000">
              <a:srgbClr val="1B2430">
                <a:alpha val="12000"/>
              </a:srgbClr>
            </a:outerShdw>
          </a:effectLst>
        </p:spPr>
      </p:sp>
      <p:sp>
        <p:nvSpPr>
          <p:cNvPr id="5" name="circulo-tipo-0"/>
          <p:cNvSpPr/>
          <p:nvPr/>
        </p:nvSpPr>
        <p:spPr>
          <a:xfrm>
            <a:off x="868680" y="1645920"/>
            <a:ext cx="868680" cy="868680"/>
          </a:xfrm>
          <a:prstGeom prst="ellipse">
            <a:avLst/>
          </a:prstGeom>
          <a:solidFill>
            <a:schemeClr val="accent6"/>
          </a:solidFill>
          <a:ln/>
        </p:spPr>
      </p:sp>
      <p:pic>
        <p:nvPicPr>
          <p:cNvPr id="6" name="icono-tipo-0" descr="preencoded.png">    </p:cNvPr>
          <p:cNvPicPr>
            <a:picLocks noChangeAspect="1"/>
          </p:cNvPicPr>
          <p:nvPr/>
        </p:nvPicPr>
        <p:blipFill>
          <a:blip r:embed="rId1"/>
          <a:stretch>
            <a:fillRect/>
          </a:stretch>
        </p:blipFill>
        <p:spPr>
          <a:xfrm>
            <a:off x="1094537" y="1871777"/>
            <a:ext cx="416966" cy="416966"/>
          </a:xfrm>
          <a:prstGeom prst="rect">
            <a:avLst/>
          </a:prstGeom>
        </p:spPr>
      </p:pic>
      <p:sp>
        <p:nvSpPr>
          <p:cNvPr id="7" name="Text 3"/>
          <p:cNvSpPr txBox="1"/>
          <p:nvPr/>
        </p:nvSpPr>
        <p:spPr>
          <a:xfrm>
            <a:off x="1920240" y="1783080"/>
            <a:ext cx="1920240" cy="548640"/>
          </a:xfrm>
          <a:prstGeom prst="rect">
            <a:avLst/>
          </a:prstGeom>
          <a:noFill/>
          <a:ln/>
        </p:spPr>
        <p:txBody>
          <a:bodyPr wrap="square" lIns="0" tIns="0" rIns="0" bIns="0" rtlCol="0" anchor="ctr"/>
          <a:lstStyle/>
          <a:p>
            <a:pPr indent="0" marL="0">
              <a:buNone/>
            </a:pPr>
            <a:r>
              <a:rPr lang="es-AR" altLang="en-US" sz="2400" b="1" dirty="0">
                <a:solidFill>
                  <a:schemeClr val="tx1"/>
                </a:solidFill>
              </a:rPr>
              <a:t>Editor</a:t>
            </a:r>
            <a:endParaRPr lang="es-AR" sz="2400" dirty="0"/>
          </a:p>
        </p:txBody>
      </p:sp>
      <p:sp>
        <p:nvSpPr>
          <p:cNvPr id="8" name="Text 4"/>
          <p:cNvSpPr txBox="1"/>
          <p:nvPr/>
        </p:nvSpPr>
        <p:spPr>
          <a:xfrm>
            <a:off x="868680" y="2743200"/>
            <a:ext cx="2880360" cy="914400"/>
          </a:xfrm>
          <a:prstGeom prst="rect">
            <a:avLst/>
          </a:prstGeom>
          <a:noFill/>
          <a:ln/>
        </p:spPr>
        <p:txBody>
          <a:bodyPr wrap="square" lIns="0" tIns="0" rIns="0" bIns="0" rtlCol="0" anchor="t"/>
          <a:lstStyle/>
          <a:p>
            <a:pPr indent="0" marL="0">
              <a:buNone/>
            </a:pPr>
            <a:r>
              <a:rPr lang="es-AR" altLang="en-US" sz="1500" dirty="0">
                <a:solidFill>
                  <a:schemeClr val="tx1"/>
                </a:solidFill>
              </a:rPr>
              <a:t>El programa donde se escribe y se ejecuta el código</a:t>
            </a:r>
            <a:endParaRPr lang="es-AR" sz="1500" dirty="0"/>
          </a:p>
        </p:txBody>
      </p:sp>
      <p:sp>
        <p:nvSpPr>
          <p:cNvPr id="9" name="Text 5"/>
          <p:cNvSpPr txBox="1"/>
          <p:nvPr/>
        </p:nvSpPr>
        <p:spPr>
          <a:xfrm>
            <a:off x="868680" y="3749040"/>
            <a:ext cx="2880360" cy="274320"/>
          </a:xfrm>
          <a:prstGeom prst="rect">
            <a:avLst/>
          </a:prstGeom>
          <a:noFill/>
          <a:ln/>
        </p:spPr>
        <p:txBody>
          <a:bodyPr wrap="square" lIns="0" tIns="0" rIns="0" bIns="0" rtlCol="0" anchor="t"/>
          <a:lstStyle/>
          <a:p>
            <a:pPr indent="0" marL="0">
              <a:buNone/>
            </a:pPr>
            <a:r>
              <a:rPr lang="es-AR" altLang="en-US" sz="1200" b="1" dirty="0">
                <a:solidFill>
                  <a:schemeClr val="accent3"/>
                </a:solidFill>
              </a:rPr>
              <a:t>Quién hace el trabajo</a:t>
            </a:r>
            <a:endParaRPr lang="es-AR" sz="1200" dirty="0"/>
          </a:p>
        </p:txBody>
      </p:sp>
      <p:sp>
        <p:nvSpPr>
          <p:cNvPr id="10" name="Text 6"/>
          <p:cNvSpPr txBox="1"/>
          <p:nvPr/>
        </p:nvSpPr>
        <p:spPr>
          <a:xfrm>
            <a:off x="868680" y="4041648"/>
            <a:ext cx="2880360" cy="548640"/>
          </a:xfrm>
          <a:prstGeom prst="rect">
            <a:avLst/>
          </a:prstGeom>
          <a:noFill/>
          <a:ln/>
        </p:spPr>
        <p:txBody>
          <a:bodyPr wrap="square" lIns="0" tIns="0" rIns="0" bIns="0" rtlCol="0" anchor="t"/>
          <a:lstStyle/>
          <a:p>
            <a:pPr indent="0" marL="0">
              <a:buNone/>
            </a:pPr>
            <a:r>
              <a:rPr lang="es-AR" altLang="en-US" sz="1500" b="1" dirty="0">
                <a:solidFill>
                  <a:schemeClr val="accent6"/>
                </a:solidFill>
              </a:rPr>
              <a:t>La persona hace todo</a:t>
            </a:r>
            <a:endParaRPr lang="es-AR" sz="1500" dirty="0"/>
          </a:p>
        </p:txBody>
      </p:sp>
      <p:sp>
        <p:nvSpPr>
          <p:cNvPr id="11" name="Text 7"/>
          <p:cNvSpPr txBox="1"/>
          <p:nvPr/>
        </p:nvSpPr>
        <p:spPr>
          <a:xfrm>
            <a:off x="868680" y="4709160"/>
            <a:ext cx="2880360" cy="685800"/>
          </a:xfrm>
          <a:prstGeom prst="rect">
            <a:avLst/>
          </a:prstGeom>
          <a:noFill/>
          <a:ln/>
        </p:spPr>
        <p:txBody>
          <a:bodyPr wrap="square" lIns="0" tIns="0" rIns="0" bIns="0" rtlCol="0" anchor="t"/>
          <a:lstStyle/>
          <a:p>
            <a:pPr indent="0" marL="0">
              <a:buNone/>
            </a:pPr>
            <a:r>
              <a:rPr lang="es-AR" altLang="en-US" sz="1300" i="1" dirty="0">
                <a:solidFill>
                  <a:schemeClr val="accent3"/>
                </a:solidFill>
              </a:rPr>
              <a:t>Ejemplos: VS Code, Cursor, Antigravity</a:t>
            </a:r>
            <a:endParaRPr lang="es-AR" sz="1300" dirty="0"/>
          </a:p>
        </p:txBody>
      </p:sp>
      <p:sp>
        <p:nvSpPr>
          <p:cNvPr id="12" name="tarjeta-tipo-1"/>
          <p:cNvSpPr/>
          <p:nvPr/>
        </p:nvSpPr>
        <p:spPr>
          <a:xfrm>
            <a:off x="4297680" y="1371600"/>
            <a:ext cx="3474720" cy="4160520"/>
          </a:xfrm>
          <a:prstGeom prst="roundRect">
            <a:avLst>
              <a:gd name="adj" fmla="val 3158"/>
            </a:avLst>
          </a:prstGeom>
          <a:solidFill>
            <a:schemeClr val="bg2"/>
          </a:solidFill>
          <a:ln/>
          <a:effectLst>
            <a:outerShdw sx="100000" sy="100000" kx="0" ky="0" algn="bl" rotWithShape="0" blurRad="101600" dist="25400" dir="5400000">
              <a:srgbClr val="1B2430">
                <a:alpha val="12000"/>
              </a:srgbClr>
            </a:outerShdw>
          </a:effectLst>
        </p:spPr>
      </p:sp>
      <p:sp>
        <p:nvSpPr>
          <p:cNvPr id="13" name="circulo-tipo-1"/>
          <p:cNvSpPr/>
          <p:nvPr/>
        </p:nvSpPr>
        <p:spPr>
          <a:xfrm>
            <a:off x="4617720" y="1645920"/>
            <a:ext cx="868680" cy="868680"/>
          </a:xfrm>
          <a:prstGeom prst="ellipse">
            <a:avLst/>
          </a:prstGeom>
          <a:solidFill>
            <a:schemeClr val="accent1"/>
          </a:solidFill>
          <a:ln/>
        </p:spPr>
      </p:sp>
      <p:pic>
        <p:nvPicPr>
          <p:cNvPr id="14" name="icono-tipo-1" descr="preencoded.png">    </p:cNvPr>
          <p:cNvPicPr>
            <a:picLocks noChangeAspect="1"/>
          </p:cNvPicPr>
          <p:nvPr/>
        </p:nvPicPr>
        <p:blipFill>
          <a:blip r:embed="rId2"/>
          <a:stretch>
            <a:fillRect/>
          </a:stretch>
        </p:blipFill>
        <p:spPr>
          <a:xfrm>
            <a:off x="4843577" y="1871777"/>
            <a:ext cx="416966" cy="416966"/>
          </a:xfrm>
          <a:prstGeom prst="rect">
            <a:avLst/>
          </a:prstGeom>
        </p:spPr>
      </p:pic>
      <p:sp>
        <p:nvSpPr>
          <p:cNvPr id="15" name="Text 10"/>
          <p:cNvSpPr txBox="1"/>
          <p:nvPr/>
        </p:nvSpPr>
        <p:spPr>
          <a:xfrm>
            <a:off x="5669280" y="1783080"/>
            <a:ext cx="1920240" cy="548640"/>
          </a:xfrm>
          <a:prstGeom prst="rect">
            <a:avLst/>
          </a:prstGeom>
          <a:noFill/>
          <a:ln/>
        </p:spPr>
        <p:txBody>
          <a:bodyPr wrap="square" lIns="0" tIns="0" rIns="0" bIns="0" rtlCol="0" anchor="ctr"/>
          <a:lstStyle/>
          <a:p>
            <a:pPr indent="0" marL="0">
              <a:buNone/>
            </a:pPr>
            <a:r>
              <a:rPr lang="es-AR" altLang="en-US" sz="2400" b="1" dirty="0">
                <a:solidFill>
                  <a:schemeClr val="tx1"/>
                </a:solidFill>
              </a:rPr>
              <a:t>Asistente</a:t>
            </a:r>
            <a:endParaRPr lang="es-AR" sz="2400" dirty="0"/>
          </a:p>
        </p:txBody>
      </p:sp>
      <p:sp>
        <p:nvSpPr>
          <p:cNvPr id="16" name="Text 11"/>
          <p:cNvSpPr txBox="1"/>
          <p:nvPr/>
        </p:nvSpPr>
        <p:spPr>
          <a:xfrm>
            <a:off x="4617720" y="2743200"/>
            <a:ext cx="2880360" cy="914400"/>
          </a:xfrm>
          <a:prstGeom prst="rect">
            <a:avLst/>
          </a:prstGeom>
          <a:noFill/>
          <a:ln/>
        </p:spPr>
        <p:txBody>
          <a:bodyPr wrap="square" lIns="0" tIns="0" rIns="0" bIns="0" rtlCol="0" anchor="t"/>
          <a:lstStyle/>
          <a:p>
            <a:pPr indent="0" marL="0">
              <a:buNone/>
            </a:pPr>
            <a:r>
              <a:rPr lang="es-AR" altLang="en-US" sz="1500" dirty="0">
                <a:solidFill>
                  <a:schemeClr val="tx1"/>
                </a:solidFill>
              </a:rPr>
              <a:t>Sugiere código y responde preguntas mientras trabajás</a:t>
            </a:r>
            <a:endParaRPr lang="es-AR" sz="1500" dirty="0"/>
          </a:p>
        </p:txBody>
      </p:sp>
      <p:sp>
        <p:nvSpPr>
          <p:cNvPr id="17" name="Text 12"/>
          <p:cNvSpPr txBox="1"/>
          <p:nvPr/>
        </p:nvSpPr>
        <p:spPr>
          <a:xfrm>
            <a:off x="4617720" y="3749040"/>
            <a:ext cx="2880360" cy="274320"/>
          </a:xfrm>
          <a:prstGeom prst="rect">
            <a:avLst/>
          </a:prstGeom>
          <a:noFill/>
          <a:ln/>
        </p:spPr>
        <p:txBody>
          <a:bodyPr wrap="square" lIns="0" tIns="0" rIns="0" bIns="0" rtlCol="0" anchor="t"/>
          <a:lstStyle/>
          <a:p>
            <a:pPr indent="0" marL="0">
              <a:buNone/>
            </a:pPr>
            <a:r>
              <a:rPr lang="es-AR" altLang="en-US" sz="1200" b="1" dirty="0">
                <a:solidFill>
                  <a:schemeClr val="accent3"/>
                </a:solidFill>
              </a:rPr>
              <a:t>Quién hace el trabajo</a:t>
            </a:r>
            <a:endParaRPr lang="es-AR" sz="1200" dirty="0"/>
          </a:p>
        </p:txBody>
      </p:sp>
      <p:sp>
        <p:nvSpPr>
          <p:cNvPr id="18" name="Text 13"/>
          <p:cNvSpPr txBox="1"/>
          <p:nvPr/>
        </p:nvSpPr>
        <p:spPr>
          <a:xfrm>
            <a:off x="4617720" y="4041648"/>
            <a:ext cx="2880360" cy="548640"/>
          </a:xfrm>
          <a:prstGeom prst="rect">
            <a:avLst/>
          </a:prstGeom>
          <a:noFill/>
          <a:ln/>
        </p:spPr>
        <p:txBody>
          <a:bodyPr wrap="square" lIns="0" tIns="0" rIns="0" bIns="0" rtlCol="0" anchor="t"/>
          <a:lstStyle/>
          <a:p>
            <a:pPr indent="0" marL="0">
              <a:buNone/>
            </a:pPr>
            <a:r>
              <a:rPr lang="es-AR" altLang="en-US" sz="1500" b="1" dirty="0">
                <a:solidFill>
                  <a:schemeClr val="accent1"/>
                </a:solidFill>
              </a:rPr>
              <a:t>La persona decide y hace cada paso</a:t>
            </a:r>
            <a:endParaRPr lang="es-AR" sz="1500" dirty="0"/>
          </a:p>
        </p:txBody>
      </p:sp>
      <p:sp>
        <p:nvSpPr>
          <p:cNvPr id="19" name="Text 14"/>
          <p:cNvSpPr txBox="1"/>
          <p:nvPr/>
        </p:nvSpPr>
        <p:spPr>
          <a:xfrm>
            <a:off x="4617720" y="4709160"/>
            <a:ext cx="2880360" cy="685800"/>
          </a:xfrm>
          <a:prstGeom prst="rect">
            <a:avLst/>
          </a:prstGeom>
          <a:noFill/>
          <a:ln/>
        </p:spPr>
        <p:txBody>
          <a:bodyPr wrap="square" lIns="0" tIns="0" rIns="0" bIns="0" rtlCol="0" anchor="t"/>
          <a:lstStyle/>
          <a:p>
            <a:pPr indent="0" marL="0">
              <a:buNone/>
            </a:pPr>
            <a:r>
              <a:rPr lang="es-AR" altLang="en-US" sz="1300" i="1" dirty="0">
                <a:solidFill>
                  <a:schemeClr val="accent3"/>
                </a:solidFill>
              </a:rPr>
              <a:t>Ejemplos: GitHub Copilot (autocompletado y chat)</a:t>
            </a:r>
            <a:endParaRPr lang="es-AR" sz="1300" dirty="0"/>
          </a:p>
        </p:txBody>
      </p:sp>
      <p:sp>
        <p:nvSpPr>
          <p:cNvPr id="20" name="tarjeta-tipo-2"/>
          <p:cNvSpPr/>
          <p:nvPr/>
        </p:nvSpPr>
        <p:spPr>
          <a:xfrm>
            <a:off x="8046720" y="1371600"/>
            <a:ext cx="3474720" cy="4160520"/>
          </a:xfrm>
          <a:prstGeom prst="roundRect">
            <a:avLst>
              <a:gd name="adj" fmla="val 3158"/>
            </a:avLst>
          </a:prstGeom>
          <a:solidFill>
            <a:schemeClr val="bg2"/>
          </a:solidFill>
          <a:ln/>
          <a:effectLst>
            <a:outerShdw sx="100000" sy="100000" kx="0" ky="0" algn="bl" rotWithShape="0" blurRad="101600" dist="25400" dir="5400000">
              <a:srgbClr val="1B2430">
                <a:alpha val="12000"/>
              </a:srgbClr>
            </a:outerShdw>
          </a:effectLst>
        </p:spPr>
      </p:sp>
      <p:sp>
        <p:nvSpPr>
          <p:cNvPr id="21" name="circulo-tipo-2"/>
          <p:cNvSpPr/>
          <p:nvPr/>
        </p:nvSpPr>
        <p:spPr>
          <a:xfrm>
            <a:off x="8366760" y="1645920"/>
            <a:ext cx="868680" cy="868680"/>
          </a:xfrm>
          <a:prstGeom prst="ellipse">
            <a:avLst/>
          </a:prstGeom>
          <a:solidFill>
            <a:schemeClr val="accent2"/>
          </a:solidFill>
          <a:ln/>
        </p:spPr>
      </p:sp>
      <p:pic>
        <p:nvPicPr>
          <p:cNvPr id="22" name="icono-tipo-2" descr="preencoded.png">    </p:cNvPr>
          <p:cNvPicPr>
            <a:picLocks noChangeAspect="1"/>
          </p:cNvPicPr>
          <p:nvPr/>
        </p:nvPicPr>
        <p:blipFill>
          <a:blip r:embed="rId3"/>
          <a:stretch>
            <a:fillRect/>
          </a:stretch>
        </p:blipFill>
        <p:spPr>
          <a:xfrm>
            <a:off x="8592617" y="1871777"/>
            <a:ext cx="416966" cy="416966"/>
          </a:xfrm>
          <a:prstGeom prst="rect">
            <a:avLst/>
          </a:prstGeom>
        </p:spPr>
      </p:pic>
      <p:sp>
        <p:nvSpPr>
          <p:cNvPr id="23" name="Text 17"/>
          <p:cNvSpPr txBox="1"/>
          <p:nvPr/>
        </p:nvSpPr>
        <p:spPr>
          <a:xfrm>
            <a:off x="9418320" y="1783080"/>
            <a:ext cx="1920240" cy="548640"/>
          </a:xfrm>
          <a:prstGeom prst="rect">
            <a:avLst/>
          </a:prstGeom>
          <a:noFill/>
          <a:ln/>
        </p:spPr>
        <p:txBody>
          <a:bodyPr wrap="square" lIns="0" tIns="0" rIns="0" bIns="0" rtlCol="0" anchor="ctr"/>
          <a:lstStyle/>
          <a:p>
            <a:pPr indent="0" marL="0">
              <a:buNone/>
            </a:pPr>
            <a:r>
              <a:rPr lang="es-AR" altLang="en-US" sz="2400" b="1" dirty="0">
                <a:solidFill>
                  <a:schemeClr val="tx1"/>
                </a:solidFill>
              </a:rPr>
              <a:t>Agente</a:t>
            </a:r>
            <a:endParaRPr lang="es-AR" sz="2400" dirty="0"/>
          </a:p>
        </p:txBody>
      </p:sp>
      <p:sp>
        <p:nvSpPr>
          <p:cNvPr id="24" name="Text 18"/>
          <p:cNvSpPr txBox="1"/>
          <p:nvPr/>
        </p:nvSpPr>
        <p:spPr>
          <a:xfrm>
            <a:off x="8366760" y="2743200"/>
            <a:ext cx="2880360" cy="914400"/>
          </a:xfrm>
          <a:prstGeom prst="rect">
            <a:avLst/>
          </a:prstGeom>
          <a:noFill/>
          <a:ln/>
        </p:spPr>
        <p:txBody>
          <a:bodyPr wrap="square" lIns="0" tIns="0" rIns="0" bIns="0" rtlCol="0" anchor="t"/>
          <a:lstStyle/>
          <a:p>
            <a:pPr indent="0" marL="0">
              <a:buNone/>
            </a:pPr>
            <a:r>
              <a:rPr lang="es-AR" altLang="en-US" sz="1500" dirty="0">
                <a:solidFill>
                  <a:schemeClr val="tx1"/>
                </a:solidFill>
              </a:rPr>
              <a:t>Recibe un objetivo y lo cumple solo: explora, escribe, ejecuta y revisa</a:t>
            </a:r>
            <a:endParaRPr lang="es-AR" sz="1500" dirty="0"/>
          </a:p>
        </p:txBody>
      </p:sp>
      <p:sp>
        <p:nvSpPr>
          <p:cNvPr id="25" name="Text 19"/>
          <p:cNvSpPr txBox="1"/>
          <p:nvPr/>
        </p:nvSpPr>
        <p:spPr>
          <a:xfrm>
            <a:off x="8366760" y="3749040"/>
            <a:ext cx="2880360" cy="274320"/>
          </a:xfrm>
          <a:prstGeom prst="rect">
            <a:avLst/>
          </a:prstGeom>
          <a:noFill/>
          <a:ln/>
        </p:spPr>
        <p:txBody>
          <a:bodyPr wrap="square" lIns="0" tIns="0" rIns="0" bIns="0" rtlCol="0" anchor="t"/>
          <a:lstStyle/>
          <a:p>
            <a:pPr indent="0" marL="0">
              <a:buNone/>
            </a:pPr>
            <a:r>
              <a:rPr lang="es-AR" altLang="en-US" sz="1200" b="1" dirty="0">
                <a:solidFill>
                  <a:schemeClr val="accent3"/>
                </a:solidFill>
              </a:rPr>
              <a:t>Quién hace el trabajo</a:t>
            </a:r>
            <a:endParaRPr lang="es-AR" sz="1200" dirty="0"/>
          </a:p>
        </p:txBody>
      </p:sp>
      <p:sp>
        <p:nvSpPr>
          <p:cNvPr id="26" name="Text 20"/>
          <p:cNvSpPr txBox="1"/>
          <p:nvPr/>
        </p:nvSpPr>
        <p:spPr>
          <a:xfrm>
            <a:off x="8366760" y="4041648"/>
            <a:ext cx="2880360" cy="548640"/>
          </a:xfrm>
          <a:prstGeom prst="rect">
            <a:avLst/>
          </a:prstGeom>
          <a:noFill/>
          <a:ln/>
        </p:spPr>
        <p:txBody>
          <a:bodyPr wrap="square" lIns="0" tIns="0" rIns="0" bIns="0" rtlCol="0" anchor="t"/>
          <a:lstStyle/>
          <a:p>
            <a:pPr indent="0" marL="0">
              <a:buNone/>
            </a:pPr>
            <a:r>
              <a:rPr lang="es-AR" altLang="en-US" sz="1500" b="1" dirty="0">
                <a:solidFill>
                  <a:schemeClr val="accent2"/>
                </a:solidFill>
              </a:rPr>
              <a:t>La persona define qué hacer y controla el resultado</a:t>
            </a:r>
            <a:endParaRPr lang="es-AR" sz="1500" dirty="0"/>
          </a:p>
        </p:txBody>
      </p:sp>
      <p:sp>
        <p:nvSpPr>
          <p:cNvPr id="27" name="Text 21"/>
          <p:cNvSpPr txBox="1"/>
          <p:nvPr/>
        </p:nvSpPr>
        <p:spPr>
          <a:xfrm>
            <a:off x="8366760" y="4709160"/>
            <a:ext cx="2880360" cy="685800"/>
          </a:xfrm>
          <a:prstGeom prst="rect">
            <a:avLst/>
          </a:prstGeom>
          <a:noFill/>
          <a:ln/>
        </p:spPr>
        <p:txBody>
          <a:bodyPr wrap="square" lIns="0" tIns="0" rIns="0" bIns="0" rtlCol="0" anchor="t"/>
          <a:lstStyle/>
          <a:p>
            <a:pPr indent="0" marL="0">
              <a:buNone/>
            </a:pPr>
            <a:r>
              <a:rPr lang="es-AR" altLang="en-US" sz="1300" i="1" dirty="0">
                <a:solidFill>
                  <a:schemeClr val="accent3"/>
                </a:solidFill>
              </a:rPr>
              <a:t>Ejemplos: Antigravity, Claude Code, modo agente de Copilot y Cursor</a:t>
            </a:r>
            <a:endParaRPr lang="es-AR" sz="1300" dirty="0"/>
          </a:p>
        </p:txBody>
      </p:sp>
      <p:sp>
        <p:nvSpPr>
          <p:cNvPr id="28" name="flecha-autonomia"/>
          <p:cNvSpPr/>
          <p:nvPr/>
        </p:nvSpPr>
        <p:spPr>
          <a:xfrm>
            <a:off x="548640" y="5852160"/>
            <a:ext cx="11064240" cy="0"/>
          </a:xfrm>
          <a:prstGeom prst="line">
            <a:avLst/>
          </a:prstGeom>
          <a:noFill/>
          <a:ln w="25400">
            <a:solidFill>
              <a:srgbClr val="F4A259"/>
            </a:solidFill>
            <a:prstDash val="solid"/>
            <a:tailEnd type="triangle"/>
          </a:ln>
        </p:spPr>
      </p:sp>
      <p:sp>
        <p:nvSpPr>
          <p:cNvPr id="29" name="Text 23"/>
          <p:cNvSpPr txBox="1"/>
          <p:nvPr/>
        </p:nvSpPr>
        <p:spPr>
          <a:xfrm>
            <a:off x="548640" y="5943600"/>
            <a:ext cx="11064240" cy="320040"/>
          </a:xfrm>
          <a:prstGeom prst="rect">
            <a:avLst/>
          </a:prstGeom>
          <a:noFill/>
          <a:ln/>
        </p:spPr>
        <p:txBody>
          <a:bodyPr wrap="square" lIns="0" tIns="0" rIns="0" bIns="0" rtlCol="0" anchor="t"/>
          <a:lstStyle/>
          <a:p>
            <a:pPr algn="ctr" indent="0" marL="0">
              <a:buNone/>
            </a:pPr>
            <a:r>
              <a:rPr lang="es-AR" altLang="en-US" sz="1300" b="1" dirty="0">
                <a:solidFill>
                  <a:schemeClr val="accent3"/>
                </a:solidFill>
              </a:rPr>
              <a:t>Más autonomía: la persona pasa de hacer a dirigir y revisar</a:t>
            </a:r>
            <a:endParaRPr lang="es-AR" sz="13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Antigravity frente a otros agentes</a:t>
            </a:r>
            <a:endParaRPr lang="es-AR" sz="3200" dirty="0"/>
          </a:p>
        </p:txBody>
      </p:sp>
      <p:graphicFrame>
        <p:nvGraphicFramePr>
          <p:cNvPr id="8" name="tabla-agentes"/>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920240"/>
                <a:gridCol w="2286000"/>
                <a:gridCol w="2286000"/>
                <a:gridCol w="2286000"/>
                <a:gridCol w="2286000"/>
              </a:tblGrid>
              <a:tr h="384048">
                <a:tc>
                  <a:txBody>
                    <a:bodyPr/>
                    <a:lstStyle/>
                    <a:p>
                      <a:pPr indent="0" marL="0">
                        <a:buNone/>
                      </a:pPr>
                      <a:endParaRPr lang="en-US" sz="15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Antigravity</a:t>
                      </a:r>
                      <a:endParaRPr lang="en-US" sz="15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GitHub Copilot</a:t>
                      </a:r>
                      <a:endParaRPr lang="en-US" sz="15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Cursor</a:t>
                      </a:r>
                      <a:endParaRPr lang="en-US" sz="15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Claude Code</a:t>
                      </a:r>
                      <a:endParaRPr lang="en-US" sz="15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r>
              <a:tr h="585216">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¿Qué es?</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Editor de Google pensado para agentes</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Asistente que se suma a VS Code y GitHub</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Editor con IA, parecido a VS Code</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Agente que trabaja desde la terminal</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¿Usa la web solo?</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Sí: trae su propio navegador</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Con MCP</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Con MCP</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Con MCP o Playwright</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585216">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¿Qué deja para revisar?</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Plan de trabajo, capturas y videos</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Cambios en el código</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Cambios en el código</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Comandos, resultados y commits</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585216">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Ideal para</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Explorar la web y crear tests con evidencia</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Escribir código en el día a día</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Cambios grandes en el código</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Tareas largas: servidores, escritorio, CI</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585216">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En el workshop</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Tests de ANPR y comparación</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No lo usamos</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accent3"/>
                          </a:solidFill>
                          <a:latin typeface="Calibri" pitchFamily="34" charset="0"/>
                          <a:ea typeface="Calibri" pitchFamily="34" charset="-122"/>
                          <a:cs typeface="Calibri" pitchFamily="34" charset="-120"/>
                        </a:rPr>
                        <a:t>No lo usamos</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Integraciones, Jenkins, Docker y Kubernetes</a:t>
                      </a:r>
                      <a:endParaRPr lang="en-US" sz="1400" dirty="0">
                        <a:latin typeface="Calibri" charset="0"/>
                        <a:ea typeface="Calibri" charset="0"/>
                        <a:cs typeface="Calibri" charset="0"/>
                      </a:endParaRPr>
                    </a:p>
                  </a:txBody>
                  <a:tcPr marL="109728" marR="109728"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bl>
          </a:graphicData>
        </a:graphic>
      </p:graphicFrame>
      <p:sp>
        <p:nvSpPr>
          <p:cNvPr id="5" name="tarjeta-mcp"/>
          <p:cNvSpPr/>
          <p:nvPr/>
        </p:nvSpPr>
        <p:spPr>
          <a:xfrm>
            <a:off x="548640" y="4864608"/>
            <a:ext cx="11064240" cy="1143000"/>
          </a:xfrm>
          <a:prstGeom prst="roundRect">
            <a:avLst>
              <a:gd name="adj" fmla="val 9600"/>
            </a:avLst>
          </a:prstGeom>
          <a:solidFill>
            <a:schemeClr val="tx2"/>
          </a:solidFill>
          <a:ln/>
          <a:effectLst>
            <a:outerShdw sx="100000" sy="100000" kx="0" ky="0" algn="bl" rotWithShape="0" blurRad="101600" dist="25400" dir="5400000">
              <a:srgbClr val="1B2430">
                <a:alpha val="12000"/>
              </a:srgbClr>
            </a:outerShdw>
          </a:effectLst>
        </p:spPr>
      </p:sp>
      <p:sp>
        <p:nvSpPr>
          <p:cNvPr id="6" name="circulo-mcp"/>
          <p:cNvSpPr/>
          <p:nvPr/>
        </p:nvSpPr>
        <p:spPr>
          <a:xfrm>
            <a:off x="868680" y="5047488"/>
            <a:ext cx="777240" cy="777240"/>
          </a:xfrm>
          <a:prstGeom prst="ellipse">
            <a:avLst/>
          </a:prstGeom>
          <a:solidFill>
            <a:schemeClr val="accent2"/>
          </a:solidFill>
          <a:ln/>
        </p:spPr>
      </p:sp>
      <p:pic>
        <p:nvPicPr>
          <p:cNvPr id="7" name="icono-mcp" descr="preencoded.png">    </p:cNvPr>
          <p:cNvPicPr>
            <a:picLocks noChangeAspect="1"/>
          </p:cNvPicPr>
          <p:nvPr/>
        </p:nvPicPr>
        <p:blipFill>
          <a:blip r:embed="rId1"/>
          <a:stretch>
            <a:fillRect/>
          </a:stretch>
        </p:blipFill>
        <p:spPr>
          <a:xfrm>
            <a:off x="1070762" y="5249570"/>
            <a:ext cx="373075" cy="373075"/>
          </a:xfrm>
          <a:prstGeom prst="rect">
            <a:avLst/>
          </a:prstGeom>
        </p:spPr>
      </p:pic>
      <p:sp>
        <p:nvSpPr>
          <p:cNvPr id="8" name="Text 3"/>
          <p:cNvSpPr txBox="1"/>
          <p:nvPr/>
        </p:nvSpPr>
        <p:spPr>
          <a:xfrm>
            <a:off x="1920240" y="4937760"/>
            <a:ext cx="9418320" cy="365760"/>
          </a:xfrm>
          <a:prstGeom prst="rect">
            <a:avLst/>
          </a:prstGeom>
          <a:noFill/>
          <a:ln/>
        </p:spPr>
        <p:txBody>
          <a:bodyPr wrap="square" lIns="0" tIns="0" rIns="0" bIns="0" rtlCol="0" anchor="t"/>
          <a:lstStyle/>
          <a:p>
            <a:pPr indent="0" marL="0">
              <a:buNone/>
            </a:pPr>
            <a:r>
              <a:rPr lang="es-AR" altLang="en-US" sz="1800" b="1" dirty="0">
                <a:solidFill>
                  <a:schemeClr val="bg1"/>
                </a:solidFill>
              </a:rPr>
              <a:t>¿Qué es MCP?</a:t>
            </a:r>
            <a:endParaRPr lang="es-AR" sz="1800" dirty="0"/>
          </a:p>
        </p:txBody>
      </p:sp>
      <p:sp>
        <p:nvSpPr>
          <p:cNvPr id="9" name="Text 4"/>
          <p:cNvSpPr txBox="1"/>
          <p:nvPr/>
        </p:nvSpPr>
        <p:spPr>
          <a:xfrm>
            <a:off x="1920240" y="5276088"/>
            <a:ext cx="9418320" cy="685800"/>
          </a:xfrm>
          <a:prstGeom prst="rect">
            <a:avLst/>
          </a:prstGeom>
          <a:noFill/>
          <a:ln/>
        </p:spPr>
        <p:txBody>
          <a:bodyPr wrap="square" lIns="0" tIns="0" rIns="0" bIns="0" rtlCol="0" anchor="t"/>
          <a:lstStyle/>
          <a:p>
            <a:pPr indent="0" marL="0">
              <a:buNone/>
            </a:pPr>
            <a:r>
              <a:rPr lang="es-AR" altLang="en-US" sz="1400" dirty="0">
                <a:solidFill>
                  <a:schemeClr val="bg2"/>
                </a:solidFill>
              </a:rPr>
              <a:t>Model Context Protocol: un estándar abierto que funciona como un puente entre el agente de IA y nuestras cosas (archivos, base de datos, navegador, GitHub o Jira). Le suma al agente capacidades que no trae de fábrica.</a:t>
            </a:r>
            <a:endParaRPr lang="es-AR" sz="1400" dirty="0"/>
          </a:p>
        </p:txBody>
      </p:sp>
      <p:sp>
        <p:nvSpPr>
          <p:cNvPr id="10" name="Text 5"/>
          <p:cNvSpPr txBox="1"/>
          <p:nvPr/>
        </p:nvSpPr>
        <p:spPr>
          <a:xfrm>
            <a:off x="548640" y="6080760"/>
            <a:ext cx="7315200" cy="228600"/>
          </a:xfrm>
          <a:prstGeom prst="rect">
            <a:avLst/>
          </a:prstGeom>
          <a:noFill/>
          <a:ln/>
        </p:spPr>
        <p:txBody>
          <a:bodyPr wrap="square" lIns="0" tIns="0" rIns="0" bIns="0" rtlCol="0" anchor="t"/>
          <a:lstStyle/>
          <a:p>
            <a:pPr indent="0" marL="0">
              <a:buNone/>
            </a:pPr>
            <a:r>
              <a:rPr lang="es-AR" altLang="en-US" sz="1000" i="1" dirty="0">
                <a:solidFill>
                  <a:schemeClr val="accent3"/>
                </a:solidFill>
              </a:rPr>
              <a:t>Capacidades a octubre de 2026: cambian con cada versión</a:t>
            </a:r>
            <a:endParaRPr lang="es-AR" sz="10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¿Por qué elegimos Antigravity para el workshop?</a:t>
            </a:r>
            <a:endParaRPr lang="es-AR" sz="3200" dirty="0"/>
          </a:p>
        </p:txBody>
      </p:sp>
      <p:sp>
        <p:nvSpPr>
          <p:cNvPr id="4" name="Text 1"/>
          <p:cNvSpPr txBox="1"/>
          <p:nvPr/>
        </p:nvSpPr>
        <p:spPr>
          <a:xfrm>
            <a:off x="548640" y="1188720"/>
            <a:ext cx="11064240" cy="411480"/>
          </a:xfrm>
          <a:prstGeom prst="rect">
            <a:avLst/>
          </a:prstGeom>
          <a:noFill/>
          <a:ln/>
        </p:spPr>
        <p:txBody>
          <a:bodyPr wrap="square" lIns="0" tIns="0" rIns="0" bIns="0" rtlCol="0" anchor="t"/>
          <a:lstStyle/>
          <a:p>
            <a:pPr indent="0" marL="0">
              <a:buNone/>
            </a:pPr>
            <a:r>
              <a:rPr lang="es-AR" altLang="en-US" sz="1700" i="1" dirty="0">
                <a:solidFill>
                  <a:schemeClr val="accent1"/>
                </a:solidFill>
              </a:rPr>
              <a:t>Porque está pensado para lo que hace un tester: probar la aplicación y mostrar la evidencia</a:t>
            </a:r>
            <a:endParaRPr lang="es-AR" sz="1700" dirty="0"/>
          </a:p>
        </p:txBody>
      </p:sp>
      <p:sp>
        <p:nvSpPr>
          <p:cNvPr id="5" name="tarjeta-motivo-0"/>
          <p:cNvSpPr/>
          <p:nvPr/>
        </p:nvSpPr>
        <p:spPr>
          <a:xfrm>
            <a:off x="548640" y="1828800"/>
            <a:ext cx="5303520" cy="1508760"/>
          </a:xfrm>
          <a:prstGeom prst="roundRect">
            <a:avLst>
              <a:gd name="adj" fmla="val 7273"/>
            </a:avLst>
          </a:prstGeom>
          <a:solidFill>
            <a:schemeClr val="bg2"/>
          </a:solidFill>
          <a:ln/>
          <a:effectLst>
            <a:outerShdw sx="100000" sy="100000" kx="0" ky="0" algn="bl" rotWithShape="0" blurRad="101600" dist="25400" dir="5400000">
              <a:srgbClr val="1B2430">
                <a:alpha val="12000"/>
              </a:srgbClr>
            </a:outerShdw>
          </a:effectLst>
        </p:spPr>
      </p:sp>
      <p:sp>
        <p:nvSpPr>
          <p:cNvPr id="6" name="circulo-motivo-0"/>
          <p:cNvSpPr/>
          <p:nvPr/>
        </p:nvSpPr>
        <p:spPr>
          <a:xfrm>
            <a:off x="822960" y="2176272"/>
            <a:ext cx="822960" cy="822960"/>
          </a:xfrm>
          <a:prstGeom prst="ellipse">
            <a:avLst/>
          </a:prstGeom>
          <a:solidFill>
            <a:schemeClr val="accent1"/>
          </a:solidFill>
          <a:ln/>
        </p:spPr>
      </p:sp>
      <p:pic>
        <p:nvPicPr>
          <p:cNvPr id="7" name="icono-motivo-0" descr="preencoded.png">    </p:cNvPr>
          <p:cNvPicPr>
            <a:picLocks noChangeAspect="1"/>
          </p:cNvPicPr>
          <p:nvPr/>
        </p:nvPicPr>
        <p:blipFill>
          <a:blip r:embed="rId1"/>
          <a:stretch>
            <a:fillRect/>
          </a:stretch>
        </p:blipFill>
        <p:spPr>
          <a:xfrm>
            <a:off x="1036930" y="2390242"/>
            <a:ext cx="395021" cy="395021"/>
          </a:xfrm>
          <a:prstGeom prst="rect">
            <a:avLst/>
          </a:prstGeom>
        </p:spPr>
      </p:pic>
      <p:sp>
        <p:nvSpPr>
          <p:cNvPr id="8" name="Text 4"/>
          <p:cNvSpPr txBox="1"/>
          <p:nvPr/>
        </p:nvSpPr>
        <p:spPr>
          <a:xfrm>
            <a:off x="1874520" y="2057400"/>
            <a:ext cx="3749040" cy="411480"/>
          </a:xfrm>
          <a:prstGeom prst="rect">
            <a:avLst/>
          </a:prstGeom>
          <a:noFill/>
          <a:ln/>
        </p:spPr>
        <p:txBody>
          <a:bodyPr wrap="square" lIns="0" tIns="0" rIns="0" bIns="0" rtlCol="0" anchor="t"/>
          <a:lstStyle/>
          <a:p>
            <a:pPr indent="0" marL="0">
              <a:buNone/>
            </a:pPr>
            <a:r>
              <a:rPr lang="es-AR" altLang="en-US" sz="1700" b="1" dirty="0">
                <a:solidFill>
                  <a:schemeClr val="tx1"/>
                </a:solidFill>
              </a:rPr>
              <a:t>Usa la aplicación como un usuario</a:t>
            </a:r>
            <a:endParaRPr lang="es-AR" sz="1700" dirty="0"/>
          </a:p>
        </p:txBody>
      </p:sp>
      <p:sp>
        <p:nvSpPr>
          <p:cNvPr id="9" name="Text 5"/>
          <p:cNvSpPr txBox="1"/>
          <p:nvPr/>
        </p:nvSpPr>
        <p:spPr>
          <a:xfrm>
            <a:off x="1874520" y="2487168"/>
            <a:ext cx="3749040" cy="777240"/>
          </a:xfrm>
          <a:prstGeom prst="rect">
            <a:avLst/>
          </a:prstGeom>
          <a:noFill/>
          <a:ln/>
        </p:spPr>
        <p:txBody>
          <a:bodyPr wrap="square" lIns="0" tIns="0" rIns="0" bIns="0" rtlCol="0" anchor="t"/>
          <a:lstStyle/>
          <a:p>
            <a:pPr indent="0" marL="0">
              <a:buNone/>
            </a:pPr>
            <a:r>
              <a:rPr lang="es-AR" altLang="en-US" sz="1400" dirty="0">
                <a:solidFill>
                  <a:schemeClr val="accent3"/>
                </a:solidFill>
              </a:rPr>
              <a:t>Trae su propio navegador: entra a ANPR, encuentra los campos y botones y prueba el caso</a:t>
            </a:r>
            <a:endParaRPr lang="es-AR" sz="1400" dirty="0"/>
          </a:p>
        </p:txBody>
      </p:sp>
      <p:sp>
        <p:nvSpPr>
          <p:cNvPr id="10" name="tarjeta-motivo-1"/>
          <p:cNvSpPr/>
          <p:nvPr/>
        </p:nvSpPr>
        <p:spPr>
          <a:xfrm>
            <a:off x="6217920" y="1828800"/>
            <a:ext cx="5303520" cy="1508760"/>
          </a:xfrm>
          <a:prstGeom prst="roundRect">
            <a:avLst>
              <a:gd name="adj" fmla="val 7273"/>
            </a:avLst>
          </a:prstGeom>
          <a:solidFill>
            <a:schemeClr val="bg2"/>
          </a:solidFill>
          <a:ln/>
          <a:effectLst>
            <a:outerShdw sx="100000" sy="100000" kx="0" ky="0" algn="bl" rotWithShape="0" blurRad="101600" dist="25400" dir="5400000">
              <a:srgbClr val="1B2430">
                <a:alpha val="12000"/>
              </a:srgbClr>
            </a:outerShdw>
          </a:effectLst>
        </p:spPr>
      </p:sp>
      <p:sp>
        <p:nvSpPr>
          <p:cNvPr id="11" name="circulo-motivo-1"/>
          <p:cNvSpPr/>
          <p:nvPr/>
        </p:nvSpPr>
        <p:spPr>
          <a:xfrm>
            <a:off x="6492240" y="2176272"/>
            <a:ext cx="822960" cy="822960"/>
          </a:xfrm>
          <a:prstGeom prst="ellipse">
            <a:avLst/>
          </a:prstGeom>
          <a:solidFill>
            <a:schemeClr val="accent2"/>
          </a:solidFill>
          <a:ln/>
        </p:spPr>
      </p:sp>
      <p:pic>
        <p:nvPicPr>
          <p:cNvPr id="12" name="icono-motivo-1" descr="preencoded.png">    </p:cNvPr>
          <p:cNvPicPr>
            <a:picLocks noChangeAspect="1"/>
          </p:cNvPicPr>
          <p:nvPr/>
        </p:nvPicPr>
        <p:blipFill>
          <a:blip r:embed="rId2"/>
          <a:stretch>
            <a:fillRect/>
          </a:stretch>
        </p:blipFill>
        <p:spPr>
          <a:xfrm>
            <a:off x="6706210" y="2390242"/>
            <a:ext cx="395021" cy="395021"/>
          </a:xfrm>
          <a:prstGeom prst="rect">
            <a:avLst/>
          </a:prstGeom>
        </p:spPr>
      </p:pic>
      <p:sp>
        <p:nvSpPr>
          <p:cNvPr id="13" name="Text 8"/>
          <p:cNvSpPr txBox="1"/>
          <p:nvPr/>
        </p:nvSpPr>
        <p:spPr>
          <a:xfrm>
            <a:off x="7543800" y="2057400"/>
            <a:ext cx="3749040" cy="411480"/>
          </a:xfrm>
          <a:prstGeom prst="rect">
            <a:avLst/>
          </a:prstGeom>
          <a:noFill/>
          <a:ln/>
        </p:spPr>
        <p:txBody>
          <a:bodyPr wrap="square" lIns="0" tIns="0" rIns="0" bIns="0" rtlCol="0" anchor="t"/>
          <a:lstStyle/>
          <a:p>
            <a:pPr indent="0" marL="0">
              <a:buNone/>
            </a:pPr>
            <a:r>
              <a:rPr lang="es-AR" altLang="en-US" sz="1700" b="1" dirty="0">
                <a:solidFill>
                  <a:schemeClr val="tx1"/>
                </a:solidFill>
              </a:rPr>
              <a:t>Deja evidencia para revisar</a:t>
            </a:r>
            <a:endParaRPr lang="es-AR" sz="1700" dirty="0"/>
          </a:p>
        </p:txBody>
      </p:sp>
      <p:sp>
        <p:nvSpPr>
          <p:cNvPr id="14" name="Text 9"/>
          <p:cNvSpPr txBox="1"/>
          <p:nvPr/>
        </p:nvSpPr>
        <p:spPr>
          <a:xfrm>
            <a:off x="7543800" y="2487168"/>
            <a:ext cx="3749040" cy="777240"/>
          </a:xfrm>
          <a:prstGeom prst="rect">
            <a:avLst/>
          </a:prstGeom>
          <a:noFill/>
          <a:ln/>
        </p:spPr>
        <p:txBody>
          <a:bodyPr wrap="square" lIns="0" tIns="0" rIns="0" bIns="0" rtlCol="0" anchor="t"/>
          <a:lstStyle/>
          <a:p>
            <a:pPr indent="0" marL="0">
              <a:buNone/>
            </a:pPr>
            <a:r>
              <a:rPr lang="es-AR" altLang="en-US" sz="1400" dirty="0">
                <a:solidFill>
                  <a:schemeClr val="accent3"/>
                </a:solidFill>
              </a:rPr>
              <a:t>Capturas y grabaciones de lo que hizo: el tester revisa con lo mismo que usa siempre</a:t>
            </a:r>
            <a:endParaRPr lang="es-AR" sz="1400" dirty="0"/>
          </a:p>
        </p:txBody>
      </p:sp>
      <p:sp>
        <p:nvSpPr>
          <p:cNvPr id="15" name="tarjeta-motivo-2"/>
          <p:cNvSpPr/>
          <p:nvPr/>
        </p:nvSpPr>
        <p:spPr>
          <a:xfrm>
            <a:off x="548640" y="3566160"/>
            <a:ext cx="5303520" cy="1508760"/>
          </a:xfrm>
          <a:prstGeom prst="roundRect">
            <a:avLst>
              <a:gd name="adj" fmla="val 7273"/>
            </a:avLst>
          </a:prstGeom>
          <a:solidFill>
            <a:schemeClr val="bg2"/>
          </a:solidFill>
          <a:ln/>
          <a:effectLst>
            <a:outerShdw sx="100000" sy="100000" kx="0" ky="0" algn="bl" rotWithShape="0" blurRad="101600" dist="25400" dir="5400000">
              <a:srgbClr val="1B2430">
                <a:alpha val="12000"/>
              </a:srgbClr>
            </a:outerShdw>
          </a:effectLst>
        </p:spPr>
      </p:sp>
      <p:sp>
        <p:nvSpPr>
          <p:cNvPr id="16" name="circulo-motivo-2"/>
          <p:cNvSpPr/>
          <p:nvPr/>
        </p:nvSpPr>
        <p:spPr>
          <a:xfrm>
            <a:off x="822960" y="3913632"/>
            <a:ext cx="822960" cy="822960"/>
          </a:xfrm>
          <a:prstGeom prst="ellipse">
            <a:avLst/>
          </a:prstGeom>
          <a:solidFill>
            <a:schemeClr val="accent2"/>
          </a:solidFill>
          <a:ln/>
        </p:spPr>
      </p:sp>
      <p:pic>
        <p:nvPicPr>
          <p:cNvPr id="17" name="icono-motivo-2" descr="preencoded.png">    </p:cNvPr>
          <p:cNvPicPr>
            <a:picLocks noChangeAspect="1"/>
          </p:cNvPicPr>
          <p:nvPr/>
        </p:nvPicPr>
        <p:blipFill>
          <a:blip r:embed="rId3"/>
          <a:stretch>
            <a:fillRect/>
          </a:stretch>
        </p:blipFill>
        <p:spPr>
          <a:xfrm>
            <a:off x="1036930" y="4127602"/>
            <a:ext cx="395021" cy="395021"/>
          </a:xfrm>
          <a:prstGeom prst="rect">
            <a:avLst/>
          </a:prstGeom>
        </p:spPr>
      </p:pic>
      <p:sp>
        <p:nvSpPr>
          <p:cNvPr id="18" name="Text 12"/>
          <p:cNvSpPr txBox="1"/>
          <p:nvPr/>
        </p:nvSpPr>
        <p:spPr>
          <a:xfrm>
            <a:off x="1874520" y="3794760"/>
            <a:ext cx="3749040" cy="411480"/>
          </a:xfrm>
          <a:prstGeom prst="rect">
            <a:avLst/>
          </a:prstGeom>
          <a:noFill/>
          <a:ln/>
        </p:spPr>
        <p:txBody>
          <a:bodyPr wrap="square" lIns="0" tIns="0" rIns="0" bIns="0" rtlCol="0" anchor="t"/>
          <a:lstStyle/>
          <a:p>
            <a:pPr indent="0" marL="0">
              <a:buNone/>
            </a:pPr>
            <a:r>
              <a:rPr lang="es-AR" altLang="en-US" sz="1700" b="1" dirty="0">
                <a:solidFill>
                  <a:schemeClr val="tx1"/>
                </a:solidFill>
              </a:rPr>
              <a:t>Muestra su plan antes de actuar</a:t>
            </a:r>
            <a:endParaRPr lang="es-AR" sz="1700" dirty="0"/>
          </a:p>
        </p:txBody>
      </p:sp>
      <p:sp>
        <p:nvSpPr>
          <p:cNvPr id="19" name="Text 13"/>
          <p:cNvSpPr txBox="1"/>
          <p:nvPr/>
        </p:nvSpPr>
        <p:spPr>
          <a:xfrm>
            <a:off x="1874520" y="4224528"/>
            <a:ext cx="3749040" cy="777240"/>
          </a:xfrm>
          <a:prstGeom prst="rect">
            <a:avLst/>
          </a:prstGeom>
          <a:noFill/>
          <a:ln/>
        </p:spPr>
        <p:txBody>
          <a:bodyPr wrap="square" lIns="0" tIns="0" rIns="0" bIns="0" rtlCol="0" anchor="t"/>
          <a:lstStyle/>
          <a:p>
            <a:pPr indent="0" marL="0">
              <a:buNone/>
            </a:pPr>
            <a:r>
              <a:rPr lang="es-AR" altLang="en-US" sz="1400" dirty="0">
                <a:solidFill>
                  <a:schemeClr val="accent3"/>
                </a:solidFill>
              </a:rPr>
              <a:t>Se ve qué va a hacer y se puede corregir antes de que escriba el test</a:t>
            </a:r>
            <a:endParaRPr lang="es-AR" sz="1400" dirty="0"/>
          </a:p>
        </p:txBody>
      </p:sp>
      <p:sp>
        <p:nvSpPr>
          <p:cNvPr id="20" name="tarjeta-motivo-3"/>
          <p:cNvSpPr/>
          <p:nvPr/>
        </p:nvSpPr>
        <p:spPr>
          <a:xfrm>
            <a:off x="6217920" y="3566160"/>
            <a:ext cx="5303520" cy="1508760"/>
          </a:xfrm>
          <a:prstGeom prst="roundRect">
            <a:avLst>
              <a:gd name="adj" fmla="val 7273"/>
            </a:avLst>
          </a:prstGeom>
          <a:solidFill>
            <a:schemeClr val="bg2"/>
          </a:solidFill>
          <a:ln/>
          <a:effectLst>
            <a:outerShdw sx="100000" sy="100000" kx="0" ky="0" algn="bl" rotWithShape="0" blurRad="101600" dist="25400" dir="5400000">
              <a:srgbClr val="1B2430">
                <a:alpha val="12000"/>
              </a:srgbClr>
            </a:outerShdw>
          </a:effectLst>
        </p:spPr>
      </p:sp>
      <p:sp>
        <p:nvSpPr>
          <p:cNvPr id="21" name="circulo-motivo-3"/>
          <p:cNvSpPr/>
          <p:nvPr/>
        </p:nvSpPr>
        <p:spPr>
          <a:xfrm>
            <a:off x="6492240" y="3913632"/>
            <a:ext cx="822960" cy="822960"/>
          </a:xfrm>
          <a:prstGeom prst="ellipse">
            <a:avLst/>
          </a:prstGeom>
          <a:solidFill>
            <a:schemeClr val="accent1"/>
          </a:solidFill>
          <a:ln/>
        </p:spPr>
      </p:sp>
      <p:pic>
        <p:nvPicPr>
          <p:cNvPr id="22" name="icono-motivo-3" descr="preencoded.png">    </p:cNvPr>
          <p:cNvPicPr>
            <a:picLocks noChangeAspect="1"/>
          </p:cNvPicPr>
          <p:nvPr/>
        </p:nvPicPr>
        <p:blipFill>
          <a:blip r:embed="rId4"/>
          <a:stretch>
            <a:fillRect/>
          </a:stretch>
        </p:blipFill>
        <p:spPr>
          <a:xfrm>
            <a:off x="6706210" y="4127602"/>
            <a:ext cx="395021" cy="395021"/>
          </a:xfrm>
          <a:prstGeom prst="rect">
            <a:avLst/>
          </a:prstGeom>
        </p:spPr>
      </p:pic>
      <p:sp>
        <p:nvSpPr>
          <p:cNvPr id="23" name="Text 16"/>
          <p:cNvSpPr txBox="1"/>
          <p:nvPr/>
        </p:nvSpPr>
        <p:spPr>
          <a:xfrm>
            <a:off x="7543800" y="3794760"/>
            <a:ext cx="3749040" cy="411480"/>
          </a:xfrm>
          <a:prstGeom prst="rect">
            <a:avLst/>
          </a:prstGeom>
          <a:noFill/>
          <a:ln/>
        </p:spPr>
        <p:txBody>
          <a:bodyPr wrap="square" lIns="0" tIns="0" rIns="0" bIns="0" rtlCol="0" anchor="t"/>
          <a:lstStyle/>
          <a:p>
            <a:pPr indent="0" marL="0">
              <a:buNone/>
            </a:pPr>
            <a:r>
              <a:rPr lang="es-AR" altLang="en-US" sz="1700" b="1" dirty="0">
                <a:solidFill>
                  <a:schemeClr val="tx1"/>
                </a:solidFill>
              </a:rPr>
              <a:t>Se le pide en español</a:t>
            </a:r>
            <a:endParaRPr lang="es-AR" sz="1700" dirty="0"/>
          </a:p>
        </p:txBody>
      </p:sp>
      <p:sp>
        <p:nvSpPr>
          <p:cNvPr id="24" name="Text 17"/>
          <p:cNvSpPr txBox="1"/>
          <p:nvPr/>
        </p:nvSpPr>
        <p:spPr>
          <a:xfrm>
            <a:off x="7543800" y="4224528"/>
            <a:ext cx="3749040" cy="777240"/>
          </a:xfrm>
          <a:prstGeom prst="rect">
            <a:avLst/>
          </a:prstGeom>
          <a:noFill/>
          <a:ln/>
        </p:spPr>
        <p:txBody>
          <a:bodyPr wrap="square" lIns="0" tIns="0" rIns="0" bIns="0" rtlCol="0" anchor="t"/>
          <a:lstStyle/>
          <a:p>
            <a:pPr indent="0" marL="0">
              <a:buNone/>
            </a:pPr>
            <a:r>
              <a:rPr lang="es-AR" altLang="en-US" sz="1400" dirty="0">
                <a:solidFill>
                  <a:schemeClr val="accent3"/>
                </a:solidFill>
              </a:rPr>
              <a:t>El tester describe el caso con la plantilla de requerimiento; no hace falta ser programador</a:t>
            </a:r>
            <a:endParaRPr lang="es-AR" sz="1400" dirty="0"/>
          </a:p>
        </p:txBody>
      </p:sp>
      <p:sp>
        <p:nvSpPr>
          <p:cNvPr id="25" name="tarjeta-motivo-complemento"/>
          <p:cNvSpPr/>
          <p:nvPr/>
        </p:nvSpPr>
        <p:spPr>
          <a:xfrm>
            <a:off x="548640" y="5349240"/>
            <a:ext cx="11064240" cy="777240"/>
          </a:xfrm>
          <a:prstGeom prst="roundRect">
            <a:avLst>
              <a:gd name="adj" fmla="val 14118"/>
            </a:avLst>
          </a:prstGeom>
          <a:solidFill>
            <a:schemeClr val="tx2"/>
          </a:solidFill>
          <a:ln/>
          <a:effectLst>
            <a:outerShdw sx="100000" sy="100000" kx="0" ky="0" algn="bl" rotWithShape="0" blurRad="101600" dist="25400" dir="5400000">
              <a:srgbClr val="1B2430">
                <a:alpha val="12000"/>
              </a:srgbClr>
            </a:outerShdw>
          </a:effectLst>
        </p:spPr>
      </p:sp>
      <p:sp>
        <p:nvSpPr>
          <p:cNvPr id="26" name="Text 19"/>
          <p:cNvSpPr txBox="1"/>
          <p:nvPr/>
        </p:nvSpPr>
        <p:spPr>
          <a:xfrm>
            <a:off x="822960" y="5349240"/>
            <a:ext cx="10607040" cy="777240"/>
          </a:xfrm>
          <a:prstGeom prst="rect">
            <a:avLst/>
          </a:prstGeom>
          <a:noFill/>
          <a:ln/>
        </p:spPr>
        <p:txBody>
          <a:bodyPr wrap="square" lIns="0" tIns="0" rIns="0" bIns="0" rtlCol="0" anchor="ctr"/>
          <a:lstStyle/>
          <a:p>
            <a:pPr indent="0" marL="0">
              <a:buNone/>
            </a:pPr>
            <a:r>
              <a:rPr lang="es-AR" altLang="en-US" sz="1500" b="1" dirty="0">
                <a:solidFill>
                  <a:schemeClr val="accent2"/>
                </a:solidFill>
              </a:rPr>
              <a:t>No es el único: </a:t>
            </a:r>
            <a:pPr indent="0" marL="0">
              <a:buNone/>
            </a:pPr>
            <a:r>
              <a:rPr lang="es-AR" altLang="en-US" sz="1500" dirty="0">
                <a:solidFill>
                  <a:schemeClr val="bg1"/>
                </a:solidFill>
              </a:rPr>
              <a:t>para servidores, el escritorio de VMS, Jenkins y contenedores lo complementamos con Claude Code, un agente de terminal</a:t>
            </a:r>
            <a:endParaRPr lang="es-AR" sz="15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Cómo trabajamos: el tester dirige, el agente implementa</a:t>
            </a:r>
            <a:endParaRPr lang="es-AR" sz="3200" dirty="0"/>
          </a:p>
        </p:txBody>
      </p:sp>
      <p:sp>
        <p:nvSpPr>
          <p:cNvPr id="4" name="circulo-flujo-0"/>
          <p:cNvSpPr/>
          <p:nvPr/>
        </p:nvSpPr>
        <p:spPr>
          <a:xfrm>
            <a:off x="960120" y="1737360"/>
            <a:ext cx="914400" cy="914400"/>
          </a:xfrm>
          <a:prstGeom prst="ellipse">
            <a:avLst/>
          </a:prstGeom>
          <a:solidFill>
            <a:schemeClr val="accent1"/>
          </a:solidFill>
          <a:ln/>
        </p:spPr>
      </p:sp>
      <p:pic>
        <p:nvPicPr>
          <p:cNvPr id="5" name="icono-flujo-0" descr="preencoded.png">    </p:cNvPr>
          <p:cNvPicPr>
            <a:picLocks noChangeAspect="1"/>
          </p:cNvPicPr>
          <p:nvPr/>
        </p:nvPicPr>
        <p:blipFill>
          <a:blip r:embed="rId1"/>
          <a:stretch>
            <a:fillRect/>
          </a:stretch>
        </p:blipFill>
        <p:spPr>
          <a:xfrm>
            <a:off x="1197864" y="1975104"/>
            <a:ext cx="438912" cy="438912"/>
          </a:xfrm>
          <a:prstGeom prst="rect">
            <a:avLst/>
          </a:prstGeom>
        </p:spPr>
      </p:pic>
      <p:sp>
        <p:nvSpPr>
          <p:cNvPr id="6" name="flecha-flujo-0"/>
          <p:cNvSpPr/>
          <p:nvPr/>
        </p:nvSpPr>
        <p:spPr>
          <a:xfrm>
            <a:off x="1965960" y="2194560"/>
            <a:ext cx="914400" cy="0"/>
          </a:xfrm>
          <a:prstGeom prst="line">
            <a:avLst/>
          </a:prstGeom>
          <a:noFill/>
          <a:ln w="19050">
            <a:solidFill>
              <a:srgbClr val="6B7C85"/>
            </a:solidFill>
            <a:prstDash val="solid"/>
            <a:tailEnd type="triangle"/>
          </a:ln>
        </p:spPr>
      </p:sp>
      <p:sp>
        <p:nvSpPr>
          <p:cNvPr id="7" name="Text 3"/>
          <p:cNvSpPr txBox="1"/>
          <p:nvPr/>
        </p:nvSpPr>
        <p:spPr>
          <a:xfrm>
            <a:off x="548640" y="2834640"/>
            <a:ext cx="1737360" cy="365760"/>
          </a:xfrm>
          <a:prstGeom prst="rect">
            <a:avLst/>
          </a:prstGeom>
          <a:noFill/>
          <a:ln/>
        </p:spPr>
        <p:txBody>
          <a:bodyPr wrap="square" lIns="0" tIns="0" rIns="0" bIns="0" rtlCol="0" anchor="t"/>
          <a:lstStyle/>
          <a:p>
            <a:pPr algn="ctr" indent="0" marL="0">
              <a:buNone/>
            </a:pPr>
            <a:r>
              <a:rPr lang="es-AR" altLang="en-US" sz="1600" b="1" dirty="0">
                <a:solidFill>
                  <a:schemeClr val="tx1"/>
                </a:solidFill>
              </a:rPr>
              <a:t>1. Diseño</a:t>
            </a:r>
            <a:endParaRPr lang="es-AR" sz="1600" dirty="0"/>
          </a:p>
        </p:txBody>
      </p:sp>
      <p:sp>
        <p:nvSpPr>
          <p:cNvPr id="8" name="Text 4"/>
          <p:cNvSpPr txBox="1"/>
          <p:nvPr/>
        </p:nvSpPr>
        <p:spPr>
          <a:xfrm>
            <a:off x="548640" y="3246120"/>
            <a:ext cx="1737360" cy="914400"/>
          </a:xfrm>
          <a:prstGeom prst="rect">
            <a:avLst/>
          </a:prstGeom>
          <a:noFill/>
          <a:ln/>
        </p:spPr>
        <p:txBody>
          <a:bodyPr wrap="square" lIns="0" tIns="0" rIns="0" bIns="0" rtlCol="0" anchor="t"/>
          <a:lstStyle/>
          <a:p>
            <a:pPr algn="ctr" indent="0" marL="0">
              <a:buNone/>
            </a:pPr>
            <a:r>
              <a:rPr lang="es-AR" altLang="en-US" sz="1400" dirty="0">
                <a:solidFill>
                  <a:schemeClr val="accent3"/>
                </a:solidFill>
              </a:rPr>
              <a:t>QA define el caso y el resultado esperado</a:t>
            </a:r>
            <a:endParaRPr lang="es-AR" sz="1400" dirty="0"/>
          </a:p>
        </p:txBody>
      </p:sp>
      <p:sp>
        <p:nvSpPr>
          <p:cNvPr id="9" name="circulo-flujo-1"/>
          <p:cNvSpPr/>
          <p:nvPr/>
        </p:nvSpPr>
        <p:spPr>
          <a:xfrm>
            <a:off x="2834640" y="1737360"/>
            <a:ext cx="914400" cy="914400"/>
          </a:xfrm>
          <a:prstGeom prst="ellipse">
            <a:avLst/>
          </a:prstGeom>
          <a:solidFill>
            <a:schemeClr val="accent1"/>
          </a:solidFill>
          <a:ln/>
        </p:spPr>
      </p:sp>
      <p:pic>
        <p:nvPicPr>
          <p:cNvPr id="10" name="icono-flujo-1" descr="preencoded.png">    </p:cNvPr>
          <p:cNvPicPr>
            <a:picLocks noChangeAspect="1"/>
          </p:cNvPicPr>
          <p:nvPr/>
        </p:nvPicPr>
        <p:blipFill>
          <a:blip r:embed="rId2"/>
          <a:stretch>
            <a:fillRect/>
          </a:stretch>
        </p:blipFill>
        <p:spPr>
          <a:xfrm>
            <a:off x="3072384" y="1975104"/>
            <a:ext cx="438912" cy="438912"/>
          </a:xfrm>
          <a:prstGeom prst="rect">
            <a:avLst/>
          </a:prstGeom>
        </p:spPr>
      </p:pic>
      <p:sp>
        <p:nvSpPr>
          <p:cNvPr id="11" name="flecha-flujo-1"/>
          <p:cNvSpPr/>
          <p:nvPr/>
        </p:nvSpPr>
        <p:spPr>
          <a:xfrm>
            <a:off x="3840480" y="2194560"/>
            <a:ext cx="914400" cy="0"/>
          </a:xfrm>
          <a:prstGeom prst="line">
            <a:avLst/>
          </a:prstGeom>
          <a:noFill/>
          <a:ln w="19050">
            <a:solidFill>
              <a:srgbClr val="6B7C85"/>
            </a:solidFill>
            <a:prstDash val="solid"/>
            <a:tailEnd type="triangle"/>
          </a:ln>
        </p:spPr>
      </p:sp>
      <p:sp>
        <p:nvSpPr>
          <p:cNvPr id="12" name="Text 7"/>
          <p:cNvSpPr txBox="1"/>
          <p:nvPr/>
        </p:nvSpPr>
        <p:spPr>
          <a:xfrm>
            <a:off x="2423160" y="2834640"/>
            <a:ext cx="1737360" cy="365760"/>
          </a:xfrm>
          <a:prstGeom prst="rect">
            <a:avLst/>
          </a:prstGeom>
          <a:noFill/>
          <a:ln/>
        </p:spPr>
        <p:txBody>
          <a:bodyPr wrap="square" lIns="0" tIns="0" rIns="0" bIns="0" rtlCol="0" anchor="t"/>
          <a:lstStyle/>
          <a:p>
            <a:pPr algn="ctr" indent="0" marL="0">
              <a:buNone/>
            </a:pPr>
            <a:r>
              <a:rPr lang="es-AR" altLang="en-US" sz="1600" b="1" dirty="0">
                <a:solidFill>
                  <a:schemeClr val="tx1"/>
                </a:solidFill>
              </a:rPr>
              <a:t>2. Registro</a:t>
            </a:r>
            <a:endParaRPr lang="es-AR" sz="1600" dirty="0"/>
          </a:p>
        </p:txBody>
      </p:sp>
      <p:sp>
        <p:nvSpPr>
          <p:cNvPr id="13" name="Text 8"/>
          <p:cNvSpPr txBox="1"/>
          <p:nvPr/>
        </p:nvSpPr>
        <p:spPr>
          <a:xfrm>
            <a:off x="2423160" y="3246120"/>
            <a:ext cx="1737360" cy="914400"/>
          </a:xfrm>
          <a:prstGeom prst="rect">
            <a:avLst/>
          </a:prstGeom>
          <a:noFill/>
          <a:ln/>
        </p:spPr>
        <p:txBody>
          <a:bodyPr wrap="square" lIns="0" tIns="0" rIns="0" bIns="0" rtlCol="0" anchor="t"/>
          <a:lstStyle/>
          <a:p>
            <a:pPr algn="ctr" indent="0" marL="0">
              <a:buNone/>
            </a:pPr>
            <a:r>
              <a:rPr lang="es-AR" altLang="en-US" sz="1400" dirty="0">
                <a:solidFill>
                  <a:schemeClr val="accent3"/>
                </a:solidFill>
              </a:rPr>
              <a:t>Alta en el tablero de GitHub (Todo)</a:t>
            </a:r>
            <a:endParaRPr lang="es-AR" sz="1400" dirty="0"/>
          </a:p>
        </p:txBody>
      </p:sp>
      <p:sp>
        <p:nvSpPr>
          <p:cNvPr id="14" name="circulo-flujo-2"/>
          <p:cNvSpPr/>
          <p:nvPr/>
        </p:nvSpPr>
        <p:spPr>
          <a:xfrm>
            <a:off x="4709160" y="1737360"/>
            <a:ext cx="914400" cy="914400"/>
          </a:xfrm>
          <a:prstGeom prst="ellipse">
            <a:avLst/>
          </a:prstGeom>
          <a:solidFill>
            <a:schemeClr val="accent1"/>
          </a:solidFill>
          <a:ln/>
        </p:spPr>
      </p:sp>
      <p:pic>
        <p:nvPicPr>
          <p:cNvPr id="15" name="icono-flujo-2" descr="preencoded.png">    </p:cNvPr>
          <p:cNvPicPr>
            <a:picLocks noChangeAspect="1"/>
          </p:cNvPicPr>
          <p:nvPr/>
        </p:nvPicPr>
        <p:blipFill>
          <a:blip r:embed="rId3"/>
          <a:stretch>
            <a:fillRect/>
          </a:stretch>
        </p:blipFill>
        <p:spPr>
          <a:xfrm>
            <a:off x="4946904" y="1975104"/>
            <a:ext cx="438912" cy="438912"/>
          </a:xfrm>
          <a:prstGeom prst="rect">
            <a:avLst/>
          </a:prstGeom>
        </p:spPr>
      </p:pic>
      <p:sp>
        <p:nvSpPr>
          <p:cNvPr id="16" name="flecha-flujo-2"/>
          <p:cNvSpPr/>
          <p:nvPr/>
        </p:nvSpPr>
        <p:spPr>
          <a:xfrm>
            <a:off x="5715000" y="2194560"/>
            <a:ext cx="914400" cy="0"/>
          </a:xfrm>
          <a:prstGeom prst="line">
            <a:avLst/>
          </a:prstGeom>
          <a:noFill/>
          <a:ln w="19050">
            <a:solidFill>
              <a:srgbClr val="6B7C85"/>
            </a:solidFill>
            <a:prstDash val="solid"/>
            <a:tailEnd type="triangle"/>
          </a:ln>
        </p:spPr>
      </p:sp>
      <p:sp>
        <p:nvSpPr>
          <p:cNvPr id="17" name="Text 11"/>
          <p:cNvSpPr txBox="1"/>
          <p:nvPr/>
        </p:nvSpPr>
        <p:spPr>
          <a:xfrm>
            <a:off x="4297680" y="2834640"/>
            <a:ext cx="1737360" cy="365760"/>
          </a:xfrm>
          <a:prstGeom prst="rect">
            <a:avLst/>
          </a:prstGeom>
          <a:noFill/>
          <a:ln/>
        </p:spPr>
        <p:txBody>
          <a:bodyPr wrap="square" lIns="0" tIns="0" rIns="0" bIns="0" rtlCol="0" anchor="t"/>
          <a:lstStyle/>
          <a:p>
            <a:pPr algn="ctr" indent="0" marL="0">
              <a:buNone/>
            </a:pPr>
            <a:r>
              <a:rPr lang="es-AR" altLang="en-US" sz="1600" b="1" dirty="0">
                <a:solidFill>
                  <a:schemeClr val="tx1"/>
                </a:solidFill>
              </a:rPr>
              <a:t>3. Pedido</a:t>
            </a:r>
            <a:endParaRPr lang="es-AR" sz="1600" dirty="0"/>
          </a:p>
        </p:txBody>
      </p:sp>
      <p:sp>
        <p:nvSpPr>
          <p:cNvPr id="18" name="Text 12"/>
          <p:cNvSpPr txBox="1"/>
          <p:nvPr/>
        </p:nvSpPr>
        <p:spPr>
          <a:xfrm>
            <a:off x="4297680" y="3246120"/>
            <a:ext cx="1737360" cy="914400"/>
          </a:xfrm>
          <a:prstGeom prst="rect">
            <a:avLst/>
          </a:prstGeom>
          <a:noFill/>
          <a:ln/>
        </p:spPr>
        <p:txBody>
          <a:bodyPr wrap="square" lIns="0" tIns="0" rIns="0" bIns="0" rtlCol="0" anchor="t"/>
          <a:lstStyle/>
          <a:p>
            <a:pPr algn="ctr" indent="0" marL="0">
              <a:buNone/>
            </a:pPr>
            <a:r>
              <a:rPr lang="es-AR" altLang="en-US" sz="1400" dirty="0">
                <a:solidFill>
                  <a:schemeClr val="accent3"/>
                </a:solidFill>
              </a:rPr>
              <a:t>Plantilla de requerimiento al agente</a:t>
            </a:r>
            <a:endParaRPr lang="es-AR" sz="1400" dirty="0"/>
          </a:p>
        </p:txBody>
      </p:sp>
      <p:sp>
        <p:nvSpPr>
          <p:cNvPr id="19" name="circulo-flujo-3"/>
          <p:cNvSpPr/>
          <p:nvPr/>
        </p:nvSpPr>
        <p:spPr>
          <a:xfrm>
            <a:off x="6583680" y="1737360"/>
            <a:ext cx="914400" cy="914400"/>
          </a:xfrm>
          <a:prstGeom prst="ellipse">
            <a:avLst/>
          </a:prstGeom>
          <a:solidFill>
            <a:schemeClr val="accent2"/>
          </a:solidFill>
          <a:ln/>
        </p:spPr>
      </p:sp>
      <p:pic>
        <p:nvPicPr>
          <p:cNvPr id="20" name="icono-flujo-3" descr="preencoded.png">    </p:cNvPr>
          <p:cNvPicPr>
            <a:picLocks noChangeAspect="1"/>
          </p:cNvPicPr>
          <p:nvPr/>
        </p:nvPicPr>
        <p:blipFill>
          <a:blip r:embed="rId4"/>
          <a:stretch>
            <a:fillRect/>
          </a:stretch>
        </p:blipFill>
        <p:spPr>
          <a:xfrm>
            <a:off x="6821424" y="1975104"/>
            <a:ext cx="438912" cy="438912"/>
          </a:xfrm>
          <a:prstGeom prst="rect">
            <a:avLst/>
          </a:prstGeom>
        </p:spPr>
      </p:pic>
      <p:sp>
        <p:nvSpPr>
          <p:cNvPr id="21" name="flecha-flujo-3"/>
          <p:cNvSpPr/>
          <p:nvPr/>
        </p:nvSpPr>
        <p:spPr>
          <a:xfrm>
            <a:off x="7589520" y="2194560"/>
            <a:ext cx="914400" cy="0"/>
          </a:xfrm>
          <a:prstGeom prst="line">
            <a:avLst/>
          </a:prstGeom>
          <a:noFill/>
          <a:ln w="19050">
            <a:solidFill>
              <a:srgbClr val="6B7C85"/>
            </a:solidFill>
            <a:prstDash val="solid"/>
            <a:tailEnd type="triangle"/>
          </a:ln>
        </p:spPr>
      </p:sp>
      <p:sp>
        <p:nvSpPr>
          <p:cNvPr id="22" name="Text 15"/>
          <p:cNvSpPr txBox="1"/>
          <p:nvPr/>
        </p:nvSpPr>
        <p:spPr>
          <a:xfrm>
            <a:off x="6172200" y="2834640"/>
            <a:ext cx="1737360" cy="365760"/>
          </a:xfrm>
          <a:prstGeom prst="rect">
            <a:avLst/>
          </a:prstGeom>
          <a:noFill/>
          <a:ln/>
        </p:spPr>
        <p:txBody>
          <a:bodyPr wrap="square" lIns="0" tIns="0" rIns="0" bIns="0" rtlCol="0" anchor="t"/>
          <a:lstStyle/>
          <a:p>
            <a:pPr algn="ctr" indent="0" marL="0">
              <a:buNone/>
            </a:pPr>
            <a:r>
              <a:rPr lang="es-AR" altLang="en-US" sz="1600" b="1" dirty="0">
                <a:solidFill>
                  <a:schemeClr val="tx1"/>
                </a:solidFill>
              </a:rPr>
              <a:t>4. Implementación</a:t>
            </a:r>
            <a:endParaRPr lang="es-AR" sz="1600" dirty="0"/>
          </a:p>
        </p:txBody>
      </p:sp>
      <p:sp>
        <p:nvSpPr>
          <p:cNvPr id="23" name="Text 16"/>
          <p:cNvSpPr txBox="1"/>
          <p:nvPr/>
        </p:nvSpPr>
        <p:spPr>
          <a:xfrm>
            <a:off x="6172200" y="3246120"/>
            <a:ext cx="1737360" cy="914400"/>
          </a:xfrm>
          <a:prstGeom prst="rect">
            <a:avLst/>
          </a:prstGeom>
          <a:noFill/>
          <a:ln/>
        </p:spPr>
        <p:txBody>
          <a:bodyPr wrap="square" lIns="0" tIns="0" rIns="0" bIns="0" rtlCol="0" anchor="t"/>
          <a:lstStyle/>
          <a:p>
            <a:pPr algn="ctr" indent="0" marL="0">
              <a:buNone/>
            </a:pPr>
            <a:r>
              <a:rPr lang="es-AR" altLang="en-US" sz="1400" dirty="0">
                <a:solidFill>
                  <a:schemeClr val="accent3"/>
                </a:solidFill>
              </a:rPr>
              <a:t>Antigravity o Claude Code explora, escribe y ejecuta</a:t>
            </a:r>
            <a:endParaRPr lang="es-AR" sz="1400" dirty="0"/>
          </a:p>
        </p:txBody>
      </p:sp>
      <p:sp>
        <p:nvSpPr>
          <p:cNvPr id="24" name="circulo-flujo-4"/>
          <p:cNvSpPr/>
          <p:nvPr/>
        </p:nvSpPr>
        <p:spPr>
          <a:xfrm>
            <a:off x="8458200" y="1737360"/>
            <a:ext cx="914400" cy="914400"/>
          </a:xfrm>
          <a:prstGeom prst="ellipse">
            <a:avLst/>
          </a:prstGeom>
          <a:solidFill>
            <a:schemeClr val="accent1"/>
          </a:solidFill>
          <a:ln/>
        </p:spPr>
      </p:sp>
      <p:pic>
        <p:nvPicPr>
          <p:cNvPr id="25" name="icono-flujo-4" descr="preencoded.png">    </p:cNvPr>
          <p:cNvPicPr>
            <a:picLocks noChangeAspect="1"/>
          </p:cNvPicPr>
          <p:nvPr/>
        </p:nvPicPr>
        <p:blipFill>
          <a:blip r:embed="rId5"/>
          <a:stretch>
            <a:fillRect/>
          </a:stretch>
        </p:blipFill>
        <p:spPr>
          <a:xfrm>
            <a:off x="8695944" y="1975104"/>
            <a:ext cx="438912" cy="438912"/>
          </a:xfrm>
          <a:prstGeom prst="rect">
            <a:avLst/>
          </a:prstGeom>
        </p:spPr>
      </p:pic>
      <p:sp>
        <p:nvSpPr>
          <p:cNvPr id="26" name="flecha-flujo-4"/>
          <p:cNvSpPr/>
          <p:nvPr/>
        </p:nvSpPr>
        <p:spPr>
          <a:xfrm>
            <a:off x="9464040" y="2194560"/>
            <a:ext cx="914400" cy="0"/>
          </a:xfrm>
          <a:prstGeom prst="line">
            <a:avLst/>
          </a:prstGeom>
          <a:noFill/>
          <a:ln w="19050">
            <a:solidFill>
              <a:srgbClr val="6B7C85"/>
            </a:solidFill>
            <a:prstDash val="solid"/>
            <a:tailEnd type="triangle"/>
          </a:ln>
        </p:spPr>
      </p:sp>
      <p:sp>
        <p:nvSpPr>
          <p:cNvPr id="27" name="Text 19"/>
          <p:cNvSpPr txBox="1"/>
          <p:nvPr/>
        </p:nvSpPr>
        <p:spPr>
          <a:xfrm>
            <a:off x="8046720" y="2834640"/>
            <a:ext cx="1737360" cy="365760"/>
          </a:xfrm>
          <a:prstGeom prst="rect">
            <a:avLst/>
          </a:prstGeom>
          <a:noFill/>
          <a:ln/>
        </p:spPr>
        <p:txBody>
          <a:bodyPr wrap="square" lIns="0" tIns="0" rIns="0" bIns="0" rtlCol="0" anchor="t"/>
          <a:lstStyle/>
          <a:p>
            <a:pPr algn="ctr" indent="0" marL="0">
              <a:buNone/>
            </a:pPr>
            <a:r>
              <a:rPr lang="es-AR" altLang="en-US" sz="1600" b="1" dirty="0">
                <a:solidFill>
                  <a:schemeClr val="tx1"/>
                </a:solidFill>
              </a:rPr>
              <a:t>5. Revisión</a:t>
            </a:r>
            <a:endParaRPr lang="es-AR" sz="1600" dirty="0"/>
          </a:p>
        </p:txBody>
      </p:sp>
      <p:sp>
        <p:nvSpPr>
          <p:cNvPr id="28" name="Text 20"/>
          <p:cNvSpPr txBox="1"/>
          <p:nvPr/>
        </p:nvSpPr>
        <p:spPr>
          <a:xfrm>
            <a:off x="8046720" y="3246120"/>
            <a:ext cx="1737360" cy="914400"/>
          </a:xfrm>
          <a:prstGeom prst="rect">
            <a:avLst/>
          </a:prstGeom>
          <a:noFill/>
          <a:ln/>
        </p:spPr>
        <p:txBody>
          <a:bodyPr wrap="square" lIns="0" tIns="0" rIns="0" bIns="0" rtlCol="0" anchor="t"/>
          <a:lstStyle/>
          <a:p>
            <a:pPr algn="ctr" indent="0" marL="0">
              <a:buNone/>
            </a:pPr>
            <a:r>
              <a:rPr lang="es-AR" altLang="en-US" sz="1400" dirty="0">
                <a:solidFill>
                  <a:schemeClr val="accent3"/>
                </a:solidFill>
              </a:rPr>
              <a:t>QA ejecuta y valida el resultado</a:t>
            </a:r>
            <a:endParaRPr lang="es-AR" sz="1400" dirty="0"/>
          </a:p>
        </p:txBody>
      </p:sp>
      <p:sp>
        <p:nvSpPr>
          <p:cNvPr id="29" name="circulo-flujo-5"/>
          <p:cNvSpPr/>
          <p:nvPr/>
        </p:nvSpPr>
        <p:spPr>
          <a:xfrm>
            <a:off x="10332720" y="1737360"/>
            <a:ext cx="914400" cy="914400"/>
          </a:xfrm>
          <a:prstGeom prst="ellipse">
            <a:avLst/>
          </a:prstGeom>
          <a:solidFill>
            <a:schemeClr val="accent1"/>
          </a:solidFill>
          <a:ln/>
        </p:spPr>
      </p:sp>
      <p:pic>
        <p:nvPicPr>
          <p:cNvPr id="30" name="icono-flujo-5" descr="preencoded.png">    </p:cNvPr>
          <p:cNvPicPr>
            <a:picLocks noChangeAspect="1"/>
          </p:cNvPicPr>
          <p:nvPr/>
        </p:nvPicPr>
        <p:blipFill>
          <a:blip r:embed="rId6"/>
          <a:stretch>
            <a:fillRect/>
          </a:stretch>
        </p:blipFill>
        <p:spPr>
          <a:xfrm>
            <a:off x="10570464" y="1975104"/>
            <a:ext cx="438912" cy="438912"/>
          </a:xfrm>
          <a:prstGeom prst="rect">
            <a:avLst/>
          </a:prstGeom>
        </p:spPr>
      </p:pic>
      <p:sp>
        <p:nvSpPr>
          <p:cNvPr id="31" name="Text 22"/>
          <p:cNvSpPr txBox="1"/>
          <p:nvPr/>
        </p:nvSpPr>
        <p:spPr>
          <a:xfrm>
            <a:off x="9921240" y="2834640"/>
            <a:ext cx="1737360" cy="365760"/>
          </a:xfrm>
          <a:prstGeom prst="rect">
            <a:avLst/>
          </a:prstGeom>
          <a:noFill/>
          <a:ln/>
        </p:spPr>
        <p:txBody>
          <a:bodyPr wrap="square" lIns="0" tIns="0" rIns="0" bIns="0" rtlCol="0" anchor="t"/>
          <a:lstStyle/>
          <a:p>
            <a:pPr algn="ctr" indent="0" marL="0">
              <a:buNone/>
            </a:pPr>
            <a:r>
              <a:rPr lang="es-AR" altLang="en-US" sz="1600" b="1" dirty="0">
                <a:solidFill>
                  <a:schemeClr val="tx1"/>
                </a:solidFill>
              </a:rPr>
              <a:t>6. Integración</a:t>
            </a:r>
            <a:endParaRPr lang="es-AR" sz="1600" dirty="0"/>
          </a:p>
        </p:txBody>
      </p:sp>
      <p:sp>
        <p:nvSpPr>
          <p:cNvPr id="32" name="Text 23"/>
          <p:cNvSpPr txBox="1"/>
          <p:nvPr/>
        </p:nvSpPr>
        <p:spPr>
          <a:xfrm>
            <a:off x="9921240" y="3246120"/>
            <a:ext cx="1737360" cy="914400"/>
          </a:xfrm>
          <a:prstGeom prst="rect">
            <a:avLst/>
          </a:prstGeom>
          <a:noFill/>
          <a:ln/>
        </p:spPr>
        <p:txBody>
          <a:bodyPr wrap="square" lIns="0" tIns="0" rIns="0" bIns="0" rtlCol="0" anchor="t"/>
          <a:lstStyle/>
          <a:p>
            <a:pPr algn="ctr" indent="0" marL="0">
              <a:buNone/>
            </a:pPr>
            <a:r>
              <a:rPr lang="es-AR" altLang="en-US" sz="1400" dirty="0">
                <a:solidFill>
                  <a:schemeClr val="accent3"/>
                </a:solidFill>
              </a:rPr>
              <a:t>Commit con Closes #N → Done</a:t>
            </a:r>
            <a:endParaRPr lang="es-AR" sz="1400" dirty="0"/>
          </a:p>
        </p:txBody>
      </p:sp>
      <p:sp>
        <p:nvSpPr>
          <p:cNvPr id="33" name="tarjeta-criterios"/>
          <p:cNvSpPr/>
          <p:nvPr/>
        </p:nvSpPr>
        <p:spPr>
          <a:xfrm>
            <a:off x="548640" y="4526280"/>
            <a:ext cx="11064240" cy="1417320"/>
          </a:xfrm>
          <a:prstGeom prst="roundRect">
            <a:avLst>
              <a:gd name="adj" fmla="val 7742"/>
            </a:avLst>
          </a:prstGeom>
          <a:solidFill>
            <a:schemeClr val="bg2"/>
          </a:solidFill>
          <a:ln/>
          <a:effectLst>
            <a:outerShdw sx="100000" sy="100000" kx="0" ky="0" algn="bl" rotWithShape="0" blurRad="101600" dist="25400" dir="5400000">
              <a:srgbClr val="1B2430">
                <a:alpha val="12000"/>
              </a:srgbClr>
            </a:outerShdw>
          </a:effectLst>
        </p:spPr>
      </p:sp>
      <p:sp>
        <p:nvSpPr>
          <p:cNvPr id="34" name="Text 25"/>
          <p:cNvSpPr txBox="1"/>
          <p:nvPr/>
        </p:nvSpPr>
        <p:spPr>
          <a:xfrm>
            <a:off x="868680" y="4681728"/>
            <a:ext cx="10058400" cy="365760"/>
          </a:xfrm>
          <a:prstGeom prst="rect">
            <a:avLst/>
          </a:prstGeom>
          <a:noFill/>
          <a:ln/>
        </p:spPr>
        <p:txBody>
          <a:bodyPr wrap="square" lIns="0" tIns="0" rIns="0" bIns="0" rtlCol="0" anchor="t"/>
          <a:lstStyle/>
          <a:p>
            <a:pPr indent="0" marL="0">
              <a:buNone/>
            </a:pPr>
            <a:r>
              <a:rPr lang="es-AR" altLang="en-US" sz="1600" b="1" dirty="0">
                <a:solidFill>
                  <a:schemeClr val="tx1"/>
                </a:solidFill>
              </a:rPr>
              <a:t>Criterios de revisión de un test generado por IA</a:t>
            </a:r>
            <a:endParaRPr lang="es-AR" sz="1600" dirty="0"/>
          </a:p>
        </p:txBody>
      </p:sp>
      <p:sp>
        <p:nvSpPr>
          <p:cNvPr id="35" name="Text 26"/>
          <p:cNvSpPr txBox="1"/>
          <p:nvPr/>
        </p:nvSpPr>
        <p:spPr>
          <a:xfrm>
            <a:off x="868680" y="5074920"/>
            <a:ext cx="10424160" cy="731520"/>
          </a:xfrm>
          <a:prstGeom prst="rect">
            <a:avLst/>
          </a:prstGeom>
          <a:noFill/>
          <a:ln/>
        </p:spPr>
        <p:txBody>
          <a:bodyPr wrap="square" lIns="0" tIns="0" rIns="0" bIns="0" rtlCol="0" anchor="t"/>
          <a:lstStyle/>
          <a:p>
            <a:pPr marL="342900" indent="-342900">
              <a:spcAft>
                <a:spcPts val="400"/>
              </a:spcAft>
              <a:buSzPct val="100000"/>
              <a:buChar char="•"/>
            </a:pPr>
            <a:r>
              <a:rPr lang="es-AR" altLang="en-US" sz="1500" dirty="0">
                <a:solidFill>
                  <a:schemeClr val="tx1"/>
                </a:solidFill>
              </a:rPr>
              <a:t>Valida el resultado esperado, no solo que la página cargue</a:t>
            </a:r>
            <a:endParaRPr lang="es-AR" sz="1500" dirty="0"/>
          </a:p>
          <a:p>
            <a:pPr marL="342900" indent="-342900">
              <a:spcAft>
                <a:spcPts val="400"/>
              </a:spcAft>
              <a:buSzPct val="100000"/>
              <a:buChar char="•"/>
            </a:pPr>
            <a:r>
              <a:rPr lang="es-AR" altLang="en-US" sz="1500" dirty="0">
                <a:solidFill>
                  <a:schemeClr val="tx1"/>
                </a:solidFill>
              </a:rPr>
              <a:t>Falla ante un comportamiento incorrecto · sin credenciales en el código (.env) · ID igual al del tablero</a:t>
            </a:r>
            <a:endParaRPr lang="es-AR" sz="15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Límites y controles</a:t>
            </a:r>
            <a:endParaRPr lang="es-AR" sz="3200" dirty="0"/>
          </a:p>
        </p:txBody>
      </p:sp>
      <p:sp>
        <p:nvSpPr>
          <p:cNvPr id="4" name="tarjeta-control-0"/>
          <p:cNvSpPr/>
          <p:nvPr/>
        </p:nvSpPr>
        <p:spPr>
          <a:xfrm>
            <a:off x="548640" y="1463040"/>
            <a:ext cx="5303520" cy="2011680"/>
          </a:xfrm>
          <a:prstGeom prst="roundRect">
            <a:avLst>
              <a:gd name="adj" fmla="val 5455"/>
            </a:avLst>
          </a:prstGeom>
          <a:solidFill>
            <a:schemeClr val="bg2"/>
          </a:solidFill>
          <a:ln/>
          <a:effectLst>
            <a:outerShdw sx="100000" sy="100000" kx="0" ky="0" algn="bl" rotWithShape="0" blurRad="101600" dist="25400" dir="5400000">
              <a:srgbClr val="1B2430">
                <a:alpha val="12000"/>
              </a:srgbClr>
            </a:outerShdw>
          </a:effectLst>
        </p:spPr>
      </p:sp>
      <p:sp>
        <p:nvSpPr>
          <p:cNvPr id="5" name="circulo-control-0"/>
          <p:cNvSpPr/>
          <p:nvPr/>
        </p:nvSpPr>
        <p:spPr>
          <a:xfrm>
            <a:off x="868680" y="1828800"/>
            <a:ext cx="822960" cy="822960"/>
          </a:xfrm>
          <a:prstGeom prst="ellipse">
            <a:avLst/>
          </a:prstGeom>
          <a:solidFill>
            <a:schemeClr val="accent1"/>
          </a:solidFill>
          <a:ln/>
        </p:spPr>
      </p:sp>
      <p:pic>
        <p:nvPicPr>
          <p:cNvPr id="6" name="icono-control-0" descr="preencoded.png">    </p:cNvPr>
          <p:cNvPicPr>
            <a:picLocks noChangeAspect="1"/>
          </p:cNvPicPr>
          <p:nvPr/>
        </p:nvPicPr>
        <p:blipFill>
          <a:blip r:embed="rId1"/>
          <a:stretch>
            <a:fillRect/>
          </a:stretch>
        </p:blipFill>
        <p:spPr>
          <a:xfrm>
            <a:off x="1082650" y="2042770"/>
            <a:ext cx="395021" cy="395021"/>
          </a:xfrm>
          <a:prstGeom prst="rect">
            <a:avLst/>
          </a:prstGeom>
        </p:spPr>
      </p:pic>
      <p:sp>
        <p:nvSpPr>
          <p:cNvPr id="7" name="Text 3"/>
          <p:cNvSpPr txBox="1"/>
          <p:nvPr/>
        </p:nvSpPr>
        <p:spPr>
          <a:xfrm>
            <a:off x="1920240" y="1828800"/>
            <a:ext cx="3657600" cy="457200"/>
          </a:xfrm>
          <a:prstGeom prst="rect">
            <a:avLst/>
          </a:prstGeom>
          <a:noFill/>
          <a:ln/>
        </p:spPr>
        <p:txBody>
          <a:bodyPr wrap="square" lIns="0" tIns="0" rIns="0" bIns="0" rtlCol="0" anchor="t"/>
          <a:lstStyle/>
          <a:p>
            <a:pPr indent="0" marL="0">
              <a:buNone/>
            </a:pPr>
            <a:r>
              <a:rPr lang="es-AR" altLang="en-US" sz="1800" b="1" dirty="0">
                <a:solidFill>
                  <a:schemeClr val="tx1"/>
                </a:solidFill>
              </a:rPr>
              <a:t>La IA genera un test incorrecto</a:t>
            </a:r>
            <a:endParaRPr lang="es-AR" sz="1800" dirty="0"/>
          </a:p>
        </p:txBody>
      </p:sp>
      <p:sp>
        <p:nvSpPr>
          <p:cNvPr id="8" name="Text 4"/>
          <p:cNvSpPr txBox="1"/>
          <p:nvPr/>
        </p:nvSpPr>
        <p:spPr>
          <a:xfrm>
            <a:off x="1920240" y="2377440"/>
            <a:ext cx="3657600" cy="822960"/>
          </a:xfrm>
          <a:prstGeom prst="rect">
            <a:avLst/>
          </a:prstGeom>
          <a:noFill/>
          <a:ln/>
        </p:spPr>
        <p:txBody>
          <a:bodyPr wrap="square" lIns="0" tIns="0" rIns="0" bIns="0" rtlCol="0" anchor="t"/>
          <a:lstStyle/>
          <a:p>
            <a:pPr indent="0" marL="0">
              <a:buNone/>
            </a:pPr>
            <a:r>
              <a:rPr lang="es-AR" altLang="en-US" sz="1500" dirty="0">
                <a:solidFill>
                  <a:schemeClr val="accent3"/>
                </a:solidFill>
              </a:rPr>
              <a:t>Todo test se revisa y se ejecuta antes de subirlo</a:t>
            </a:r>
            <a:endParaRPr lang="es-AR" sz="1500" dirty="0"/>
          </a:p>
        </p:txBody>
      </p:sp>
      <p:sp>
        <p:nvSpPr>
          <p:cNvPr id="9" name="tarjeta-control-1"/>
          <p:cNvSpPr/>
          <p:nvPr/>
        </p:nvSpPr>
        <p:spPr>
          <a:xfrm>
            <a:off x="6217920" y="1463040"/>
            <a:ext cx="5303520" cy="2011680"/>
          </a:xfrm>
          <a:prstGeom prst="roundRect">
            <a:avLst>
              <a:gd name="adj" fmla="val 5455"/>
            </a:avLst>
          </a:prstGeom>
          <a:solidFill>
            <a:schemeClr val="bg2"/>
          </a:solidFill>
          <a:ln/>
          <a:effectLst>
            <a:outerShdw sx="100000" sy="100000" kx="0" ky="0" algn="bl" rotWithShape="0" blurRad="101600" dist="25400" dir="5400000">
              <a:srgbClr val="1B2430">
                <a:alpha val="12000"/>
              </a:srgbClr>
            </a:outerShdw>
          </a:effectLst>
        </p:spPr>
      </p:sp>
      <p:sp>
        <p:nvSpPr>
          <p:cNvPr id="10" name="circulo-control-1"/>
          <p:cNvSpPr/>
          <p:nvPr/>
        </p:nvSpPr>
        <p:spPr>
          <a:xfrm>
            <a:off x="6537960" y="1828800"/>
            <a:ext cx="822960" cy="822960"/>
          </a:xfrm>
          <a:prstGeom prst="ellipse">
            <a:avLst/>
          </a:prstGeom>
          <a:solidFill>
            <a:schemeClr val="accent2"/>
          </a:solidFill>
          <a:ln/>
        </p:spPr>
      </p:sp>
      <p:pic>
        <p:nvPicPr>
          <p:cNvPr id="11" name="icono-control-1" descr="preencoded.png">    </p:cNvPr>
          <p:cNvPicPr>
            <a:picLocks noChangeAspect="1"/>
          </p:cNvPicPr>
          <p:nvPr/>
        </p:nvPicPr>
        <p:blipFill>
          <a:blip r:embed="rId2"/>
          <a:stretch>
            <a:fillRect/>
          </a:stretch>
        </p:blipFill>
        <p:spPr>
          <a:xfrm>
            <a:off x="6751930" y="2042770"/>
            <a:ext cx="395021" cy="395021"/>
          </a:xfrm>
          <a:prstGeom prst="rect">
            <a:avLst/>
          </a:prstGeom>
        </p:spPr>
      </p:pic>
      <p:sp>
        <p:nvSpPr>
          <p:cNvPr id="12" name="Text 7"/>
          <p:cNvSpPr txBox="1"/>
          <p:nvPr/>
        </p:nvSpPr>
        <p:spPr>
          <a:xfrm>
            <a:off x="7589520" y="1828800"/>
            <a:ext cx="3657600" cy="457200"/>
          </a:xfrm>
          <a:prstGeom prst="rect">
            <a:avLst/>
          </a:prstGeom>
          <a:noFill/>
          <a:ln/>
        </p:spPr>
        <p:txBody>
          <a:bodyPr wrap="square" lIns="0" tIns="0" rIns="0" bIns="0" rtlCol="0" anchor="t"/>
          <a:lstStyle/>
          <a:p>
            <a:pPr indent="0" marL="0">
              <a:buNone/>
            </a:pPr>
            <a:r>
              <a:rPr lang="es-AR" altLang="en-US" sz="1800" b="1" dirty="0">
                <a:solidFill>
                  <a:schemeClr val="tx1"/>
                </a:solidFill>
              </a:rPr>
              <a:t>Exposición de credenciales</a:t>
            </a:r>
            <a:endParaRPr lang="es-AR" sz="1800" dirty="0"/>
          </a:p>
        </p:txBody>
      </p:sp>
      <p:sp>
        <p:nvSpPr>
          <p:cNvPr id="13" name="Text 8"/>
          <p:cNvSpPr txBox="1"/>
          <p:nvPr/>
        </p:nvSpPr>
        <p:spPr>
          <a:xfrm>
            <a:off x="7589520" y="2377440"/>
            <a:ext cx="3657600" cy="822960"/>
          </a:xfrm>
          <a:prstGeom prst="rect">
            <a:avLst/>
          </a:prstGeom>
          <a:noFill/>
          <a:ln/>
        </p:spPr>
        <p:txBody>
          <a:bodyPr wrap="square" lIns="0" tIns="0" rIns="0" bIns="0" rtlCol="0" anchor="t"/>
          <a:lstStyle/>
          <a:p>
            <a:pPr indent="0" marL="0">
              <a:buNone/>
            </a:pPr>
            <a:r>
              <a:rPr lang="es-AR" altLang="en-US" sz="1500" dirty="0">
                <a:solidFill>
                  <a:schemeClr val="accent3"/>
                </a:solidFill>
              </a:rPr>
              <a:t>Viven en .env local y en las credenciales de Jenkins, nunca en el repositorio</a:t>
            </a:r>
            <a:endParaRPr lang="es-AR" sz="1500" dirty="0"/>
          </a:p>
        </p:txBody>
      </p:sp>
      <p:sp>
        <p:nvSpPr>
          <p:cNvPr id="14" name="tarjeta-control-2"/>
          <p:cNvSpPr/>
          <p:nvPr/>
        </p:nvSpPr>
        <p:spPr>
          <a:xfrm>
            <a:off x="548640" y="3749040"/>
            <a:ext cx="5303520" cy="2011680"/>
          </a:xfrm>
          <a:prstGeom prst="roundRect">
            <a:avLst>
              <a:gd name="adj" fmla="val 5455"/>
            </a:avLst>
          </a:prstGeom>
          <a:solidFill>
            <a:schemeClr val="bg2"/>
          </a:solidFill>
          <a:ln/>
          <a:effectLst>
            <a:outerShdw sx="100000" sy="100000" kx="0" ky="0" algn="bl" rotWithShape="0" blurRad="101600" dist="25400" dir="5400000">
              <a:srgbClr val="1B2430">
                <a:alpha val="12000"/>
              </a:srgbClr>
            </a:outerShdw>
          </a:effectLst>
        </p:spPr>
      </p:sp>
      <p:sp>
        <p:nvSpPr>
          <p:cNvPr id="15" name="circulo-control-2"/>
          <p:cNvSpPr/>
          <p:nvPr/>
        </p:nvSpPr>
        <p:spPr>
          <a:xfrm>
            <a:off x="868680" y="4114800"/>
            <a:ext cx="822960" cy="822960"/>
          </a:xfrm>
          <a:prstGeom prst="ellipse">
            <a:avLst/>
          </a:prstGeom>
          <a:solidFill>
            <a:schemeClr val="accent1"/>
          </a:solidFill>
          <a:ln/>
        </p:spPr>
      </p:sp>
      <p:pic>
        <p:nvPicPr>
          <p:cNvPr id="16" name="icono-control-2" descr="preencoded.png">    </p:cNvPr>
          <p:cNvPicPr>
            <a:picLocks noChangeAspect="1"/>
          </p:cNvPicPr>
          <p:nvPr/>
        </p:nvPicPr>
        <p:blipFill>
          <a:blip r:embed="rId3"/>
          <a:stretch>
            <a:fillRect/>
          </a:stretch>
        </p:blipFill>
        <p:spPr>
          <a:xfrm>
            <a:off x="1082650" y="4328770"/>
            <a:ext cx="395021" cy="395021"/>
          </a:xfrm>
          <a:prstGeom prst="rect">
            <a:avLst/>
          </a:prstGeom>
        </p:spPr>
      </p:pic>
      <p:sp>
        <p:nvSpPr>
          <p:cNvPr id="17" name="Text 11"/>
          <p:cNvSpPr txBox="1"/>
          <p:nvPr/>
        </p:nvSpPr>
        <p:spPr>
          <a:xfrm>
            <a:off x="1920240" y="4114800"/>
            <a:ext cx="3657600" cy="457200"/>
          </a:xfrm>
          <a:prstGeom prst="rect">
            <a:avLst/>
          </a:prstGeom>
          <a:noFill/>
          <a:ln/>
        </p:spPr>
        <p:txBody>
          <a:bodyPr wrap="square" lIns="0" tIns="0" rIns="0" bIns="0" rtlCol="0" anchor="t"/>
          <a:lstStyle/>
          <a:p>
            <a:pPr indent="0" marL="0">
              <a:buNone/>
            </a:pPr>
            <a:r>
              <a:rPr lang="es-AR" altLang="en-US" sz="1800" b="1" dirty="0">
                <a:solidFill>
                  <a:schemeClr val="tx1"/>
                </a:solidFill>
              </a:rPr>
              <a:t>Datos sensibles</a:t>
            </a:r>
            <a:endParaRPr lang="es-AR" sz="1800" dirty="0"/>
          </a:p>
        </p:txBody>
      </p:sp>
      <p:sp>
        <p:nvSpPr>
          <p:cNvPr id="18" name="Text 12"/>
          <p:cNvSpPr txBox="1"/>
          <p:nvPr/>
        </p:nvSpPr>
        <p:spPr>
          <a:xfrm>
            <a:off x="1920240" y="4663440"/>
            <a:ext cx="3657600" cy="822960"/>
          </a:xfrm>
          <a:prstGeom prst="rect">
            <a:avLst/>
          </a:prstGeom>
          <a:noFill/>
          <a:ln/>
        </p:spPr>
        <p:txBody>
          <a:bodyPr wrap="square" lIns="0" tIns="0" rIns="0" bIns="0" rtlCol="0" anchor="t"/>
          <a:lstStyle/>
          <a:p>
            <a:pPr indent="0" marL="0">
              <a:buNone/>
            </a:pPr>
            <a:r>
              <a:rPr lang="es-AR" altLang="en-US" sz="1500" dirty="0">
                <a:solidFill>
                  <a:schemeClr val="accent3"/>
                </a:solidFill>
              </a:rPr>
              <a:t>Solo ambiente de testing y datos de prueba</a:t>
            </a:r>
            <a:endParaRPr lang="es-AR" sz="1500" dirty="0"/>
          </a:p>
        </p:txBody>
      </p:sp>
      <p:sp>
        <p:nvSpPr>
          <p:cNvPr id="19" name="tarjeta-control-3"/>
          <p:cNvSpPr/>
          <p:nvPr/>
        </p:nvSpPr>
        <p:spPr>
          <a:xfrm>
            <a:off x="6217920" y="3749040"/>
            <a:ext cx="5303520" cy="2011680"/>
          </a:xfrm>
          <a:prstGeom prst="roundRect">
            <a:avLst>
              <a:gd name="adj" fmla="val 5455"/>
            </a:avLst>
          </a:prstGeom>
          <a:solidFill>
            <a:schemeClr val="bg2"/>
          </a:solidFill>
          <a:ln/>
          <a:effectLst>
            <a:outerShdw sx="100000" sy="100000" kx="0" ky="0" algn="bl" rotWithShape="0" blurRad="101600" dist="25400" dir="5400000">
              <a:srgbClr val="1B2430">
                <a:alpha val="12000"/>
              </a:srgbClr>
            </a:outerShdw>
          </a:effectLst>
        </p:spPr>
      </p:sp>
      <p:sp>
        <p:nvSpPr>
          <p:cNvPr id="20" name="circulo-control-3"/>
          <p:cNvSpPr/>
          <p:nvPr/>
        </p:nvSpPr>
        <p:spPr>
          <a:xfrm>
            <a:off x="6537960" y="4114800"/>
            <a:ext cx="822960" cy="822960"/>
          </a:xfrm>
          <a:prstGeom prst="ellipse">
            <a:avLst/>
          </a:prstGeom>
          <a:solidFill>
            <a:schemeClr val="accent2"/>
          </a:solidFill>
          <a:ln/>
        </p:spPr>
      </p:sp>
      <p:pic>
        <p:nvPicPr>
          <p:cNvPr id="21" name="icono-control-3" descr="preencoded.png">    </p:cNvPr>
          <p:cNvPicPr>
            <a:picLocks noChangeAspect="1"/>
          </p:cNvPicPr>
          <p:nvPr/>
        </p:nvPicPr>
        <p:blipFill>
          <a:blip r:embed="rId4"/>
          <a:stretch>
            <a:fillRect/>
          </a:stretch>
        </p:blipFill>
        <p:spPr>
          <a:xfrm>
            <a:off x="6751930" y="4328770"/>
            <a:ext cx="395021" cy="395021"/>
          </a:xfrm>
          <a:prstGeom prst="rect">
            <a:avLst/>
          </a:prstGeom>
        </p:spPr>
      </p:pic>
      <p:sp>
        <p:nvSpPr>
          <p:cNvPr id="22" name="Text 15"/>
          <p:cNvSpPr txBox="1"/>
          <p:nvPr/>
        </p:nvSpPr>
        <p:spPr>
          <a:xfrm>
            <a:off x="7589520" y="4114800"/>
            <a:ext cx="3657600" cy="457200"/>
          </a:xfrm>
          <a:prstGeom prst="rect">
            <a:avLst/>
          </a:prstGeom>
          <a:noFill/>
          <a:ln/>
        </p:spPr>
        <p:txBody>
          <a:bodyPr wrap="square" lIns="0" tIns="0" rIns="0" bIns="0" rtlCol="0" anchor="t"/>
          <a:lstStyle/>
          <a:p>
            <a:pPr indent="0" marL="0">
              <a:buNone/>
            </a:pPr>
            <a:r>
              <a:rPr lang="es-AR" altLang="en-US" sz="1800" b="1" dirty="0">
                <a:solidFill>
                  <a:schemeClr val="tx1"/>
                </a:solidFill>
              </a:rPr>
              <a:t>Cambios no controlados</a:t>
            </a:r>
            <a:endParaRPr lang="es-AR" sz="1800" dirty="0"/>
          </a:p>
        </p:txBody>
      </p:sp>
      <p:sp>
        <p:nvSpPr>
          <p:cNvPr id="23" name="Text 16"/>
          <p:cNvSpPr txBox="1"/>
          <p:nvPr/>
        </p:nvSpPr>
        <p:spPr>
          <a:xfrm>
            <a:off x="7589520" y="4663440"/>
            <a:ext cx="3657600" cy="822960"/>
          </a:xfrm>
          <a:prstGeom prst="rect">
            <a:avLst/>
          </a:prstGeom>
          <a:noFill/>
          <a:ln/>
        </p:spPr>
        <p:txBody>
          <a:bodyPr wrap="square" lIns="0" tIns="0" rIns="0" bIns="0" rtlCol="0" anchor="t"/>
          <a:lstStyle/>
          <a:p>
            <a:pPr indent="0" marL="0">
              <a:buNone/>
            </a:pPr>
            <a:r>
              <a:rPr lang="es-AR" altLang="en-US" sz="1500" dirty="0">
                <a:solidFill>
                  <a:schemeClr val="accent3"/>
                </a:solidFill>
              </a:rPr>
              <a:t>Un commit por cambio, con su tarea y su release</a:t>
            </a:r>
            <a:endParaRPr lang="es-AR" sz="15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8229600" cy="1097280"/>
          </a:xfrm>
          <a:prstGeom prst="rect">
            <a:avLst/>
          </a:prstGeom>
          <a:noFill/>
          <a:ln/>
        </p:spPr>
        <p:txBody>
          <a:bodyPr wrap="square" lIns="0" tIns="0" rIns="0" bIns="0" rtlCol="0" anchor="t"/>
          <a:lstStyle/>
          <a:p>
            <a:pPr algn="l" indent="0" marL="0">
              <a:buNone/>
            </a:pPr>
            <a:r>
              <a:rPr lang="es-AR" altLang="en-US" sz="4000" b="1" dirty="0">
                <a:solidFill>
                  <a:schemeClr val="bg1"/>
                </a:solidFill>
              </a:rPr>
              <a:t>Tests de integración</a:t>
            </a:r>
            <a:endParaRPr lang="es-AR" sz="4000" dirty="0"/>
          </a:p>
        </p:txBody>
      </p:sp>
      <p:sp>
        <p:nvSpPr>
          <p:cNvPr id="4" name="Text 0"/>
          <p:cNvSpPr/>
          <p:nvPr>
            <p:ph idx="101" type="body" hasCustomPrompt="1"/>
          </p:nvPr>
        </p:nvSpPr>
        <p:spPr>
          <a:xfrm>
            <a:off x="731520" y="3931920"/>
            <a:ext cx="8229600" cy="914400"/>
          </a:xfrm>
          <a:prstGeom prst="rect">
            <a:avLst/>
          </a:prstGeom>
          <a:noFill/>
          <a:ln/>
        </p:spPr>
        <p:txBody>
          <a:bodyPr wrap="square" lIns="0" tIns="0" rIns="0" bIns="0" rtlCol="0" anchor="t"/>
          <a:lstStyle/>
          <a:p>
            <a:pPr indent="0" marL="0">
              <a:buNone/>
            </a:pPr>
            <a:r>
              <a:rPr lang="es-AR" altLang="en-US" sz="1800" dirty="0">
                <a:solidFill>
                  <a:schemeClr val="bg2"/>
                </a:solidFill>
              </a:rPr>
              <a:t>Probar el circuito completo entre productos, como lo usa el operador</a:t>
            </a:r>
            <a:endParaRPr lang="es-AR" sz="1800" dirty="0"/>
          </a:p>
        </p:txBody>
      </p:sp>
      <p:sp>
        <p:nvSpPr>
          <p:cNvPr id="5" name="Text 2"/>
          <p:cNvSpPr txBox="1"/>
          <p:nvPr/>
        </p:nvSpPr>
        <p:spPr>
          <a:xfrm>
            <a:off x="731520" y="1463040"/>
            <a:ext cx="1828800" cy="1097280"/>
          </a:xfrm>
          <a:prstGeom prst="rect">
            <a:avLst/>
          </a:prstGeom>
          <a:noFill/>
          <a:ln/>
        </p:spPr>
        <p:txBody>
          <a:bodyPr wrap="square" lIns="0" tIns="0" rIns="0" bIns="0" rtlCol="0" anchor="t"/>
          <a:lstStyle/>
          <a:p>
            <a:pPr indent="0" marL="0">
              <a:buNone/>
            </a:pPr>
            <a:r>
              <a:rPr lang="es-AR" altLang="en-US" sz="6000" b="1" dirty="0">
                <a:solidFill>
                  <a:schemeClr val="accent2"/>
                </a:solidFill>
                <a:latin typeface="Arial" pitchFamily="34" charset="0"/>
                <a:ea typeface="Arial" pitchFamily="34" charset="-122"/>
                <a:cs typeface="Arial" pitchFamily="34" charset="-120"/>
              </a:rPr>
              <a:t>02</a:t>
            </a:r>
            <a:endParaRPr lang="es-AR" sz="6000" dirty="0"/>
          </a:p>
        </p:txBody>
      </p:sp>
      <p:sp>
        <p:nvSpPr>
          <p:cNvPr id="6" name="circulo-sep-02"/>
          <p:cNvSpPr/>
          <p:nvPr/>
        </p:nvSpPr>
        <p:spPr>
          <a:xfrm>
            <a:off x="9052560" y="2194560"/>
            <a:ext cx="2194560" cy="2194560"/>
          </a:xfrm>
          <a:prstGeom prst="ellipse">
            <a:avLst/>
          </a:prstGeom>
          <a:solidFill>
            <a:schemeClr val="accent1"/>
          </a:solidFill>
          <a:ln/>
        </p:spPr>
      </p:sp>
      <p:pic>
        <p:nvPicPr>
          <p:cNvPr id="7" name="icono-sep-02" descr="preencoded.png">    </p:cNvPr>
          <p:cNvPicPr>
            <a:picLocks noChangeAspect="1"/>
          </p:cNvPicPr>
          <p:nvPr/>
        </p:nvPicPr>
        <p:blipFill>
          <a:blip r:embed="rId1"/>
          <a:stretch>
            <a:fillRect/>
          </a:stretch>
        </p:blipFill>
        <p:spPr>
          <a:xfrm>
            <a:off x="9623146" y="2765146"/>
            <a:ext cx="1053389" cy="1053389"/>
          </a:xfrm>
          <a:prstGeom prst="rect">
            <a:avLst/>
          </a:prstGeom>
        </p:spPr>
      </p:pic>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Tres integraciones de punta a punta</a:t>
            </a:r>
            <a:endParaRPr lang="es-AR" sz="3200" dirty="0"/>
          </a:p>
        </p:txBody>
      </p:sp>
      <p:sp>
        <p:nvSpPr>
          <p:cNvPr id="4" name="tarjeta-mapa-as"/>
          <p:cNvSpPr/>
          <p:nvPr/>
        </p:nvSpPr>
        <p:spPr>
          <a:xfrm>
            <a:off x="822960" y="2286000"/>
            <a:ext cx="2560320" cy="1600200"/>
          </a:xfrm>
          <a:prstGeom prst="roundRect">
            <a:avLst>
              <a:gd name="adj" fmla="val 6857"/>
            </a:avLst>
          </a:prstGeom>
          <a:solidFill>
            <a:schemeClr val="bg2"/>
          </a:solidFill>
          <a:ln/>
          <a:effectLst>
            <a:outerShdw sx="100000" sy="100000" kx="0" ky="0" algn="bl" rotWithShape="0" blurRad="101600" dist="25400" dir="5400000">
              <a:srgbClr val="1B2430">
                <a:alpha val="12000"/>
              </a:srgbClr>
            </a:outerShdw>
          </a:effectLst>
        </p:spPr>
      </p:sp>
      <p:sp>
        <p:nvSpPr>
          <p:cNvPr id="5" name="circulo-mapa-as"/>
          <p:cNvSpPr/>
          <p:nvPr/>
        </p:nvSpPr>
        <p:spPr>
          <a:xfrm>
            <a:off x="1005840" y="2514600"/>
            <a:ext cx="640080" cy="640080"/>
          </a:xfrm>
          <a:prstGeom prst="ellipse">
            <a:avLst/>
          </a:prstGeom>
          <a:solidFill>
            <a:schemeClr val="accent2"/>
          </a:solidFill>
          <a:ln/>
        </p:spPr>
      </p:sp>
      <p:pic>
        <p:nvPicPr>
          <p:cNvPr id="6" name="icono-mapa-as" descr="preencoded.png">    </p:cNvPr>
          <p:cNvPicPr>
            <a:picLocks noChangeAspect="1"/>
          </p:cNvPicPr>
          <p:nvPr/>
        </p:nvPicPr>
        <p:blipFill>
          <a:blip r:embed="rId1"/>
          <a:stretch>
            <a:fillRect/>
          </a:stretch>
        </p:blipFill>
        <p:spPr>
          <a:xfrm>
            <a:off x="1172261" y="2681021"/>
            <a:ext cx="307238" cy="307238"/>
          </a:xfrm>
          <a:prstGeom prst="rect">
            <a:avLst/>
          </a:prstGeom>
        </p:spPr>
      </p:pic>
      <p:sp>
        <p:nvSpPr>
          <p:cNvPr id="7" name="Text 3"/>
          <p:cNvSpPr txBox="1"/>
          <p:nvPr/>
        </p:nvSpPr>
        <p:spPr>
          <a:xfrm>
            <a:off x="1783080" y="2542032"/>
            <a:ext cx="1508760" cy="594360"/>
          </a:xfrm>
          <a:prstGeom prst="rect">
            <a:avLst/>
          </a:prstGeom>
          <a:noFill/>
          <a:ln/>
        </p:spPr>
        <p:txBody>
          <a:bodyPr wrap="square" lIns="0" tIns="0" rIns="0" bIns="0" rtlCol="0" anchor="ctr"/>
          <a:lstStyle/>
          <a:p>
            <a:pPr indent="0" marL="0">
              <a:buNone/>
            </a:pPr>
            <a:r>
              <a:rPr lang="es-AR" altLang="en-US" sz="1600" b="1" dirty="0">
                <a:solidFill>
                  <a:schemeClr val="tx1"/>
                </a:solidFill>
              </a:rPr>
              <a:t>AS</a:t>
            </a:r>
            <a:endParaRPr lang="es-AR" sz="1600" dirty="0"/>
          </a:p>
        </p:txBody>
      </p:sp>
      <p:sp>
        <p:nvSpPr>
          <p:cNvPr id="8" name="Text 4"/>
          <p:cNvSpPr txBox="1"/>
          <p:nvPr/>
        </p:nvSpPr>
        <p:spPr>
          <a:xfrm>
            <a:off x="1005840" y="3246120"/>
            <a:ext cx="2240280" cy="548640"/>
          </a:xfrm>
          <a:prstGeom prst="rect">
            <a:avLst/>
          </a:prstGeom>
          <a:noFill/>
          <a:ln/>
        </p:spPr>
        <p:txBody>
          <a:bodyPr wrap="square" lIns="0" tIns="0" rIns="0" bIns="0" rtlCol="0" anchor="t"/>
          <a:lstStyle/>
          <a:p>
            <a:pPr indent="0" marL="0">
              <a:buNone/>
            </a:pPr>
            <a:r>
              <a:rPr lang="es-AR" altLang="en-US" sz="1300" dirty="0">
                <a:solidFill>
                  <a:schemeClr val="accent3"/>
                </a:solidFill>
              </a:rPr>
              <a:t>Servidor de analíticas (Linux, SSH)</a:t>
            </a:r>
            <a:endParaRPr lang="es-AR" sz="1300" dirty="0"/>
          </a:p>
        </p:txBody>
      </p:sp>
      <p:sp>
        <p:nvSpPr>
          <p:cNvPr id="9" name="tarjeta-mapa-anpr"/>
          <p:cNvSpPr/>
          <p:nvPr/>
        </p:nvSpPr>
        <p:spPr>
          <a:xfrm>
            <a:off x="4937760" y="1325880"/>
            <a:ext cx="2560320" cy="1600200"/>
          </a:xfrm>
          <a:prstGeom prst="roundRect">
            <a:avLst>
              <a:gd name="adj" fmla="val 6857"/>
            </a:avLst>
          </a:prstGeom>
          <a:solidFill>
            <a:schemeClr val="bg2"/>
          </a:solidFill>
          <a:ln/>
          <a:effectLst>
            <a:outerShdw sx="100000" sy="100000" kx="0" ky="0" algn="bl" rotWithShape="0" blurRad="101600" dist="25400" dir="5400000">
              <a:srgbClr val="1B2430">
                <a:alpha val="12000"/>
              </a:srgbClr>
            </a:outerShdw>
          </a:effectLst>
        </p:spPr>
      </p:sp>
      <p:sp>
        <p:nvSpPr>
          <p:cNvPr id="10" name="circulo-mapa-anpr"/>
          <p:cNvSpPr/>
          <p:nvPr/>
        </p:nvSpPr>
        <p:spPr>
          <a:xfrm>
            <a:off x="5120640" y="1554480"/>
            <a:ext cx="640080" cy="640080"/>
          </a:xfrm>
          <a:prstGeom prst="ellipse">
            <a:avLst/>
          </a:prstGeom>
          <a:solidFill>
            <a:schemeClr val="accent1"/>
          </a:solidFill>
          <a:ln/>
        </p:spPr>
      </p:sp>
      <p:pic>
        <p:nvPicPr>
          <p:cNvPr id="11" name="icono-mapa-anpr" descr="preencoded.png">    </p:cNvPr>
          <p:cNvPicPr>
            <a:picLocks noChangeAspect="1"/>
          </p:cNvPicPr>
          <p:nvPr/>
        </p:nvPicPr>
        <p:blipFill>
          <a:blip r:embed="rId2"/>
          <a:stretch>
            <a:fillRect/>
          </a:stretch>
        </p:blipFill>
        <p:spPr>
          <a:xfrm>
            <a:off x="5287061" y="1720901"/>
            <a:ext cx="307238" cy="307238"/>
          </a:xfrm>
          <a:prstGeom prst="rect">
            <a:avLst/>
          </a:prstGeom>
        </p:spPr>
      </p:pic>
      <p:sp>
        <p:nvSpPr>
          <p:cNvPr id="12" name="Text 7"/>
          <p:cNvSpPr txBox="1"/>
          <p:nvPr/>
        </p:nvSpPr>
        <p:spPr>
          <a:xfrm>
            <a:off x="5897880" y="1581912"/>
            <a:ext cx="1508760" cy="594360"/>
          </a:xfrm>
          <a:prstGeom prst="rect">
            <a:avLst/>
          </a:prstGeom>
          <a:noFill/>
          <a:ln/>
        </p:spPr>
        <p:txBody>
          <a:bodyPr wrap="square" lIns="0" tIns="0" rIns="0" bIns="0" rtlCol="0" anchor="ctr"/>
          <a:lstStyle/>
          <a:p>
            <a:pPr indent="0" marL="0">
              <a:buNone/>
            </a:pPr>
            <a:r>
              <a:rPr lang="es-AR" altLang="en-US" sz="1600" b="1" dirty="0">
                <a:solidFill>
                  <a:schemeClr val="tx1"/>
                </a:solidFill>
              </a:rPr>
              <a:t>ANPR</a:t>
            </a:r>
            <a:endParaRPr lang="es-AR" sz="1600" dirty="0"/>
          </a:p>
        </p:txBody>
      </p:sp>
      <p:sp>
        <p:nvSpPr>
          <p:cNvPr id="13" name="Text 8"/>
          <p:cNvSpPr txBox="1"/>
          <p:nvPr/>
        </p:nvSpPr>
        <p:spPr>
          <a:xfrm>
            <a:off x="5120640" y="2286000"/>
            <a:ext cx="2240280" cy="548640"/>
          </a:xfrm>
          <a:prstGeom prst="rect">
            <a:avLst/>
          </a:prstGeom>
          <a:noFill/>
          <a:ln/>
        </p:spPr>
        <p:txBody>
          <a:bodyPr wrap="square" lIns="0" tIns="0" rIns="0" bIns="0" rtlCol="0" anchor="t"/>
          <a:lstStyle/>
          <a:p>
            <a:pPr indent="0" marL="0">
              <a:buNone/>
            </a:pPr>
            <a:r>
              <a:rPr lang="es-AR" altLang="en-US" sz="1300" dirty="0">
                <a:solidFill>
                  <a:schemeClr val="accent3"/>
                </a:solidFill>
              </a:rPr>
              <a:t>Web de patentes y alarmas</a:t>
            </a:r>
            <a:endParaRPr lang="es-AR" sz="1300" dirty="0"/>
          </a:p>
        </p:txBody>
      </p:sp>
      <p:sp>
        <p:nvSpPr>
          <p:cNvPr id="14" name="tarjeta-mapa-vms"/>
          <p:cNvSpPr/>
          <p:nvPr/>
        </p:nvSpPr>
        <p:spPr>
          <a:xfrm>
            <a:off x="4937760" y="3886200"/>
            <a:ext cx="2560320" cy="1600200"/>
          </a:xfrm>
          <a:prstGeom prst="roundRect">
            <a:avLst>
              <a:gd name="adj" fmla="val 6857"/>
            </a:avLst>
          </a:prstGeom>
          <a:solidFill>
            <a:schemeClr val="bg2"/>
          </a:solidFill>
          <a:ln/>
          <a:effectLst>
            <a:outerShdw sx="100000" sy="100000" kx="0" ky="0" algn="bl" rotWithShape="0" blurRad="101600" dist="25400" dir="5400000">
              <a:srgbClr val="1B2430">
                <a:alpha val="12000"/>
              </a:srgbClr>
            </a:outerShdw>
          </a:effectLst>
        </p:spPr>
      </p:sp>
      <p:sp>
        <p:nvSpPr>
          <p:cNvPr id="15" name="circulo-mapa-vms"/>
          <p:cNvSpPr/>
          <p:nvPr/>
        </p:nvSpPr>
        <p:spPr>
          <a:xfrm>
            <a:off x="5120640" y="4114800"/>
            <a:ext cx="640080" cy="640080"/>
          </a:xfrm>
          <a:prstGeom prst="ellipse">
            <a:avLst/>
          </a:prstGeom>
          <a:solidFill>
            <a:schemeClr val="accent1"/>
          </a:solidFill>
          <a:ln/>
        </p:spPr>
      </p:sp>
      <p:pic>
        <p:nvPicPr>
          <p:cNvPr id="16" name="icono-mapa-vms" descr="preencoded.png">    </p:cNvPr>
          <p:cNvPicPr>
            <a:picLocks noChangeAspect="1"/>
          </p:cNvPicPr>
          <p:nvPr/>
        </p:nvPicPr>
        <p:blipFill>
          <a:blip r:embed="rId3"/>
          <a:stretch>
            <a:fillRect/>
          </a:stretch>
        </p:blipFill>
        <p:spPr>
          <a:xfrm>
            <a:off x="5287061" y="4281221"/>
            <a:ext cx="307238" cy="307238"/>
          </a:xfrm>
          <a:prstGeom prst="rect">
            <a:avLst/>
          </a:prstGeom>
        </p:spPr>
      </p:pic>
      <p:sp>
        <p:nvSpPr>
          <p:cNvPr id="17" name="Text 11"/>
          <p:cNvSpPr txBox="1"/>
          <p:nvPr/>
        </p:nvSpPr>
        <p:spPr>
          <a:xfrm>
            <a:off x="5897880" y="4142232"/>
            <a:ext cx="1508760" cy="594360"/>
          </a:xfrm>
          <a:prstGeom prst="rect">
            <a:avLst/>
          </a:prstGeom>
          <a:noFill/>
          <a:ln/>
        </p:spPr>
        <p:txBody>
          <a:bodyPr wrap="square" lIns="0" tIns="0" rIns="0" bIns="0" rtlCol="0" anchor="ctr"/>
          <a:lstStyle/>
          <a:p>
            <a:pPr indent="0" marL="0">
              <a:buNone/>
            </a:pPr>
            <a:r>
              <a:rPr lang="es-AR" altLang="en-US" sz="1600" b="1" dirty="0">
                <a:solidFill>
                  <a:schemeClr val="tx1"/>
                </a:solidFill>
              </a:rPr>
              <a:t>VMS Control Center</a:t>
            </a:r>
            <a:endParaRPr lang="es-AR" sz="1600" dirty="0"/>
          </a:p>
        </p:txBody>
      </p:sp>
      <p:sp>
        <p:nvSpPr>
          <p:cNvPr id="18" name="Text 12"/>
          <p:cNvSpPr txBox="1"/>
          <p:nvPr/>
        </p:nvSpPr>
        <p:spPr>
          <a:xfrm>
            <a:off x="5120640" y="4846320"/>
            <a:ext cx="2240280" cy="548640"/>
          </a:xfrm>
          <a:prstGeom prst="rect">
            <a:avLst/>
          </a:prstGeom>
          <a:noFill/>
          <a:ln/>
        </p:spPr>
        <p:txBody>
          <a:bodyPr wrap="square" lIns="0" tIns="0" rIns="0" bIns="0" rtlCol="0" anchor="t"/>
          <a:lstStyle/>
          <a:p>
            <a:pPr indent="0" marL="0">
              <a:buNone/>
            </a:pPr>
            <a:r>
              <a:rPr lang="es-AR" altLang="en-US" sz="1300" dirty="0">
                <a:solidFill>
                  <a:schemeClr val="accent3"/>
                </a:solidFill>
              </a:rPr>
              <a:t>Aplicación de escritorio</a:t>
            </a:r>
            <a:endParaRPr lang="es-AR" sz="1300" dirty="0"/>
          </a:p>
        </p:txBody>
      </p:sp>
      <p:sp>
        <p:nvSpPr>
          <p:cNvPr id="19" name="tarjeta-mapa-bd"/>
          <p:cNvSpPr/>
          <p:nvPr/>
        </p:nvSpPr>
        <p:spPr>
          <a:xfrm>
            <a:off x="9052560" y="3886200"/>
            <a:ext cx="2560320" cy="1600200"/>
          </a:xfrm>
          <a:prstGeom prst="roundRect">
            <a:avLst>
              <a:gd name="adj" fmla="val 6857"/>
            </a:avLst>
          </a:prstGeom>
          <a:solidFill>
            <a:schemeClr val="bg2"/>
          </a:solidFill>
          <a:ln/>
          <a:effectLst>
            <a:outerShdw sx="100000" sy="100000" kx="0" ky="0" algn="bl" rotWithShape="0" blurRad="101600" dist="25400" dir="5400000">
              <a:srgbClr val="1B2430">
                <a:alpha val="12000"/>
              </a:srgbClr>
            </a:outerShdw>
          </a:effectLst>
        </p:spPr>
      </p:sp>
      <p:sp>
        <p:nvSpPr>
          <p:cNvPr id="20" name="circulo-mapa-bd"/>
          <p:cNvSpPr/>
          <p:nvPr/>
        </p:nvSpPr>
        <p:spPr>
          <a:xfrm>
            <a:off x="9235440" y="4114800"/>
            <a:ext cx="640080" cy="640080"/>
          </a:xfrm>
          <a:prstGeom prst="ellipse">
            <a:avLst/>
          </a:prstGeom>
          <a:solidFill>
            <a:schemeClr val="accent1"/>
          </a:solidFill>
          <a:ln/>
        </p:spPr>
      </p:sp>
      <p:pic>
        <p:nvPicPr>
          <p:cNvPr id="21" name="icono-mapa-bd" descr="preencoded.png">    </p:cNvPr>
          <p:cNvPicPr>
            <a:picLocks noChangeAspect="1"/>
          </p:cNvPicPr>
          <p:nvPr/>
        </p:nvPicPr>
        <p:blipFill>
          <a:blip r:embed="rId4"/>
          <a:stretch>
            <a:fillRect/>
          </a:stretch>
        </p:blipFill>
        <p:spPr>
          <a:xfrm>
            <a:off x="9401861" y="4281221"/>
            <a:ext cx="307238" cy="307238"/>
          </a:xfrm>
          <a:prstGeom prst="rect">
            <a:avLst/>
          </a:prstGeom>
        </p:spPr>
      </p:pic>
      <p:sp>
        <p:nvSpPr>
          <p:cNvPr id="22" name="Text 15"/>
          <p:cNvSpPr txBox="1"/>
          <p:nvPr/>
        </p:nvSpPr>
        <p:spPr>
          <a:xfrm>
            <a:off x="10012680" y="4142232"/>
            <a:ext cx="1508760" cy="594360"/>
          </a:xfrm>
          <a:prstGeom prst="rect">
            <a:avLst/>
          </a:prstGeom>
          <a:noFill/>
          <a:ln/>
        </p:spPr>
        <p:txBody>
          <a:bodyPr wrap="square" lIns="0" tIns="0" rIns="0" bIns="0" rtlCol="0" anchor="ctr"/>
          <a:lstStyle/>
          <a:p>
            <a:pPr indent="0" marL="0">
              <a:buNone/>
            </a:pPr>
            <a:r>
              <a:rPr lang="es-AR" altLang="en-US" sz="1600" b="1" dirty="0">
                <a:solidFill>
                  <a:schemeClr val="tx1"/>
                </a:solidFill>
              </a:rPr>
              <a:t>Biblioteca Digital</a:t>
            </a:r>
            <a:endParaRPr lang="es-AR" sz="1600" dirty="0"/>
          </a:p>
        </p:txBody>
      </p:sp>
      <p:sp>
        <p:nvSpPr>
          <p:cNvPr id="23" name="Text 16"/>
          <p:cNvSpPr txBox="1"/>
          <p:nvPr/>
        </p:nvSpPr>
        <p:spPr>
          <a:xfrm>
            <a:off x="9235440" y="4846320"/>
            <a:ext cx="2240280" cy="548640"/>
          </a:xfrm>
          <a:prstGeom prst="rect">
            <a:avLst/>
          </a:prstGeom>
          <a:noFill/>
          <a:ln/>
        </p:spPr>
        <p:txBody>
          <a:bodyPr wrap="square" lIns="0" tIns="0" rIns="0" bIns="0" rtlCol="0" anchor="t"/>
          <a:lstStyle/>
          <a:p>
            <a:pPr indent="0" marL="0">
              <a:buNone/>
            </a:pPr>
            <a:r>
              <a:rPr lang="es-AR" altLang="en-US" sz="1300" dirty="0">
                <a:solidFill>
                  <a:schemeClr val="accent3"/>
                </a:solidFill>
              </a:rPr>
              <a:t>Web de extracciones</a:t>
            </a:r>
            <a:endParaRPr lang="es-AR" sz="1300" dirty="0"/>
          </a:p>
        </p:txBody>
      </p:sp>
      <p:sp>
        <p:nvSpPr>
          <p:cNvPr id="24" name="tarjeta-mapa-base"/>
          <p:cNvSpPr/>
          <p:nvPr/>
        </p:nvSpPr>
        <p:spPr>
          <a:xfrm>
            <a:off x="9052560" y="1325880"/>
            <a:ext cx="2560320" cy="1600200"/>
          </a:xfrm>
          <a:prstGeom prst="roundRect">
            <a:avLst>
              <a:gd name="adj" fmla="val 6857"/>
            </a:avLst>
          </a:prstGeom>
          <a:solidFill>
            <a:schemeClr val="bg2"/>
          </a:solidFill>
          <a:ln/>
          <a:effectLst>
            <a:outerShdw sx="100000" sy="100000" kx="0" ky="0" algn="bl" rotWithShape="0" blurRad="101600" dist="25400" dir="5400000">
              <a:srgbClr val="1B2430">
                <a:alpha val="12000"/>
              </a:srgbClr>
            </a:outerShdw>
          </a:effectLst>
        </p:spPr>
      </p:sp>
      <p:sp>
        <p:nvSpPr>
          <p:cNvPr id="25" name="circulo-mapa-base"/>
          <p:cNvSpPr/>
          <p:nvPr/>
        </p:nvSpPr>
        <p:spPr>
          <a:xfrm>
            <a:off x="9235440" y="1554480"/>
            <a:ext cx="640080" cy="640080"/>
          </a:xfrm>
          <a:prstGeom prst="ellipse">
            <a:avLst/>
          </a:prstGeom>
          <a:solidFill>
            <a:schemeClr val="accent6"/>
          </a:solidFill>
          <a:ln/>
        </p:spPr>
      </p:sp>
      <p:pic>
        <p:nvPicPr>
          <p:cNvPr id="26" name="icono-mapa-base" descr="preencoded.png">    </p:cNvPr>
          <p:cNvPicPr>
            <a:picLocks noChangeAspect="1"/>
          </p:cNvPicPr>
          <p:nvPr/>
        </p:nvPicPr>
        <p:blipFill>
          <a:blip r:embed="rId5"/>
          <a:stretch>
            <a:fillRect/>
          </a:stretch>
        </p:blipFill>
        <p:spPr>
          <a:xfrm>
            <a:off x="9401861" y="1720901"/>
            <a:ext cx="307238" cy="307238"/>
          </a:xfrm>
          <a:prstGeom prst="rect">
            <a:avLst/>
          </a:prstGeom>
        </p:spPr>
      </p:pic>
      <p:sp>
        <p:nvSpPr>
          <p:cNvPr id="27" name="Text 19"/>
          <p:cNvSpPr txBox="1"/>
          <p:nvPr/>
        </p:nvSpPr>
        <p:spPr>
          <a:xfrm>
            <a:off x="10012680" y="1581912"/>
            <a:ext cx="1508760" cy="594360"/>
          </a:xfrm>
          <a:prstGeom prst="rect">
            <a:avLst/>
          </a:prstGeom>
          <a:noFill/>
          <a:ln/>
        </p:spPr>
        <p:txBody>
          <a:bodyPr wrap="square" lIns="0" tIns="0" rIns="0" bIns="0" rtlCol="0" anchor="ctr"/>
          <a:lstStyle/>
          <a:p>
            <a:pPr indent="0" marL="0">
              <a:buNone/>
            </a:pPr>
            <a:r>
              <a:rPr lang="es-AR" altLang="en-US" sz="1600" b="1" dirty="0">
                <a:solidFill>
                  <a:schemeClr val="tx1"/>
                </a:solidFill>
              </a:rPr>
              <a:t>Base de ANPR</a:t>
            </a:r>
            <a:endParaRPr lang="es-AR" sz="1600" dirty="0"/>
          </a:p>
        </p:txBody>
      </p:sp>
      <p:sp>
        <p:nvSpPr>
          <p:cNvPr id="28" name="Text 20"/>
          <p:cNvSpPr txBox="1"/>
          <p:nvPr/>
        </p:nvSpPr>
        <p:spPr>
          <a:xfrm>
            <a:off x="9235440" y="2286000"/>
            <a:ext cx="2240280" cy="548640"/>
          </a:xfrm>
          <a:prstGeom prst="rect">
            <a:avLst/>
          </a:prstGeom>
          <a:noFill/>
          <a:ln/>
        </p:spPr>
        <p:txBody>
          <a:bodyPr wrap="square" lIns="0" tIns="0" rIns="0" bIns="0" rtlCol="0" anchor="t"/>
          <a:lstStyle/>
          <a:p>
            <a:pPr indent="0" marL="0">
              <a:buNone/>
            </a:pPr>
            <a:r>
              <a:rPr lang="es-AR" altLang="en-US" sz="1300" dirty="0">
                <a:solidFill>
                  <a:schemeClr val="accent3"/>
                </a:solidFill>
              </a:rPr>
              <a:t>PostgreSQL y pgAdmin</a:t>
            </a:r>
            <a:endParaRPr lang="es-AR" sz="1300" dirty="0"/>
          </a:p>
        </p:txBody>
      </p:sp>
      <p:sp>
        <p:nvSpPr>
          <p:cNvPr id="29" name="flecha-as-anpr"/>
          <p:cNvSpPr/>
          <p:nvPr/>
        </p:nvSpPr>
        <p:spPr>
          <a:xfrm flipV="1">
            <a:off x="3429000" y="1965960"/>
            <a:ext cx="1463040" cy="777240"/>
          </a:xfrm>
          <a:prstGeom prst="line">
            <a:avLst/>
          </a:prstGeom>
          <a:noFill/>
          <a:ln w="31750">
            <a:solidFill>
              <a:srgbClr val="F4A259"/>
            </a:solidFill>
            <a:prstDash val="solid"/>
            <a:tailEnd type="triangle"/>
          </a:ln>
        </p:spPr>
      </p:sp>
      <p:sp>
        <p:nvSpPr>
          <p:cNvPr id="30" name="Text 22"/>
          <p:cNvSpPr txBox="1"/>
          <p:nvPr/>
        </p:nvSpPr>
        <p:spPr>
          <a:xfrm>
            <a:off x="2514600" y="1600200"/>
            <a:ext cx="2286000" cy="548640"/>
          </a:xfrm>
          <a:prstGeom prst="rect">
            <a:avLst/>
          </a:prstGeom>
          <a:noFill/>
          <a:ln/>
        </p:spPr>
        <p:txBody>
          <a:bodyPr wrap="square" lIns="0" tIns="0" rIns="0" bIns="0" rtlCol="0" anchor="t"/>
          <a:lstStyle/>
          <a:p>
            <a:pPr algn="ctr" indent="0" marL="0">
              <a:buNone/>
            </a:pPr>
            <a:r>
              <a:rPr lang="es-AR" altLang="en-US" sz="1300" b="1" dirty="0">
                <a:solidFill>
                  <a:schemeClr val="tx1"/>
                </a:solidFill>
              </a:rPr>
              <a:t>Patentes por webhook</a:t>
            </a:r>
            <a:endParaRPr lang="es-AR" sz="1300" dirty="0"/>
          </a:p>
        </p:txBody>
      </p:sp>
      <p:sp>
        <p:nvSpPr>
          <p:cNvPr id="31" name="flecha-as-vms"/>
          <p:cNvSpPr/>
          <p:nvPr/>
        </p:nvSpPr>
        <p:spPr>
          <a:xfrm>
            <a:off x="3429000" y="3520440"/>
            <a:ext cx="1463040" cy="822960"/>
          </a:xfrm>
          <a:prstGeom prst="line">
            <a:avLst/>
          </a:prstGeom>
          <a:noFill/>
          <a:ln w="31750">
            <a:solidFill>
              <a:srgbClr val="F4A259"/>
            </a:solidFill>
            <a:prstDash val="solid"/>
            <a:tailEnd type="triangle"/>
          </a:ln>
        </p:spPr>
      </p:sp>
      <p:sp>
        <p:nvSpPr>
          <p:cNvPr id="32" name="Text 24"/>
          <p:cNvSpPr txBox="1"/>
          <p:nvPr/>
        </p:nvSpPr>
        <p:spPr>
          <a:xfrm>
            <a:off x="2514600" y="4572000"/>
            <a:ext cx="2286000" cy="548640"/>
          </a:xfrm>
          <a:prstGeom prst="rect">
            <a:avLst/>
          </a:prstGeom>
          <a:noFill/>
          <a:ln/>
        </p:spPr>
        <p:txBody>
          <a:bodyPr wrap="square" lIns="0" tIns="0" rIns="0" bIns="0" rtlCol="0" anchor="t"/>
          <a:lstStyle/>
          <a:p>
            <a:pPr algn="ctr" indent="0" marL="0">
              <a:buNone/>
            </a:pPr>
            <a:r>
              <a:rPr lang="es-AR" altLang="en-US" sz="1300" b="1" dirty="0">
                <a:solidFill>
                  <a:schemeClr val="tx1"/>
                </a:solidFill>
              </a:rPr>
              <a:t>Eventos de residuos</a:t>
            </a:r>
            <a:endParaRPr lang="es-AR" sz="1300" dirty="0"/>
          </a:p>
        </p:txBody>
      </p:sp>
      <p:sp>
        <p:nvSpPr>
          <p:cNvPr id="33" name="flecha-vms-bd"/>
          <p:cNvSpPr/>
          <p:nvPr/>
        </p:nvSpPr>
        <p:spPr>
          <a:xfrm>
            <a:off x="7543800" y="4681728"/>
            <a:ext cx="1463040" cy="0"/>
          </a:xfrm>
          <a:prstGeom prst="line">
            <a:avLst/>
          </a:prstGeom>
          <a:noFill/>
          <a:ln w="31750">
            <a:solidFill>
              <a:srgbClr val="F4A259"/>
            </a:solidFill>
            <a:prstDash val="solid"/>
            <a:tailEnd type="triangle"/>
          </a:ln>
        </p:spPr>
      </p:sp>
      <p:sp>
        <p:nvSpPr>
          <p:cNvPr id="34" name="Text 26"/>
          <p:cNvSpPr txBox="1"/>
          <p:nvPr/>
        </p:nvSpPr>
        <p:spPr>
          <a:xfrm>
            <a:off x="7360920" y="4892040"/>
            <a:ext cx="1828800" cy="548640"/>
          </a:xfrm>
          <a:prstGeom prst="rect">
            <a:avLst/>
          </a:prstGeom>
          <a:noFill/>
          <a:ln/>
        </p:spPr>
        <p:txBody>
          <a:bodyPr wrap="square" lIns="0" tIns="0" rIns="0" bIns="0" rtlCol="0" anchor="t"/>
          <a:lstStyle/>
          <a:p>
            <a:pPr algn="ctr" indent="0" marL="0">
              <a:buNone/>
            </a:pPr>
            <a:r>
              <a:rPr lang="es-AR" altLang="en-US" sz="1300" b="1" dirty="0">
                <a:solidFill>
                  <a:schemeClr val="tx1"/>
                </a:solidFill>
              </a:rPr>
              <a:t>Extracción remota</a:t>
            </a:r>
            <a:endParaRPr lang="es-AR" sz="1300" dirty="0"/>
          </a:p>
        </p:txBody>
      </p:sp>
      <p:sp>
        <p:nvSpPr>
          <p:cNvPr id="35" name="flecha-anpr-base"/>
          <p:cNvSpPr/>
          <p:nvPr/>
        </p:nvSpPr>
        <p:spPr>
          <a:xfrm>
            <a:off x="7543800" y="2121408"/>
            <a:ext cx="1463040" cy="0"/>
          </a:xfrm>
          <a:prstGeom prst="line">
            <a:avLst/>
          </a:prstGeom>
          <a:noFill/>
          <a:ln w="19050">
            <a:solidFill>
              <a:srgbClr val="6B7C85"/>
            </a:solidFill>
            <a:prstDash val="dash"/>
            <a:tailEnd type="triangle"/>
          </a:ln>
        </p:spPr>
      </p:sp>
      <p:sp>
        <p:nvSpPr>
          <p:cNvPr id="36" name="Text 28"/>
          <p:cNvSpPr txBox="1"/>
          <p:nvPr/>
        </p:nvSpPr>
        <p:spPr>
          <a:xfrm>
            <a:off x="7360920" y="1508760"/>
            <a:ext cx="1828800" cy="548640"/>
          </a:xfrm>
          <a:prstGeom prst="rect">
            <a:avLst/>
          </a:prstGeom>
          <a:noFill/>
          <a:ln/>
        </p:spPr>
        <p:txBody>
          <a:bodyPr wrap="square" lIns="0" tIns="0" rIns="0" bIns="0" rtlCol="0" anchor="t"/>
          <a:lstStyle/>
          <a:p>
            <a:pPr algn="ctr" indent="0" marL="0">
              <a:buNone/>
            </a:pPr>
            <a:r>
              <a:rPr lang="es-AR" altLang="en-US" sz="1300" dirty="0">
                <a:solidFill>
                  <a:schemeClr val="accent3"/>
                </a:solidFill>
              </a:rPr>
              <a:t>Se verifica en la base</a:t>
            </a:r>
            <a:endParaRPr lang="es-AR" sz="1300" dirty="0"/>
          </a:p>
        </p:txBody>
      </p:sp>
      <p:sp>
        <p:nvSpPr>
          <p:cNvPr id="37" name="Text 29"/>
          <p:cNvSpPr txBox="1"/>
          <p:nvPr/>
        </p:nvSpPr>
        <p:spPr>
          <a:xfrm>
            <a:off x="548640" y="5897880"/>
            <a:ext cx="11064240" cy="320040"/>
          </a:xfrm>
          <a:prstGeom prst="rect">
            <a:avLst/>
          </a:prstGeom>
          <a:noFill/>
          <a:ln/>
        </p:spPr>
        <p:txBody>
          <a:bodyPr wrap="square" lIns="0" tIns="0" rIns="0" bIns="0" rtlCol="0" anchor="t"/>
          <a:lstStyle/>
          <a:p>
            <a:pPr indent="0" marL="0">
              <a:buNone/>
            </a:pPr>
            <a:r>
              <a:rPr lang="es-AR" altLang="en-US" sz="1300" i="1" dirty="0">
                <a:solidFill>
                  <a:schemeClr val="accent3"/>
                </a:solidFill>
              </a:rPr>
              <a:t>Automatizadas con Claude Code: SSH, base de datos, escritorio de VMS y Jenkins</a:t>
            </a:r>
            <a:endParaRPr lang="es-AR" sz="13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AS → ANPR: de la cámara a la alarma atendida</a:t>
            </a:r>
            <a:endParaRPr lang="es-AR" sz="3200" dirty="0"/>
          </a:p>
        </p:txBody>
      </p:sp>
      <p:sp>
        <p:nvSpPr>
          <p:cNvPr id="4" name="caso-0"/>
          <p:cNvSpPr/>
          <p:nvPr/>
        </p:nvSpPr>
        <p:spPr>
          <a:xfrm>
            <a:off x="548640" y="1463040"/>
            <a:ext cx="2103120" cy="640080"/>
          </a:xfrm>
          <a:prstGeom prst="roundRect">
            <a:avLst>
              <a:gd name="adj" fmla="val 14286"/>
            </a:avLst>
          </a:prstGeom>
          <a:solidFill>
            <a:schemeClr val="accent1"/>
          </a:solidFill>
          <a:ln/>
        </p:spPr>
      </p:sp>
      <p:sp>
        <p:nvSpPr>
          <p:cNvPr id="5" name="Text 2"/>
          <p:cNvSpPr txBox="1"/>
          <p:nvPr/>
        </p:nvSpPr>
        <p:spPr>
          <a:xfrm>
            <a:off x="548640" y="1463040"/>
            <a:ext cx="2103120" cy="640080"/>
          </a:xfrm>
          <a:prstGeom prst="rect">
            <a:avLst/>
          </a:prstGeom>
          <a:noFill/>
          <a:ln/>
        </p:spPr>
        <p:txBody>
          <a:bodyPr wrap="square" lIns="0" tIns="0" rIns="0" bIns="0" rtlCol="0" anchor="ctr"/>
          <a:lstStyle/>
          <a:p>
            <a:pPr algn="ctr" indent="0" marL="0">
              <a:buNone/>
            </a:pPr>
            <a:r>
              <a:rPr lang="es-AR" altLang="en-US" sz="1400" b="1" dirty="0">
                <a:solidFill>
                  <a:schemeClr val="bg1"/>
                </a:solidFill>
              </a:rPr>
              <a:t>INT-ANPR-01/02</a:t>
            </a:r>
            <a:endParaRPr lang="es-AR" sz="1400" dirty="0"/>
          </a:p>
        </p:txBody>
      </p:sp>
      <p:sp>
        <p:nvSpPr>
          <p:cNvPr id="6" name="Text 3"/>
          <p:cNvSpPr txBox="1"/>
          <p:nvPr/>
        </p:nvSpPr>
        <p:spPr>
          <a:xfrm>
            <a:off x="2880360" y="1463040"/>
            <a:ext cx="4114800" cy="640080"/>
          </a:xfrm>
          <a:prstGeom prst="rect">
            <a:avLst/>
          </a:prstGeom>
          <a:noFill/>
          <a:ln/>
        </p:spPr>
        <p:txBody>
          <a:bodyPr wrap="square" lIns="0" tIns="0" rIns="0" bIns="0" rtlCol="0" anchor="ctr"/>
          <a:lstStyle/>
          <a:p>
            <a:pPr indent="0" marL="0">
              <a:buNone/>
            </a:pPr>
            <a:r>
              <a:rPr lang="es-AR" altLang="en-US" sz="1500" dirty="0">
                <a:solidFill>
                  <a:schemeClr val="tx1"/>
                </a:solidFill>
              </a:rPr>
              <a:t>Las 5 patentes llegan al widget Lista con su detalle</a:t>
            </a:r>
            <a:endParaRPr lang="es-AR" sz="1500" dirty="0"/>
          </a:p>
        </p:txBody>
      </p:sp>
      <p:sp>
        <p:nvSpPr>
          <p:cNvPr id="7" name="caso-1"/>
          <p:cNvSpPr/>
          <p:nvPr/>
        </p:nvSpPr>
        <p:spPr>
          <a:xfrm>
            <a:off x="548640" y="2331720"/>
            <a:ext cx="2103120" cy="640080"/>
          </a:xfrm>
          <a:prstGeom prst="roundRect">
            <a:avLst>
              <a:gd name="adj" fmla="val 14286"/>
            </a:avLst>
          </a:prstGeom>
          <a:solidFill>
            <a:schemeClr val="accent1"/>
          </a:solidFill>
          <a:ln/>
        </p:spPr>
      </p:sp>
      <p:sp>
        <p:nvSpPr>
          <p:cNvPr id="8" name="Text 5"/>
          <p:cNvSpPr txBox="1"/>
          <p:nvPr/>
        </p:nvSpPr>
        <p:spPr>
          <a:xfrm>
            <a:off x="548640" y="2331720"/>
            <a:ext cx="2103120" cy="640080"/>
          </a:xfrm>
          <a:prstGeom prst="rect">
            <a:avLst/>
          </a:prstGeom>
          <a:noFill/>
          <a:ln/>
        </p:spPr>
        <p:txBody>
          <a:bodyPr wrap="square" lIns="0" tIns="0" rIns="0" bIns="0" rtlCol="0" anchor="ctr"/>
          <a:lstStyle/>
          <a:p>
            <a:pPr algn="ctr" indent="0" marL="0">
              <a:buNone/>
            </a:pPr>
            <a:r>
              <a:rPr lang="es-AR" altLang="en-US" sz="1400" b="1" dirty="0">
                <a:solidFill>
                  <a:schemeClr val="bg1"/>
                </a:solidFill>
              </a:rPr>
              <a:t>INT-ALARMA-01</a:t>
            </a:r>
            <a:endParaRPr lang="es-AR" sz="1400" dirty="0"/>
          </a:p>
        </p:txBody>
      </p:sp>
      <p:sp>
        <p:nvSpPr>
          <p:cNvPr id="9" name="Text 6"/>
          <p:cNvSpPr txBox="1"/>
          <p:nvPr/>
        </p:nvSpPr>
        <p:spPr>
          <a:xfrm>
            <a:off x="2880360" y="2331720"/>
            <a:ext cx="4114800" cy="640080"/>
          </a:xfrm>
          <a:prstGeom prst="rect">
            <a:avLst/>
          </a:prstGeom>
          <a:noFill/>
          <a:ln/>
        </p:spPr>
        <p:txBody>
          <a:bodyPr wrap="square" lIns="0" tIns="0" rIns="0" bIns="0" rtlCol="0" anchor="ctr"/>
          <a:lstStyle/>
          <a:p>
            <a:pPr indent="0" marL="0">
              <a:buNone/>
            </a:pPr>
            <a:r>
              <a:rPr lang="es-AR" altLang="en-US" sz="1500" dirty="0">
                <a:solidFill>
                  <a:schemeClr val="tx1"/>
                </a:solidFill>
              </a:rPr>
              <a:t>Patentes de una lista con alarma generan alarmas Pendientes</a:t>
            </a:r>
            <a:endParaRPr lang="es-AR" sz="1500" dirty="0"/>
          </a:p>
        </p:txBody>
      </p:sp>
      <p:sp>
        <p:nvSpPr>
          <p:cNvPr id="10" name="caso-2"/>
          <p:cNvSpPr/>
          <p:nvPr/>
        </p:nvSpPr>
        <p:spPr>
          <a:xfrm>
            <a:off x="548640" y="3200400"/>
            <a:ext cx="2103120" cy="640080"/>
          </a:xfrm>
          <a:prstGeom prst="roundRect">
            <a:avLst>
              <a:gd name="adj" fmla="val 14286"/>
            </a:avLst>
          </a:prstGeom>
          <a:solidFill>
            <a:schemeClr val="accent1"/>
          </a:solidFill>
          <a:ln/>
        </p:spPr>
      </p:sp>
      <p:sp>
        <p:nvSpPr>
          <p:cNvPr id="11" name="Text 8"/>
          <p:cNvSpPr txBox="1"/>
          <p:nvPr/>
        </p:nvSpPr>
        <p:spPr>
          <a:xfrm>
            <a:off x="548640" y="3200400"/>
            <a:ext cx="2103120" cy="640080"/>
          </a:xfrm>
          <a:prstGeom prst="rect">
            <a:avLst/>
          </a:prstGeom>
          <a:noFill/>
          <a:ln/>
        </p:spPr>
        <p:txBody>
          <a:bodyPr wrap="square" lIns="0" tIns="0" rIns="0" bIns="0" rtlCol="0" anchor="ctr"/>
          <a:lstStyle/>
          <a:p>
            <a:pPr algn="ctr" indent="0" marL="0">
              <a:buNone/>
            </a:pPr>
            <a:r>
              <a:rPr lang="es-AR" altLang="en-US" sz="1400" b="1" dirty="0">
                <a:solidFill>
                  <a:schemeClr val="bg1"/>
                </a:solidFill>
              </a:rPr>
              <a:t>INT-ALARMA-02</a:t>
            </a:r>
            <a:endParaRPr lang="es-AR" sz="1400" dirty="0"/>
          </a:p>
        </p:txBody>
      </p:sp>
      <p:sp>
        <p:nvSpPr>
          <p:cNvPr id="12" name="Text 9"/>
          <p:cNvSpPr txBox="1"/>
          <p:nvPr/>
        </p:nvSpPr>
        <p:spPr>
          <a:xfrm>
            <a:off x="2880360" y="3200400"/>
            <a:ext cx="4114800" cy="640080"/>
          </a:xfrm>
          <a:prstGeom prst="rect">
            <a:avLst/>
          </a:prstGeom>
          <a:noFill/>
          <a:ln/>
        </p:spPr>
        <p:txBody>
          <a:bodyPr wrap="square" lIns="0" tIns="0" rIns="0" bIns="0" rtlCol="0" anchor="ctr"/>
          <a:lstStyle/>
          <a:p>
            <a:pPr indent="0" marL="0">
              <a:buNone/>
            </a:pPr>
            <a:r>
              <a:rPr lang="es-AR" altLang="en-US" sz="1500" dirty="0">
                <a:solidFill>
                  <a:schemeClr val="tx1"/>
                </a:solidFill>
              </a:rPr>
              <a:t>El operador las atiende y quedan Cerradas</a:t>
            </a:r>
            <a:endParaRPr lang="es-AR" sz="1500" dirty="0"/>
          </a:p>
        </p:txBody>
      </p:sp>
      <p:sp>
        <p:nvSpPr>
          <p:cNvPr id="13" name="caso-3"/>
          <p:cNvSpPr/>
          <p:nvPr/>
        </p:nvSpPr>
        <p:spPr>
          <a:xfrm>
            <a:off x="548640" y="4069080"/>
            <a:ext cx="2103120" cy="640080"/>
          </a:xfrm>
          <a:prstGeom prst="roundRect">
            <a:avLst>
              <a:gd name="adj" fmla="val 14286"/>
            </a:avLst>
          </a:prstGeom>
          <a:solidFill>
            <a:schemeClr val="accent1"/>
          </a:solidFill>
          <a:ln/>
        </p:spPr>
      </p:sp>
      <p:sp>
        <p:nvSpPr>
          <p:cNvPr id="14" name="Text 11"/>
          <p:cNvSpPr txBox="1"/>
          <p:nvPr/>
        </p:nvSpPr>
        <p:spPr>
          <a:xfrm>
            <a:off x="548640" y="4069080"/>
            <a:ext cx="2103120" cy="640080"/>
          </a:xfrm>
          <a:prstGeom prst="rect">
            <a:avLst/>
          </a:prstGeom>
          <a:noFill/>
          <a:ln/>
        </p:spPr>
        <p:txBody>
          <a:bodyPr wrap="square" lIns="0" tIns="0" rIns="0" bIns="0" rtlCol="0" anchor="ctr"/>
          <a:lstStyle/>
          <a:p>
            <a:pPr algn="ctr" indent="0" marL="0">
              <a:buNone/>
            </a:pPr>
            <a:r>
              <a:rPr lang="es-AR" altLang="en-US" sz="1400" b="1" dirty="0">
                <a:solidFill>
                  <a:schemeClr val="bg1"/>
                </a:solidFill>
              </a:rPr>
              <a:t>INT-ALARMA-03</a:t>
            </a:r>
            <a:endParaRPr lang="es-AR" sz="1400" dirty="0"/>
          </a:p>
        </p:txBody>
      </p:sp>
      <p:sp>
        <p:nvSpPr>
          <p:cNvPr id="15" name="Text 12"/>
          <p:cNvSpPr txBox="1"/>
          <p:nvPr/>
        </p:nvSpPr>
        <p:spPr>
          <a:xfrm>
            <a:off x="2880360" y="4069080"/>
            <a:ext cx="4114800" cy="640080"/>
          </a:xfrm>
          <a:prstGeom prst="rect">
            <a:avLst/>
          </a:prstGeom>
          <a:noFill/>
          <a:ln/>
        </p:spPr>
        <p:txBody>
          <a:bodyPr wrap="square" lIns="0" tIns="0" rIns="0" bIns="0" rtlCol="0" anchor="ctr"/>
          <a:lstStyle/>
          <a:p>
            <a:pPr indent="0" marL="0">
              <a:buNone/>
            </a:pPr>
            <a:r>
              <a:rPr lang="es-AR" altLang="en-US" sz="1500" dirty="0">
                <a:solidFill>
                  <a:schemeClr val="tx1"/>
                </a:solidFill>
              </a:rPr>
              <a:t>Quedan registradas en Auditoría</a:t>
            </a:r>
            <a:endParaRPr lang="es-AR" sz="1500" dirty="0"/>
          </a:p>
        </p:txBody>
      </p:sp>
      <p:sp>
        <p:nvSpPr>
          <p:cNvPr id="16" name="caso-4"/>
          <p:cNvSpPr/>
          <p:nvPr/>
        </p:nvSpPr>
        <p:spPr>
          <a:xfrm>
            <a:off x="548640" y="4937760"/>
            <a:ext cx="2103120" cy="640080"/>
          </a:xfrm>
          <a:prstGeom prst="roundRect">
            <a:avLst>
              <a:gd name="adj" fmla="val 14286"/>
            </a:avLst>
          </a:prstGeom>
          <a:solidFill>
            <a:schemeClr val="accent2"/>
          </a:solidFill>
          <a:ln/>
        </p:spPr>
      </p:sp>
      <p:sp>
        <p:nvSpPr>
          <p:cNvPr id="17" name="Text 14"/>
          <p:cNvSpPr txBox="1"/>
          <p:nvPr/>
        </p:nvSpPr>
        <p:spPr>
          <a:xfrm>
            <a:off x="548640" y="4937760"/>
            <a:ext cx="2103120" cy="640080"/>
          </a:xfrm>
          <a:prstGeom prst="rect">
            <a:avLst/>
          </a:prstGeom>
          <a:noFill/>
          <a:ln/>
        </p:spPr>
        <p:txBody>
          <a:bodyPr wrap="square" lIns="0" tIns="0" rIns="0" bIns="0" rtlCol="0" anchor="ctr"/>
          <a:lstStyle/>
          <a:p>
            <a:pPr algn="ctr" indent="0" marL="0">
              <a:buNone/>
            </a:pPr>
            <a:r>
              <a:rPr lang="es-AR" altLang="en-US" sz="1400" b="1" dirty="0">
                <a:solidFill>
                  <a:schemeClr val="bg1"/>
                </a:solidFill>
              </a:rPr>
              <a:t>INT-ALARMA-04</a:t>
            </a:r>
            <a:endParaRPr lang="es-AR" sz="1400" dirty="0"/>
          </a:p>
        </p:txBody>
      </p:sp>
      <p:sp>
        <p:nvSpPr>
          <p:cNvPr id="18" name="Text 15"/>
          <p:cNvSpPr txBox="1"/>
          <p:nvPr/>
        </p:nvSpPr>
        <p:spPr>
          <a:xfrm>
            <a:off x="2880360" y="4937760"/>
            <a:ext cx="4114800" cy="640080"/>
          </a:xfrm>
          <a:prstGeom prst="rect">
            <a:avLst/>
          </a:prstGeom>
          <a:noFill/>
          <a:ln/>
        </p:spPr>
        <p:txBody>
          <a:bodyPr wrap="square" lIns="0" tIns="0" rIns="0" bIns="0" rtlCol="0" anchor="ctr"/>
          <a:lstStyle/>
          <a:p>
            <a:pPr indent="0" marL="0">
              <a:buNone/>
            </a:pPr>
            <a:r>
              <a:rPr lang="es-AR" altLang="en-US" sz="1500" dirty="0">
                <a:solidFill>
                  <a:schemeClr val="tx1"/>
                </a:solidFill>
              </a:rPr>
              <a:t>En la base: capturas, historial y patentes dadas de baja</a:t>
            </a:r>
            <a:endParaRPr lang="es-AR" sz="1500" dirty="0"/>
          </a:p>
        </p:txBody>
      </p:sp>
      <p:sp>
        <p:nvSpPr>
          <p:cNvPr id="19" name="tarjeta-as-anpr-como"/>
          <p:cNvSpPr/>
          <p:nvPr/>
        </p:nvSpPr>
        <p:spPr>
          <a:xfrm>
            <a:off x="7406640" y="1463040"/>
            <a:ext cx="4206240" cy="4206240"/>
          </a:xfrm>
          <a:prstGeom prst="roundRect">
            <a:avLst>
              <a:gd name="adj" fmla="val 2609"/>
            </a:avLst>
          </a:prstGeom>
          <a:solidFill>
            <a:schemeClr val="bg2"/>
          </a:solidFill>
          <a:ln/>
          <a:effectLst>
            <a:outerShdw sx="100000" sy="100000" kx="0" ky="0" algn="bl" rotWithShape="0" blurRad="101600" dist="25400" dir="5400000">
              <a:srgbClr val="1B2430">
                <a:alpha val="12000"/>
              </a:srgbClr>
            </a:outerShdw>
          </a:effectLst>
        </p:spPr>
      </p:sp>
      <p:sp>
        <p:nvSpPr>
          <p:cNvPr id="20" name="Text 17"/>
          <p:cNvSpPr txBox="1"/>
          <p:nvPr/>
        </p:nvSpPr>
        <p:spPr>
          <a:xfrm>
            <a:off x="7726680" y="1691640"/>
            <a:ext cx="3657600" cy="365760"/>
          </a:xfrm>
          <a:prstGeom prst="rect">
            <a:avLst/>
          </a:prstGeom>
          <a:noFill/>
          <a:ln/>
        </p:spPr>
        <p:txBody>
          <a:bodyPr wrap="square" lIns="0" tIns="0" rIns="0" bIns="0" rtlCol="0" anchor="t"/>
          <a:lstStyle/>
          <a:p>
            <a:pPr indent="0" marL="0">
              <a:buNone/>
            </a:pPr>
            <a:r>
              <a:rPr lang="es-AR" altLang="en-US" sz="1800" b="1" dirty="0">
                <a:solidFill>
                  <a:schemeClr val="tx1"/>
                </a:solidFill>
              </a:rPr>
              <a:t>Cómo se automatiza</a:t>
            </a:r>
            <a:endParaRPr lang="es-AR" sz="1800" dirty="0"/>
          </a:p>
        </p:txBody>
      </p:sp>
      <p:sp>
        <p:nvSpPr>
          <p:cNvPr id="21" name="Text 18"/>
          <p:cNvSpPr txBox="1"/>
          <p:nvPr/>
        </p:nvSpPr>
        <p:spPr>
          <a:xfrm>
            <a:off x="7726680" y="2194560"/>
            <a:ext cx="3657600" cy="3291840"/>
          </a:xfrm>
          <a:prstGeom prst="rect">
            <a:avLst/>
          </a:prstGeom>
          <a:noFill/>
          <a:ln/>
        </p:spPr>
        <p:txBody>
          <a:bodyPr wrap="square" lIns="0" tIns="0" rIns="0" bIns="0" rtlCol="0" anchor="t"/>
          <a:lstStyle/>
          <a:p>
            <a:pPr marL="342900" indent="-342900">
              <a:spcAft>
                <a:spcPts val="800"/>
              </a:spcAft>
              <a:buSzPct val="100000"/>
              <a:buChar char="•"/>
            </a:pPr>
            <a:r>
              <a:rPr lang="es-AR" altLang="en-US" sz="1500" dirty="0">
                <a:solidFill>
                  <a:schemeClr val="tx1"/>
                </a:solidFill>
              </a:rPr>
              <a:t>SSH: instala AS con su configuración y lee sus logs</a:t>
            </a:r>
            <a:endParaRPr lang="es-AR" sz="1500" dirty="0"/>
          </a:p>
          <a:p>
            <a:pPr marL="342900" indent="-342900">
              <a:spcAft>
                <a:spcPts val="800"/>
              </a:spcAft>
              <a:buSzPct val="100000"/>
              <a:buChar char="•"/>
            </a:pPr>
            <a:r>
              <a:rPr lang="es-AR" altLang="en-US" sz="1500" dirty="0">
                <a:solidFill>
                  <a:schemeClr val="tx1"/>
                </a:solidFill>
              </a:rPr>
              <a:t>Navegador: ANPR y el video de AS lado a lado</a:t>
            </a:r>
            <a:endParaRPr lang="es-AR" sz="1500" dirty="0"/>
          </a:p>
          <a:p>
            <a:pPr marL="342900" indent="-342900">
              <a:spcAft>
                <a:spcPts val="800"/>
              </a:spcAft>
              <a:buSzPct val="100000"/>
              <a:buChar char="•"/>
            </a:pPr>
            <a:r>
              <a:rPr lang="es-AR" altLang="en-US" sz="1500" dirty="0">
                <a:solidFill>
                  <a:schemeClr val="tx1"/>
                </a:solidFill>
              </a:rPr>
              <a:t>Base de ANPR: conexión de solo lectura</a:t>
            </a:r>
            <a:endParaRPr lang="es-AR" sz="1500" dirty="0"/>
          </a:p>
          <a:p>
            <a:pPr marL="342900" indent="-342900">
              <a:spcAft>
                <a:spcPts val="800"/>
              </a:spcAft>
              <a:buSzPct val="100000"/>
              <a:buChar char="•"/>
            </a:pPr>
            <a:r>
              <a:rPr lang="es-AR" altLang="en-US" sz="1500" dirty="0">
                <a:solidFill>
                  <a:schemeClr val="tx1"/>
                </a:solidFill>
              </a:rPr>
              <a:t>pgAdmin: la misma consulta, para que se vea</a:t>
            </a:r>
            <a:endParaRPr lang="es-AR" sz="1500" dirty="0"/>
          </a:p>
          <a:p>
            <a:pPr marL="342900" indent="-342900">
              <a:spcAft>
                <a:spcPts val="800"/>
              </a:spcAft>
              <a:buSzPct val="100000"/>
              <a:buChar char="•"/>
            </a:pPr>
            <a:r>
              <a:rPr lang="es-AR" altLang="en-US" sz="1500" dirty="0">
                <a:solidFill>
                  <a:schemeClr val="tx1"/>
                </a:solidFill>
              </a:rPr>
              <a:t>Al final deja todo como estaba</a:t>
            </a:r>
            <a:endParaRPr lang="es-AR" sz="1500" dirty="0"/>
          </a:p>
        </p:txBody>
      </p:sp>
      <p:sp>
        <p:nvSpPr>
          <p:cNvPr id="22" name="Text 19"/>
          <p:cNvSpPr txBox="1"/>
          <p:nvPr/>
        </p:nvSpPr>
        <p:spPr>
          <a:xfrm>
            <a:off x="548640" y="5897880"/>
            <a:ext cx="6400800" cy="365760"/>
          </a:xfrm>
          <a:prstGeom prst="rect">
            <a:avLst/>
          </a:prstGeom>
          <a:noFill/>
          <a:ln/>
        </p:spPr>
        <p:txBody>
          <a:bodyPr wrap="square" lIns="0" tIns="0" rIns="0" bIns="0" rtlCol="0" anchor="t"/>
          <a:lstStyle/>
          <a:p>
            <a:pPr indent="0" marL="0">
              <a:buNone/>
            </a:pPr>
            <a:r>
              <a:rPr lang="es-AR" altLang="en-US" sz="1500" b="1" dirty="0">
                <a:solidFill>
                  <a:schemeClr val="accent1"/>
                </a:solidFill>
              </a:rPr>
              <a:t>6 casos · 4,5 minutos</a:t>
            </a:r>
            <a:endParaRPr lang="es-AR" sz="15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VMS → Biblioteca Digital: una app de escritorio</a:t>
            </a:r>
            <a:endParaRPr lang="es-AR" sz="3200" dirty="0"/>
          </a:p>
        </p:txBody>
      </p:sp>
      <p:sp>
        <p:nvSpPr>
          <p:cNvPr id="4" name="tarjeta-tecnica-0"/>
          <p:cNvSpPr/>
          <p:nvPr/>
        </p:nvSpPr>
        <p:spPr>
          <a:xfrm>
            <a:off x="548640" y="1463040"/>
            <a:ext cx="2606040" cy="2880360"/>
          </a:xfrm>
          <a:prstGeom prst="roundRect">
            <a:avLst>
              <a:gd name="adj" fmla="val 4211"/>
            </a:avLst>
          </a:prstGeom>
          <a:solidFill>
            <a:schemeClr val="bg2"/>
          </a:solidFill>
          <a:ln/>
          <a:effectLst>
            <a:outerShdw sx="100000" sy="100000" kx="0" ky="0" algn="bl" rotWithShape="0" blurRad="101600" dist="25400" dir="5400000">
              <a:srgbClr val="1B2430">
                <a:alpha val="12000"/>
              </a:srgbClr>
            </a:outerShdw>
          </a:effectLst>
        </p:spPr>
      </p:sp>
      <p:sp>
        <p:nvSpPr>
          <p:cNvPr id="5" name="circulo-tecnica-0"/>
          <p:cNvSpPr/>
          <p:nvPr/>
        </p:nvSpPr>
        <p:spPr>
          <a:xfrm>
            <a:off x="822960" y="1737360"/>
            <a:ext cx="777240" cy="777240"/>
          </a:xfrm>
          <a:prstGeom prst="ellipse">
            <a:avLst/>
          </a:prstGeom>
          <a:solidFill>
            <a:schemeClr val="accent1"/>
          </a:solidFill>
          <a:ln/>
        </p:spPr>
      </p:sp>
      <p:pic>
        <p:nvPicPr>
          <p:cNvPr id="6" name="icono-tecnica-0" descr="preencoded.png">    </p:cNvPr>
          <p:cNvPicPr>
            <a:picLocks noChangeAspect="1"/>
          </p:cNvPicPr>
          <p:nvPr/>
        </p:nvPicPr>
        <p:blipFill>
          <a:blip r:embed="rId1"/>
          <a:stretch>
            <a:fillRect/>
          </a:stretch>
        </p:blipFill>
        <p:spPr>
          <a:xfrm>
            <a:off x="1025042" y="1939442"/>
            <a:ext cx="373075" cy="373075"/>
          </a:xfrm>
          <a:prstGeom prst="rect">
            <a:avLst/>
          </a:prstGeom>
        </p:spPr>
      </p:pic>
      <p:sp>
        <p:nvSpPr>
          <p:cNvPr id="7" name="Text 3"/>
          <p:cNvSpPr txBox="1"/>
          <p:nvPr/>
        </p:nvSpPr>
        <p:spPr>
          <a:xfrm>
            <a:off x="822960" y="2697480"/>
            <a:ext cx="2103120" cy="411480"/>
          </a:xfrm>
          <a:prstGeom prst="rect">
            <a:avLst/>
          </a:prstGeom>
          <a:noFill/>
          <a:ln/>
        </p:spPr>
        <p:txBody>
          <a:bodyPr wrap="square" lIns="0" tIns="0" rIns="0" bIns="0" rtlCol="0" anchor="t"/>
          <a:lstStyle/>
          <a:p>
            <a:pPr indent="0" marL="0">
              <a:buNone/>
            </a:pPr>
            <a:r>
              <a:rPr lang="es-AR" altLang="en-US" sz="1700" b="1" dirty="0">
                <a:solidFill>
                  <a:schemeClr val="tx1"/>
                </a:solidFill>
              </a:rPr>
              <a:t>UI Automation</a:t>
            </a:r>
            <a:endParaRPr lang="es-AR" sz="1700" dirty="0"/>
          </a:p>
        </p:txBody>
      </p:sp>
      <p:sp>
        <p:nvSpPr>
          <p:cNvPr id="8" name="Text 4"/>
          <p:cNvSpPr txBox="1"/>
          <p:nvPr/>
        </p:nvSpPr>
        <p:spPr>
          <a:xfrm>
            <a:off x="822960" y="3154680"/>
            <a:ext cx="2103120" cy="1097280"/>
          </a:xfrm>
          <a:prstGeom prst="rect">
            <a:avLst/>
          </a:prstGeom>
          <a:noFill/>
          <a:ln/>
        </p:spPr>
        <p:txBody>
          <a:bodyPr wrap="square" lIns="0" tIns="0" rIns="0" bIns="0" rtlCol="0" anchor="t"/>
          <a:lstStyle/>
          <a:p>
            <a:pPr indent="0" marL="0">
              <a:buNone/>
            </a:pPr>
            <a:r>
              <a:rPr lang="es-AR" altLang="en-US" sz="1400" dirty="0">
                <a:solidFill>
                  <a:schemeClr val="accent3"/>
                </a:solidFill>
              </a:rPr>
              <a:t>Los controles que Windows expone: botones, campos de fecha y duración</a:t>
            </a:r>
            <a:endParaRPr lang="es-AR" sz="1400" dirty="0"/>
          </a:p>
        </p:txBody>
      </p:sp>
      <p:sp>
        <p:nvSpPr>
          <p:cNvPr id="9" name="tarjeta-tecnica-1"/>
          <p:cNvSpPr/>
          <p:nvPr/>
        </p:nvSpPr>
        <p:spPr>
          <a:xfrm>
            <a:off x="3364992" y="1463040"/>
            <a:ext cx="2606040" cy="2880360"/>
          </a:xfrm>
          <a:prstGeom prst="roundRect">
            <a:avLst>
              <a:gd name="adj" fmla="val 4211"/>
            </a:avLst>
          </a:prstGeom>
          <a:solidFill>
            <a:schemeClr val="bg2"/>
          </a:solidFill>
          <a:ln/>
          <a:effectLst>
            <a:outerShdw sx="100000" sy="100000" kx="0" ky="0" algn="bl" rotWithShape="0" blurRad="101600" dist="25400" dir="5400000">
              <a:srgbClr val="1B2430">
                <a:alpha val="12000"/>
              </a:srgbClr>
            </a:outerShdw>
          </a:effectLst>
        </p:spPr>
      </p:sp>
      <p:sp>
        <p:nvSpPr>
          <p:cNvPr id="10" name="circulo-tecnica-1"/>
          <p:cNvSpPr/>
          <p:nvPr/>
        </p:nvSpPr>
        <p:spPr>
          <a:xfrm>
            <a:off x="3639312" y="1737360"/>
            <a:ext cx="777240" cy="777240"/>
          </a:xfrm>
          <a:prstGeom prst="ellipse">
            <a:avLst/>
          </a:prstGeom>
          <a:solidFill>
            <a:schemeClr val="accent2"/>
          </a:solidFill>
          <a:ln/>
        </p:spPr>
      </p:sp>
      <p:pic>
        <p:nvPicPr>
          <p:cNvPr id="11" name="icono-tecnica-1" descr="preencoded.png">    </p:cNvPr>
          <p:cNvPicPr>
            <a:picLocks noChangeAspect="1"/>
          </p:cNvPicPr>
          <p:nvPr/>
        </p:nvPicPr>
        <p:blipFill>
          <a:blip r:embed="rId2"/>
          <a:stretch>
            <a:fillRect/>
          </a:stretch>
        </p:blipFill>
        <p:spPr>
          <a:xfrm>
            <a:off x="3841394" y="1939442"/>
            <a:ext cx="373075" cy="373075"/>
          </a:xfrm>
          <a:prstGeom prst="rect">
            <a:avLst/>
          </a:prstGeom>
        </p:spPr>
      </p:pic>
      <p:sp>
        <p:nvSpPr>
          <p:cNvPr id="12" name="Text 7"/>
          <p:cNvSpPr txBox="1"/>
          <p:nvPr/>
        </p:nvSpPr>
        <p:spPr>
          <a:xfrm>
            <a:off x="3639312" y="2697480"/>
            <a:ext cx="2103120" cy="411480"/>
          </a:xfrm>
          <a:prstGeom prst="rect">
            <a:avLst/>
          </a:prstGeom>
          <a:noFill/>
          <a:ln/>
        </p:spPr>
        <p:txBody>
          <a:bodyPr wrap="square" lIns="0" tIns="0" rIns="0" bIns="0" rtlCol="0" anchor="t"/>
          <a:lstStyle/>
          <a:p>
            <a:pPr indent="0" marL="0">
              <a:buNone/>
            </a:pPr>
            <a:r>
              <a:rPr lang="es-AR" altLang="en-US" sz="1700" b="1" dirty="0">
                <a:solidFill>
                  <a:schemeClr val="tx1"/>
                </a:solidFill>
              </a:rPr>
              <a:t>OCR de Windows</a:t>
            </a:r>
            <a:endParaRPr lang="es-AR" sz="1700" dirty="0"/>
          </a:p>
        </p:txBody>
      </p:sp>
      <p:sp>
        <p:nvSpPr>
          <p:cNvPr id="13" name="Text 8"/>
          <p:cNvSpPr txBox="1"/>
          <p:nvPr/>
        </p:nvSpPr>
        <p:spPr>
          <a:xfrm>
            <a:off x="3639312" y="3154680"/>
            <a:ext cx="2103120" cy="1097280"/>
          </a:xfrm>
          <a:prstGeom prst="rect">
            <a:avLst/>
          </a:prstGeom>
          <a:noFill/>
          <a:ln/>
        </p:spPr>
        <p:txBody>
          <a:bodyPr wrap="square" lIns="0" tIns="0" rIns="0" bIns="0" rtlCol="0" anchor="t"/>
          <a:lstStyle/>
          <a:p>
            <a:pPr indent="0" marL="0">
              <a:buNone/>
            </a:pPr>
            <a:r>
              <a:rPr lang="es-AR" altLang="en-US" sz="1400" dirty="0">
                <a:solidFill>
                  <a:schemeClr val="accent3"/>
                </a:solidFill>
              </a:rPr>
              <a:t>Lee la pantalla para encontrar el menú, el árbol de cámaras y los eventos</a:t>
            </a:r>
            <a:endParaRPr lang="es-AR" sz="1400" dirty="0"/>
          </a:p>
        </p:txBody>
      </p:sp>
      <p:sp>
        <p:nvSpPr>
          <p:cNvPr id="14" name="tarjeta-tecnica-2"/>
          <p:cNvSpPr/>
          <p:nvPr/>
        </p:nvSpPr>
        <p:spPr>
          <a:xfrm>
            <a:off x="6181344" y="1463040"/>
            <a:ext cx="2606040" cy="2880360"/>
          </a:xfrm>
          <a:prstGeom prst="roundRect">
            <a:avLst>
              <a:gd name="adj" fmla="val 4211"/>
            </a:avLst>
          </a:prstGeom>
          <a:solidFill>
            <a:schemeClr val="bg2"/>
          </a:solidFill>
          <a:ln/>
          <a:effectLst>
            <a:outerShdw sx="100000" sy="100000" kx="0" ky="0" algn="bl" rotWithShape="0" blurRad="101600" dist="25400" dir="5400000">
              <a:srgbClr val="1B2430">
                <a:alpha val="12000"/>
              </a:srgbClr>
            </a:outerShdw>
          </a:effectLst>
        </p:spPr>
      </p:sp>
      <p:sp>
        <p:nvSpPr>
          <p:cNvPr id="15" name="circulo-tecnica-2"/>
          <p:cNvSpPr/>
          <p:nvPr/>
        </p:nvSpPr>
        <p:spPr>
          <a:xfrm>
            <a:off x="6455664" y="1737360"/>
            <a:ext cx="777240" cy="777240"/>
          </a:xfrm>
          <a:prstGeom prst="ellipse">
            <a:avLst/>
          </a:prstGeom>
          <a:solidFill>
            <a:schemeClr val="accent1"/>
          </a:solidFill>
          <a:ln/>
        </p:spPr>
      </p:sp>
      <p:pic>
        <p:nvPicPr>
          <p:cNvPr id="16" name="icono-tecnica-2" descr="preencoded.png">    </p:cNvPr>
          <p:cNvPicPr>
            <a:picLocks noChangeAspect="1"/>
          </p:cNvPicPr>
          <p:nvPr/>
        </p:nvPicPr>
        <p:blipFill>
          <a:blip r:embed="rId3"/>
          <a:stretch>
            <a:fillRect/>
          </a:stretch>
        </p:blipFill>
        <p:spPr>
          <a:xfrm>
            <a:off x="6657746" y="1939442"/>
            <a:ext cx="373075" cy="373075"/>
          </a:xfrm>
          <a:prstGeom prst="rect">
            <a:avLst/>
          </a:prstGeom>
        </p:spPr>
      </p:pic>
      <p:sp>
        <p:nvSpPr>
          <p:cNvPr id="17" name="Text 11"/>
          <p:cNvSpPr txBox="1"/>
          <p:nvPr/>
        </p:nvSpPr>
        <p:spPr>
          <a:xfrm>
            <a:off x="6455664" y="2697480"/>
            <a:ext cx="2103120" cy="411480"/>
          </a:xfrm>
          <a:prstGeom prst="rect">
            <a:avLst/>
          </a:prstGeom>
          <a:noFill/>
          <a:ln/>
        </p:spPr>
        <p:txBody>
          <a:bodyPr wrap="square" lIns="0" tIns="0" rIns="0" bIns="0" rtlCol="0" anchor="t"/>
          <a:lstStyle/>
          <a:p>
            <a:pPr indent="0" marL="0">
              <a:buNone/>
            </a:pPr>
            <a:r>
              <a:rPr lang="es-AR" altLang="en-US" sz="1700" b="1" dirty="0">
                <a:solidFill>
                  <a:schemeClr val="tx1"/>
                </a:solidFill>
              </a:rPr>
              <a:t>Mouse y teclado reales</a:t>
            </a:r>
            <a:endParaRPr lang="es-AR" sz="1700" dirty="0"/>
          </a:p>
        </p:txBody>
      </p:sp>
      <p:sp>
        <p:nvSpPr>
          <p:cNvPr id="18" name="Text 12"/>
          <p:cNvSpPr txBox="1"/>
          <p:nvPr/>
        </p:nvSpPr>
        <p:spPr>
          <a:xfrm>
            <a:off x="6455664" y="3154680"/>
            <a:ext cx="2103120" cy="1097280"/>
          </a:xfrm>
          <a:prstGeom prst="rect">
            <a:avLst/>
          </a:prstGeom>
          <a:noFill/>
          <a:ln/>
        </p:spPr>
        <p:txBody>
          <a:bodyPr wrap="square" lIns="0" tIns="0" rIns="0" bIns="0" rtlCol="0" anchor="t"/>
          <a:lstStyle/>
          <a:p>
            <a:pPr indent="0" marL="0">
              <a:buNone/>
            </a:pPr>
            <a:r>
              <a:rPr lang="es-AR" altLang="en-US" sz="1400" dirty="0">
                <a:solidFill>
                  <a:schemeClr val="accent3"/>
                </a:solidFill>
              </a:rPr>
              <a:t>Clics y tipeo como una persona donde no alcanza lo anterior</a:t>
            </a:r>
            <a:endParaRPr lang="es-AR" sz="1400" dirty="0"/>
          </a:p>
        </p:txBody>
      </p:sp>
      <p:sp>
        <p:nvSpPr>
          <p:cNvPr id="19" name="tarjeta-tecnica-3"/>
          <p:cNvSpPr/>
          <p:nvPr/>
        </p:nvSpPr>
        <p:spPr>
          <a:xfrm>
            <a:off x="8997696" y="1463040"/>
            <a:ext cx="2606040" cy="2880360"/>
          </a:xfrm>
          <a:prstGeom prst="roundRect">
            <a:avLst>
              <a:gd name="adj" fmla="val 4211"/>
            </a:avLst>
          </a:prstGeom>
          <a:solidFill>
            <a:schemeClr val="bg2"/>
          </a:solidFill>
          <a:ln/>
          <a:effectLst>
            <a:outerShdw sx="100000" sy="100000" kx="0" ky="0" algn="bl" rotWithShape="0" blurRad="101600" dist="25400" dir="5400000">
              <a:srgbClr val="1B2430">
                <a:alpha val="12000"/>
              </a:srgbClr>
            </a:outerShdw>
          </a:effectLst>
        </p:spPr>
      </p:sp>
      <p:sp>
        <p:nvSpPr>
          <p:cNvPr id="20" name="circulo-tecnica-3"/>
          <p:cNvSpPr/>
          <p:nvPr/>
        </p:nvSpPr>
        <p:spPr>
          <a:xfrm>
            <a:off x="9272016" y="1737360"/>
            <a:ext cx="777240" cy="777240"/>
          </a:xfrm>
          <a:prstGeom prst="ellipse">
            <a:avLst/>
          </a:prstGeom>
          <a:solidFill>
            <a:schemeClr val="accent2"/>
          </a:solidFill>
          <a:ln/>
        </p:spPr>
      </p:sp>
      <p:pic>
        <p:nvPicPr>
          <p:cNvPr id="21" name="icono-tecnica-3" descr="preencoded.png">    </p:cNvPr>
          <p:cNvPicPr>
            <a:picLocks noChangeAspect="1"/>
          </p:cNvPicPr>
          <p:nvPr/>
        </p:nvPicPr>
        <p:blipFill>
          <a:blip r:embed="rId4"/>
          <a:stretch>
            <a:fillRect/>
          </a:stretch>
        </p:blipFill>
        <p:spPr>
          <a:xfrm>
            <a:off x="9474098" y="1939442"/>
            <a:ext cx="373075" cy="373075"/>
          </a:xfrm>
          <a:prstGeom prst="rect">
            <a:avLst/>
          </a:prstGeom>
        </p:spPr>
      </p:pic>
      <p:sp>
        <p:nvSpPr>
          <p:cNvPr id="22" name="Text 15"/>
          <p:cNvSpPr txBox="1"/>
          <p:nvPr/>
        </p:nvSpPr>
        <p:spPr>
          <a:xfrm>
            <a:off x="9272016" y="2697480"/>
            <a:ext cx="2103120" cy="411480"/>
          </a:xfrm>
          <a:prstGeom prst="rect">
            <a:avLst/>
          </a:prstGeom>
          <a:noFill/>
          <a:ln/>
        </p:spPr>
        <p:txBody>
          <a:bodyPr wrap="square" lIns="0" tIns="0" rIns="0" bIns="0" rtlCol="0" anchor="t"/>
          <a:lstStyle/>
          <a:p>
            <a:pPr indent="0" marL="0">
              <a:buNone/>
            </a:pPr>
            <a:r>
              <a:rPr lang="es-AR" altLang="en-US" sz="1700" b="1" dirty="0">
                <a:solidFill>
                  <a:schemeClr val="tx1"/>
                </a:solidFill>
              </a:rPr>
              <a:t>Formulario web</a:t>
            </a:r>
            <a:endParaRPr lang="es-AR" sz="1700" dirty="0"/>
          </a:p>
        </p:txBody>
      </p:sp>
      <p:sp>
        <p:nvSpPr>
          <p:cNvPr id="23" name="Text 16"/>
          <p:cNvSpPr txBox="1"/>
          <p:nvPr/>
        </p:nvSpPr>
        <p:spPr>
          <a:xfrm>
            <a:off x="9272016" y="3154680"/>
            <a:ext cx="2103120" cy="1097280"/>
          </a:xfrm>
          <a:prstGeom prst="rect">
            <a:avLst/>
          </a:prstGeom>
          <a:noFill/>
          <a:ln/>
        </p:spPr>
        <p:txBody>
          <a:bodyPr wrap="square" lIns="0" tIns="0" rIns="0" bIns="0" rtlCol="0" anchor="t"/>
          <a:lstStyle/>
          <a:p>
            <a:pPr indent="0" marL="0">
              <a:buNone/>
            </a:pPr>
            <a:r>
              <a:rPr lang="es-AR" altLang="en-US" sz="1400" dirty="0">
                <a:solidFill>
                  <a:schemeClr val="accent3"/>
                </a:solidFill>
              </a:rPr>
              <a:t>Información adicional: Chromium embebido sin accesibilidad, por posición</a:t>
            </a:r>
            <a:endParaRPr lang="es-AR" sz="1400" dirty="0"/>
          </a:p>
        </p:txBody>
      </p:sp>
      <p:sp>
        <p:nvSpPr>
          <p:cNvPr id="24" name="Text 17"/>
          <p:cNvSpPr txBox="1"/>
          <p:nvPr/>
        </p:nvSpPr>
        <p:spPr>
          <a:xfrm>
            <a:off x="548640" y="4617720"/>
            <a:ext cx="3657600" cy="365760"/>
          </a:xfrm>
          <a:prstGeom prst="rect">
            <a:avLst/>
          </a:prstGeom>
          <a:noFill/>
          <a:ln/>
        </p:spPr>
        <p:txBody>
          <a:bodyPr wrap="square" lIns="0" tIns="0" rIns="0" bIns="0" rtlCol="0" anchor="t"/>
          <a:lstStyle/>
          <a:p>
            <a:pPr indent="0" marL="0">
              <a:buNone/>
            </a:pPr>
            <a:r>
              <a:rPr lang="es-AR" altLang="en-US" sz="1700" b="1" dirty="0">
                <a:solidFill>
                  <a:schemeClr val="tx1"/>
                </a:solidFill>
              </a:rPr>
              <a:t>El circuito</a:t>
            </a:r>
            <a:endParaRPr lang="es-AR" sz="1700" dirty="0"/>
          </a:p>
        </p:txBody>
      </p:sp>
      <p:sp>
        <p:nvSpPr>
          <p:cNvPr id="25" name="Text 18"/>
          <p:cNvSpPr txBox="1"/>
          <p:nvPr/>
        </p:nvSpPr>
        <p:spPr>
          <a:xfrm>
            <a:off x="548640" y="5029200"/>
            <a:ext cx="11064240" cy="822960"/>
          </a:xfrm>
          <a:prstGeom prst="rect">
            <a:avLst/>
          </a:prstGeom>
          <a:noFill/>
          <a:ln/>
        </p:spPr>
        <p:txBody>
          <a:bodyPr wrap="square" lIns="0" tIns="0" rIns="0" bIns="0" rtlCol="0" anchor="t"/>
          <a:lstStyle/>
          <a:p>
            <a:pPr indent="0" marL="0">
              <a:buNone/>
            </a:pPr>
            <a:r>
              <a:rPr lang="es-AR" altLang="en-US" sz="1600" dirty="0">
                <a:solidFill>
                  <a:schemeClr val="tx1"/>
                </a:solidFill>
              </a:rPr>
              <a:t>Extracción remota de una cámara desde el módulo Extracciones → Control Center confirma → Biblioteca Digital crea el proyecto → pasa a Finalizado con la cámara y su video</a:t>
            </a:r>
            <a:endParaRPr lang="es-AR" sz="16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AS → VMS: eventos de residuos en Control Center</a:t>
            </a:r>
            <a:endParaRPr lang="es-AR" sz="3200" dirty="0"/>
          </a:p>
        </p:txBody>
      </p:sp>
      <p:sp>
        <p:nvSpPr>
          <p:cNvPr id="4" name="linea-tiempo"/>
          <p:cNvSpPr/>
          <p:nvPr/>
        </p:nvSpPr>
        <p:spPr>
          <a:xfrm>
            <a:off x="1097280" y="2148840"/>
            <a:ext cx="9966960" cy="0"/>
          </a:xfrm>
          <a:prstGeom prst="line">
            <a:avLst/>
          </a:prstGeom>
          <a:noFill/>
          <a:ln w="76200">
            <a:solidFill>
              <a:srgbClr val="EEF4F3"/>
            </a:solidFill>
            <a:prstDash val="solid"/>
          </a:ln>
        </p:spPr>
      </p:sp>
      <p:sp>
        <p:nvSpPr>
          <p:cNvPr id="5" name="circulo-res-0"/>
          <p:cNvSpPr/>
          <p:nvPr/>
        </p:nvSpPr>
        <p:spPr>
          <a:xfrm>
            <a:off x="1097280" y="1737360"/>
            <a:ext cx="822960" cy="822960"/>
          </a:xfrm>
          <a:prstGeom prst="ellipse">
            <a:avLst/>
          </a:prstGeom>
          <a:solidFill>
            <a:schemeClr val="accent1"/>
          </a:solidFill>
          <a:ln/>
        </p:spPr>
      </p:sp>
      <p:pic>
        <p:nvPicPr>
          <p:cNvPr id="6" name="icono-res-0" descr="preencoded.png">    </p:cNvPr>
          <p:cNvPicPr>
            <a:picLocks noChangeAspect="1"/>
          </p:cNvPicPr>
          <p:nvPr/>
        </p:nvPicPr>
        <p:blipFill>
          <a:blip r:embed="rId1"/>
          <a:stretch>
            <a:fillRect/>
          </a:stretch>
        </p:blipFill>
        <p:spPr>
          <a:xfrm>
            <a:off x="1311250" y="1951330"/>
            <a:ext cx="395021" cy="395021"/>
          </a:xfrm>
          <a:prstGeom prst="rect">
            <a:avLst/>
          </a:prstGeom>
        </p:spPr>
      </p:pic>
      <p:sp>
        <p:nvSpPr>
          <p:cNvPr id="7" name="Text 3"/>
          <p:cNvSpPr txBox="1"/>
          <p:nvPr/>
        </p:nvSpPr>
        <p:spPr>
          <a:xfrm>
            <a:off x="548640" y="2743200"/>
            <a:ext cx="2011680" cy="365760"/>
          </a:xfrm>
          <a:prstGeom prst="rect">
            <a:avLst/>
          </a:prstGeom>
          <a:noFill/>
          <a:ln/>
        </p:spPr>
        <p:txBody>
          <a:bodyPr wrap="square" lIns="0" tIns="0" rIns="0" bIns="0" rtlCol="0" anchor="t"/>
          <a:lstStyle/>
          <a:p>
            <a:pPr algn="ctr" indent="0" marL="0">
              <a:buNone/>
            </a:pPr>
            <a:r>
              <a:rPr lang="es-AR" altLang="en-US" sz="1600" b="1" dirty="0">
                <a:solidFill>
                  <a:schemeClr val="tx1"/>
                </a:solidFill>
              </a:rPr>
              <a:t>Programa</a:t>
            </a:r>
            <a:endParaRPr lang="es-AR" sz="1600" dirty="0"/>
          </a:p>
        </p:txBody>
      </p:sp>
      <p:sp>
        <p:nvSpPr>
          <p:cNvPr id="8" name="Text 4"/>
          <p:cNvSpPr txBox="1"/>
          <p:nvPr/>
        </p:nvSpPr>
        <p:spPr>
          <a:xfrm>
            <a:off x="548640" y="3154680"/>
            <a:ext cx="2011680" cy="1188720"/>
          </a:xfrm>
          <a:prstGeom prst="rect">
            <a:avLst/>
          </a:prstGeom>
          <a:noFill/>
          <a:ln/>
        </p:spPr>
        <p:txBody>
          <a:bodyPr wrap="square" lIns="0" tIns="0" rIns="0" bIns="0" rtlCol="0" anchor="t"/>
          <a:lstStyle/>
          <a:p>
            <a:pPr algn="ctr" indent="0" marL="0">
              <a:buNone/>
            </a:pPr>
            <a:r>
              <a:rPr lang="es-AR" altLang="en-US" sz="1400" dirty="0">
                <a:solidFill>
                  <a:schemeClr val="accent3"/>
                </a:solidFill>
              </a:rPr>
              <a:t>Por SSH: horarios en el JSON, cada 30 s desde la hora del servidor</a:t>
            </a:r>
            <a:endParaRPr lang="es-AR" sz="1400" dirty="0"/>
          </a:p>
        </p:txBody>
      </p:sp>
      <p:sp>
        <p:nvSpPr>
          <p:cNvPr id="9" name="circulo-res-1"/>
          <p:cNvSpPr/>
          <p:nvPr/>
        </p:nvSpPr>
        <p:spPr>
          <a:xfrm>
            <a:off x="3364992" y="1737360"/>
            <a:ext cx="822960" cy="822960"/>
          </a:xfrm>
          <a:prstGeom prst="ellipse">
            <a:avLst/>
          </a:prstGeom>
          <a:solidFill>
            <a:schemeClr val="accent1"/>
          </a:solidFill>
          <a:ln/>
        </p:spPr>
      </p:sp>
      <p:pic>
        <p:nvPicPr>
          <p:cNvPr id="10" name="icono-res-1" descr="preencoded.png">    </p:cNvPr>
          <p:cNvPicPr>
            <a:picLocks noChangeAspect="1"/>
          </p:cNvPicPr>
          <p:nvPr/>
        </p:nvPicPr>
        <p:blipFill>
          <a:blip r:embed="rId2"/>
          <a:stretch>
            <a:fillRect/>
          </a:stretch>
        </p:blipFill>
        <p:spPr>
          <a:xfrm>
            <a:off x="3578962" y="1951330"/>
            <a:ext cx="395021" cy="395021"/>
          </a:xfrm>
          <a:prstGeom prst="rect">
            <a:avLst/>
          </a:prstGeom>
        </p:spPr>
      </p:pic>
      <p:sp>
        <p:nvSpPr>
          <p:cNvPr id="11" name="Text 6"/>
          <p:cNvSpPr txBox="1"/>
          <p:nvPr/>
        </p:nvSpPr>
        <p:spPr>
          <a:xfrm>
            <a:off x="2816352" y="2743200"/>
            <a:ext cx="2011680" cy="365760"/>
          </a:xfrm>
          <a:prstGeom prst="rect">
            <a:avLst/>
          </a:prstGeom>
          <a:noFill/>
          <a:ln/>
        </p:spPr>
        <p:txBody>
          <a:bodyPr wrap="square" lIns="0" tIns="0" rIns="0" bIns="0" rtlCol="0" anchor="t"/>
          <a:lstStyle/>
          <a:p>
            <a:pPr algn="ctr" indent="0" marL="0">
              <a:buNone/>
            </a:pPr>
            <a:r>
              <a:rPr lang="es-AR" altLang="en-US" sz="1600" b="1" dirty="0">
                <a:solidFill>
                  <a:schemeClr val="tx1"/>
                </a:solidFill>
              </a:rPr>
              <a:t>Instala AS</a:t>
            </a:r>
            <a:endParaRPr lang="es-AR" sz="1600" dirty="0"/>
          </a:p>
        </p:txBody>
      </p:sp>
      <p:sp>
        <p:nvSpPr>
          <p:cNvPr id="12" name="Text 7"/>
          <p:cNvSpPr txBox="1"/>
          <p:nvPr/>
        </p:nvSpPr>
        <p:spPr>
          <a:xfrm>
            <a:off x="2816352" y="3154680"/>
            <a:ext cx="2011680" cy="1188720"/>
          </a:xfrm>
          <a:prstGeom prst="rect">
            <a:avLst/>
          </a:prstGeom>
          <a:noFill/>
          <a:ln/>
        </p:spPr>
        <p:txBody>
          <a:bodyPr wrap="square" lIns="0" tIns="0" rIns="0" bIns="0" rtlCol="0" anchor="t"/>
          <a:lstStyle/>
          <a:p>
            <a:pPr algn="ctr" indent="0" marL="0">
              <a:buNone/>
            </a:pPr>
            <a:r>
              <a:rPr lang="es-AR" altLang="en-US" sz="1400" dirty="0">
                <a:solidFill>
                  <a:schemeClr val="accent3"/>
                </a:solidFill>
              </a:rPr>
              <a:t>installer2.4-rc1.sh con la configuración de residuos</a:t>
            </a:r>
            <a:endParaRPr lang="es-AR" sz="1400" dirty="0"/>
          </a:p>
        </p:txBody>
      </p:sp>
      <p:sp>
        <p:nvSpPr>
          <p:cNvPr id="13" name="circulo-res-2"/>
          <p:cNvSpPr/>
          <p:nvPr/>
        </p:nvSpPr>
        <p:spPr>
          <a:xfrm>
            <a:off x="5632704" y="1737360"/>
            <a:ext cx="822960" cy="822960"/>
          </a:xfrm>
          <a:prstGeom prst="ellipse">
            <a:avLst/>
          </a:prstGeom>
          <a:solidFill>
            <a:schemeClr val="accent1"/>
          </a:solidFill>
          <a:ln/>
        </p:spPr>
      </p:sp>
      <p:pic>
        <p:nvPicPr>
          <p:cNvPr id="14" name="icono-res-2" descr="preencoded.png">    </p:cNvPr>
          <p:cNvPicPr>
            <a:picLocks noChangeAspect="1"/>
          </p:cNvPicPr>
          <p:nvPr/>
        </p:nvPicPr>
        <p:blipFill>
          <a:blip r:embed="rId3"/>
          <a:stretch>
            <a:fillRect/>
          </a:stretch>
        </p:blipFill>
        <p:spPr>
          <a:xfrm>
            <a:off x="5846674" y="1951330"/>
            <a:ext cx="395021" cy="395021"/>
          </a:xfrm>
          <a:prstGeom prst="rect">
            <a:avLst/>
          </a:prstGeom>
        </p:spPr>
      </p:pic>
      <p:sp>
        <p:nvSpPr>
          <p:cNvPr id="15" name="Text 9"/>
          <p:cNvSpPr txBox="1"/>
          <p:nvPr/>
        </p:nvSpPr>
        <p:spPr>
          <a:xfrm>
            <a:off x="5084064" y="2743200"/>
            <a:ext cx="2011680" cy="365760"/>
          </a:xfrm>
          <a:prstGeom prst="rect">
            <a:avLst/>
          </a:prstGeom>
          <a:noFill/>
          <a:ln/>
        </p:spPr>
        <p:txBody>
          <a:bodyPr wrap="square" lIns="0" tIns="0" rIns="0" bIns="0" rtlCol="0" anchor="t"/>
          <a:lstStyle/>
          <a:p>
            <a:pPr algn="ctr" indent="0" marL="0">
              <a:buNone/>
            </a:pPr>
            <a:r>
              <a:rPr lang="es-AR" altLang="en-US" sz="1600" b="1" dirty="0">
                <a:solidFill>
                  <a:schemeClr val="tx1"/>
                </a:solidFill>
              </a:rPr>
              <a:t>Llega el evento</a:t>
            </a:r>
            <a:endParaRPr lang="es-AR" sz="1600" dirty="0"/>
          </a:p>
        </p:txBody>
      </p:sp>
      <p:sp>
        <p:nvSpPr>
          <p:cNvPr id="16" name="Text 10"/>
          <p:cNvSpPr txBox="1"/>
          <p:nvPr/>
        </p:nvSpPr>
        <p:spPr>
          <a:xfrm>
            <a:off x="5084064" y="3154680"/>
            <a:ext cx="2011680" cy="1188720"/>
          </a:xfrm>
          <a:prstGeom prst="rect">
            <a:avLst/>
          </a:prstGeom>
          <a:noFill/>
          <a:ln/>
        </p:spPr>
        <p:txBody>
          <a:bodyPr wrap="square" lIns="0" tIns="0" rIns="0" bIns="0" rtlCol="0" anchor="t"/>
          <a:lstStyle/>
          <a:p>
            <a:pPr algn="ctr" indent="0" marL="0">
              <a:buNone/>
            </a:pPr>
            <a:r>
              <a:rPr lang="es-AR" altLang="en-US" sz="1400" dirty="0">
                <a:solidFill>
                  <a:schemeClr val="accent3"/>
                </a:solidFill>
              </a:rPr>
              <a:t>"Desborde de residuos detectado" en el panel de Eventos</a:t>
            </a:r>
            <a:endParaRPr lang="es-AR" sz="1400" dirty="0"/>
          </a:p>
        </p:txBody>
      </p:sp>
      <p:sp>
        <p:nvSpPr>
          <p:cNvPr id="17" name="circulo-res-3"/>
          <p:cNvSpPr/>
          <p:nvPr/>
        </p:nvSpPr>
        <p:spPr>
          <a:xfrm>
            <a:off x="7900416" y="1737360"/>
            <a:ext cx="822960" cy="822960"/>
          </a:xfrm>
          <a:prstGeom prst="ellipse">
            <a:avLst/>
          </a:prstGeom>
          <a:solidFill>
            <a:schemeClr val="accent2"/>
          </a:solidFill>
          <a:ln/>
        </p:spPr>
      </p:sp>
      <p:pic>
        <p:nvPicPr>
          <p:cNvPr id="18" name="icono-res-3" descr="preencoded.png">    </p:cNvPr>
          <p:cNvPicPr>
            <a:picLocks noChangeAspect="1"/>
          </p:cNvPicPr>
          <p:nvPr/>
        </p:nvPicPr>
        <p:blipFill>
          <a:blip r:embed="rId4"/>
          <a:stretch>
            <a:fillRect/>
          </a:stretch>
        </p:blipFill>
        <p:spPr>
          <a:xfrm>
            <a:off x="8114386" y="1951330"/>
            <a:ext cx="395021" cy="395021"/>
          </a:xfrm>
          <a:prstGeom prst="rect">
            <a:avLst/>
          </a:prstGeom>
        </p:spPr>
      </p:pic>
      <p:sp>
        <p:nvSpPr>
          <p:cNvPr id="19" name="Text 12"/>
          <p:cNvSpPr txBox="1"/>
          <p:nvPr/>
        </p:nvSpPr>
        <p:spPr>
          <a:xfrm>
            <a:off x="7351776" y="2743200"/>
            <a:ext cx="2011680" cy="365760"/>
          </a:xfrm>
          <a:prstGeom prst="rect">
            <a:avLst/>
          </a:prstGeom>
          <a:noFill/>
          <a:ln/>
        </p:spPr>
        <p:txBody>
          <a:bodyPr wrap="square" lIns="0" tIns="0" rIns="0" bIns="0" rtlCol="0" anchor="t"/>
          <a:lstStyle/>
          <a:p>
            <a:pPr algn="ctr" indent="0" marL="0">
              <a:buNone/>
            </a:pPr>
            <a:r>
              <a:rPr lang="es-AR" altLang="en-US" sz="1600" b="1" dirty="0">
                <a:solidFill>
                  <a:schemeClr val="tx1"/>
                </a:solidFill>
              </a:rPr>
              <a:t>Abre el modal</a:t>
            </a:r>
            <a:endParaRPr lang="es-AR" sz="1600" dirty="0"/>
          </a:p>
        </p:txBody>
      </p:sp>
      <p:sp>
        <p:nvSpPr>
          <p:cNvPr id="20" name="Text 13"/>
          <p:cNvSpPr txBox="1"/>
          <p:nvPr/>
        </p:nvSpPr>
        <p:spPr>
          <a:xfrm>
            <a:off x="7351776" y="3154680"/>
            <a:ext cx="2011680" cy="1188720"/>
          </a:xfrm>
          <a:prstGeom prst="rect">
            <a:avLst/>
          </a:prstGeom>
          <a:noFill/>
          <a:ln/>
        </p:spPr>
        <p:txBody>
          <a:bodyPr wrap="square" lIns="0" tIns="0" rIns="0" bIns="0" rtlCol="0" anchor="t"/>
          <a:lstStyle/>
          <a:p>
            <a:pPr algn="ctr" indent="0" marL="0">
              <a:buNone/>
            </a:pPr>
            <a:r>
              <a:rPr lang="es-AR" altLang="en-US" sz="1400" dirty="0">
                <a:solidFill>
                  <a:schemeClr val="accent3"/>
                </a:solidFill>
              </a:rPr>
              <a:t>Información del evento: foto, fuente, tipo y descripción</a:t>
            </a:r>
            <a:endParaRPr lang="es-AR" sz="1400" dirty="0"/>
          </a:p>
        </p:txBody>
      </p:sp>
      <p:sp>
        <p:nvSpPr>
          <p:cNvPr id="21" name="circulo-res-4"/>
          <p:cNvSpPr/>
          <p:nvPr/>
        </p:nvSpPr>
        <p:spPr>
          <a:xfrm>
            <a:off x="10168128" y="1737360"/>
            <a:ext cx="822960" cy="822960"/>
          </a:xfrm>
          <a:prstGeom prst="ellipse">
            <a:avLst/>
          </a:prstGeom>
          <a:solidFill>
            <a:schemeClr val="accent1"/>
          </a:solidFill>
          <a:ln/>
        </p:spPr>
      </p:sp>
      <p:pic>
        <p:nvPicPr>
          <p:cNvPr id="22" name="icono-res-4" descr="preencoded.png">    </p:cNvPr>
          <p:cNvPicPr>
            <a:picLocks noChangeAspect="1"/>
          </p:cNvPicPr>
          <p:nvPr/>
        </p:nvPicPr>
        <p:blipFill>
          <a:blip r:embed="rId5"/>
          <a:stretch>
            <a:fillRect/>
          </a:stretch>
        </p:blipFill>
        <p:spPr>
          <a:xfrm>
            <a:off x="10382098" y="1951330"/>
            <a:ext cx="395021" cy="395021"/>
          </a:xfrm>
          <a:prstGeom prst="rect">
            <a:avLst/>
          </a:prstGeom>
        </p:spPr>
      </p:pic>
      <p:sp>
        <p:nvSpPr>
          <p:cNvPr id="23" name="Text 15"/>
          <p:cNvSpPr txBox="1"/>
          <p:nvPr/>
        </p:nvSpPr>
        <p:spPr>
          <a:xfrm>
            <a:off x="9619488" y="2743200"/>
            <a:ext cx="2011680" cy="365760"/>
          </a:xfrm>
          <a:prstGeom prst="rect">
            <a:avLst/>
          </a:prstGeom>
          <a:noFill/>
          <a:ln/>
        </p:spPr>
        <p:txBody>
          <a:bodyPr wrap="square" lIns="0" tIns="0" rIns="0" bIns="0" rtlCol="0" anchor="t"/>
          <a:lstStyle/>
          <a:p>
            <a:pPr algn="ctr" indent="0" marL="0">
              <a:buNone/>
            </a:pPr>
            <a:r>
              <a:rPr lang="es-AR" altLang="en-US" sz="1600" b="1" dirty="0">
                <a:solidFill>
                  <a:schemeClr val="tx1"/>
                </a:solidFill>
              </a:rPr>
              <a:t>Restaura</a:t>
            </a:r>
            <a:endParaRPr lang="es-AR" sz="1600" dirty="0"/>
          </a:p>
        </p:txBody>
      </p:sp>
      <p:sp>
        <p:nvSpPr>
          <p:cNvPr id="24" name="Text 16"/>
          <p:cNvSpPr txBox="1"/>
          <p:nvPr/>
        </p:nvSpPr>
        <p:spPr>
          <a:xfrm>
            <a:off x="9619488" y="3154680"/>
            <a:ext cx="2011680" cy="1188720"/>
          </a:xfrm>
          <a:prstGeom prst="rect">
            <a:avLst/>
          </a:prstGeom>
          <a:noFill/>
          <a:ln/>
        </p:spPr>
        <p:txBody>
          <a:bodyPr wrap="square" lIns="0" tIns="0" rIns="0" bIns="0" rtlCol="0" anchor="t"/>
          <a:lstStyle/>
          <a:p>
            <a:pPr algn="ctr" indent="0" marL="0">
              <a:buNone/>
            </a:pPr>
            <a:r>
              <a:rPr lang="es-AR" altLang="en-US" sz="1400" dirty="0">
                <a:solidFill>
                  <a:schemeClr val="accent3"/>
                </a:solidFill>
              </a:rPr>
              <a:t>Desinstala AS y devuelve el JSON original</a:t>
            </a:r>
            <a:endParaRPr lang="es-AR" sz="1400" dirty="0"/>
          </a:p>
        </p:txBody>
      </p:sp>
      <p:sp>
        <p:nvSpPr>
          <p:cNvPr id="25" name="tarjeta-res-verifica"/>
          <p:cNvSpPr/>
          <p:nvPr/>
        </p:nvSpPr>
        <p:spPr>
          <a:xfrm>
            <a:off x="548640" y="4572000"/>
            <a:ext cx="11064240" cy="1371600"/>
          </a:xfrm>
          <a:prstGeom prst="roundRect">
            <a:avLst>
              <a:gd name="adj" fmla="val 8000"/>
            </a:avLst>
          </a:prstGeom>
          <a:solidFill>
            <a:schemeClr val="bg2"/>
          </a:solidFill>
          <a:ln/>
          <a:effectLst>
            <a:outerShdw sx="100000" sy="100000" kx="0" ky="0" algn="bl" rotWithShape="0" blurRad="101600" dist="25400" dir="5400000">
              <a:srgbClr val="1B2430">
                <a:alpha val="12000"/>
              </a:srgbClr>
            </a:outerShdw>
          </a:effectLst>
        </p:spPr>
      </p:sp>
      <p:sp>
        <p:nvSpPr>
          <p:cNvPr id="26" name="circulo-res-ok"/>
          <p:cNvSpPr/>
          <p:nvPr/>
        </p:nvSpPr>
        <p:spPr>
          <a:xfrm>
            <a:off x="822960" y="4846320"/>
            <a:ext cx="822960" cy="822960"/>
          </a:xfrm>
          <a:prstGeom prst="ellipse">
            <a:avLst/>
          </a:prstGeom>
          <a:solidFill>
            <a:schemeClr val="accent5"/>
          </a:solidFill>
          <a:ln/>
        </p:spPr>
      </p:sp>
      <p:pic>
        <p:nvPicPr>
          <p:cNvPr id="27" name="icono-res-ok" descr="preencoded.png">    </p:cNvPr>
          <p:cNvPicPr>
            <a:picLocks noChangeAspect="1"/>
          </p:cNvPicPr>
          <p:nvPr/>
        </p:nvPicPr>
        <p:blipFill>
          <a:blip r:embed="rId6"/>
          <a:stretch>
            <a:fillRect/>
          </a:stretch>
        </p:blipFill>
        <p:spPr>
          <a:xfrm>
            <a:off x="1036930" y="5060290"/>
            <a:ext cx="395021" cy="395021"/>
          </a:xfrm>
          <a:prstGeom prst="rect">
            <a:avLst/>
          </a:prstGeom>
        </p:spPr>
      </p:pic>
      <p:sp>
        <p:nvSpPr>
          <p:cNvPr id="28" name="Text 19"/>
          <p:cNvSpPr txBox="1"/>
          <p:nvPr/>
        </p:nvSpPr>
        <p:spPr>
          <a:xfrm>
            <a:off x="1874520" y="4846320"/>
            <a:ext cx="9509760" cy="411480"/>
          </a:xfrm>
          <a:prstGeom prst="rect">
            <a:avLst/>
          </a:prstGeom>
          <a:noFill/>
          <a:ln/>
        </p:spPr>
        <p:txBody>
          <a:bodyPr wrap="square" lIns="0" tIns="0" rIns="0" bIns="0" rtlCol="0" anchor="t"/>
          <a:lstStyle/>
          <a:p>
            <a:pPr indent="0" marL="0">
              <a:buNone/>
            </a:pPr>
            <a:r>
              <a:rPr lang="es-AR" altLang="en-US" sz="1700" b="1" dirty="0">
                <a:solidFill>
                  <a:schemeClr val="tx1"/>
                </a:solidFill>
              </a:rPr>
              <a:t>Cada evento se abre en su modal y se cruza con el log de AS</a:t>
            </a:r>
            <a:endParaRPr lang="es-AR" sz="1700" dirty="0"/>
          </a:p>
        </p:txBody>
      </p:sp>
      <p:sp>
        <p:nvSpPr>
          <p:cNvPr id="29" name="Text 20"/>
          <p:cNvSpPr txBox="1"/>
          <p:nvPr/>
        </p:nvSpPr>
        <p:spPr>
          <a:xfrm>
            <a:off x="1874520" y="5303520"/>
            <a:ext cx="9509760" cy="457200"/>
          </a:xfrm>
          <a:prstGeom prst="rect">
            <a:avLst/>
          </a:prstGeom>
          <a:noFill/>
          <a:ln/>
        </p:spPr>
        <p:txBody>
          <a:bodyPr wrap="square" lIns="0" tIns="0" rIns="0" bIns="0" rtlCol="0" anchor="t"/>
          <a:lstStyle/>
          <a:p>
            <a:pPr indent="0" marL="0">
              <a:buNone/>
            </a:pPr>
            <a:r>
              <a:rPr lang="es-AR" altLang="en-US" sz="1500" dirty="0">
                <a:solidFill>
                  <a:schemeClr val="accent3"/>
                </a:solidFill>
              </a:rPr>
              <a:t>Una imagen analizada por evento; si AS saltea una ejecución, queda como aviso en el reporte</a:t>
            </a:r>
            <a:endParaRPr lang="es-AR" sz="15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Lo que encontramos al automatizar</a:t>
            </a:r>
            <a:endParaRPr lang="es-AR" sz="3200" dirty="0"/>
          </a:p>
        </p:txBody>
      </p:sp>
      <p:sp>
        <p:nvSpPr>
          <p:cNvPr id="4" name="tarjeta-hallazgo-0"/>
          <p:cNvSpPr/>
          <p:nvPr/>
        </p:nvSpPr>
        <p:spPr>
          <a:xfrm>
            <a:off x="548640" y="1463040"/>
            <a:ext cx="3474720" cy="2103120"/>
          </a:xfrm>
          <a:prstGeom prst="roundRect">
            <a:avLst>
              <a:gd name="adj" fmla="val 5217"/>
            </a:avLst>
          </a:prstGeom>
          <a:solidFill>
            <a:schemeClr val="bg2"/>
          </a:solidFill>
          <a:ln/>
          <a:effectLst>
            <a:outerShdw sx="100000" sy="100000" kx="0" ky="0" algn="bl" rotWithShape="0" blurRad="101600" dist="25400" dir="5400000">
              <a:srgbClr val="1B2430">
                <a:alpha val="12000"/>
              </a:srgbClr>
            </a:outerShdw>
          </a:effectLst>
        </p:spPr>
      </p:sp>
      <p:sp>
        <p:nvSpPr>
          <p:cNvPr id="5" name="circulo-hallazgo-0"/>
          <p:cNvSpPr/>
          <p:nvPr/>
        </p:nvSpPr>
        <p:spPr>
          <a:xfrm>
            <a:off x="822960" y="1737360"/>
            <a:ext cx="685800" cy="685800"/>
          </a:xfrm>
          <a:prstGeom prst="ellipse">
            <a:avLst/>
          </a:prstGeom>
          <a:solidFill>
            <a:schemeClr val="accent4"/>
          </a:solidFill>
          <a:ln/>
        </p:spPr>
      </p:sp>
      <p:pic>
        <p:nvPicPr>
          <p:cNvPr id="6" name="icono-hallazgo-0" descr="preencoded.png">    </p:cNvPr>
          <p:cNvPicPr>
            <a:picLocks noChangeAspect="1"/>
          </p:cNvPicPr>
          <p:nvPr/>
        </p:nvPicPr>
        <p:blipFill>
          <a:blip r:embed="rId1"/>
          <a:stretch>
            <a:fillRect/>
          </a:stretch>
        </p:blipFill>
        <p:spPr>
          <a:xfrm>
            <a:off x="1001268" y="1915668"/>
            <a:ext cx="329184" cy="329184"/>
          </a:xfrm>
          <a:prstGeom prst="rect">
            <a:avLst/>
          </a:prstGeom>
        </p:spPr>
      </p:pic>
      <p:sp>
        <p:nvSpPr>
          <p:cNvPr id="7" name="Text 3"/>
          <p:cNvSpPr txBox="1"/>
          <p:nvPr/>
        </p:nvSpPr>
        <p:spPr>
          <a:xfrm>
            <a:off x="1691640" y="1737360"/>
            <a:ext cx="2194560" cy="685800"/>
          </a:xfrm>
          <a:prstGeom prst="rect">
            <a:avLst/>
          </a:prstGeom>
          <a:noFill/>
          <a:ln/>
        </p:spPr>
        <p:txBody>
          <a:bodyPr wrap="square" lIns="0" tIns="0" rIns="0" bIns="0" rtlCol="0" anchor="ctr"/>
          <a:lstStyle/>
          <a:p>
            <a:pPr indent="0" marL="0">
              <a:buNone/>
            </a:pPr>
            <a:r>
              <a:rPr lang="es-AR" altLang="en-US" sz="1600" b="1" dirty="0">
                <a:solidFill>
                  <a:schemeClr val="tx1"/>
                </a:solidFill>
              </a:rPr>
              <a:t>Contraseña expuesta (#36)</a:t>
            </a:r>
            <a:endParaRPr lang="es-AR" sz="1600" dirty="0"/>
          </a:p>
        </p:txBody>
      </p:sp>
      <p:sp>
        <p:nvSpPr>
          <p:cNvPr id="8" name="Text 4"/>
          <p:cNvSpPr txBox="1"/>
          <p:nvPr/>
        </p:nvSpPr>
        <p:spPr>
          <a:xfrm>
            <a:off x="822960" y="2560320"/>
            <a:ext cx="2971800" cy="914400"/>
          </a:xfrm>
          <a:prstGeom prst="rect">
            <a:avLst/>
          </a:prstGeom>
          <a:noFill/>
          <a:ln/>
        </p:spPr>
        <p:txBody>
          <a:bodyPr wrap="square" lIns="0" tIns="0" rIns="0" bIns="0" rtlCol="0" anchor="t"/>
          <a:lstStyle/>
          <a:p>
            <a:pPr indent="0" marL="0">
              <a:buNone/>
            </a:pPr>
            <a:r>
              <a:rPr lang="es-AR" altLang="en-US" sz="1400" dirty="0">
                <a:solidFill>
                  <a:schemeClr val="accent3"/>
                </a:solidFill>
              </a:rPr>
              <a:t>El login de VMS expone la contraseña recordada a la accesibilidad de Windows</a:t>
            </a:r>
            <a:endParaRPr lang="es-AR" sz="1400" dirty="0"/>
          </a:p>
        </p:txBody>
      </p:sp>
      <p:sp>
        <p:nvSpPr>
          <p:cNvPr id="9" name="tarjeta-hallazgo-1"/>
          <p:cNvSpPr/>
          <p:nvPr/>
        </p:nvSpPr>
        <p:spPr>
          <a:xfrm>
            <a:off x="4297680" y="1463040"/>
            <a:ext cx="3474720" cy="2103120"/>
          </a:xfrm>
          <a:prstGeom prst="roundRect">
            <a:avLst>
              <a:gd name="adj" fmla="val 5217"/>
            </a:avLst>
          </a:prstGeom>
          <a:solidFill>
            <a:schemeClr val="bg2"/>
          </a:solidFill>
          <a:ln/>
          <a:effectLst>
            <a:outerShdw sx="100000" sy="100000" kx="0" ky="0" algn="bl" rotWithShape="0" blurRad="101600" dist="25400" dir="5400000">
              <a:srgbClr val="1B2430">
                <a:alpha val="12000"/>
              </a:srgbClr>
            </a:outerShdw>
          </a:effectLst>
        </p:spPr>
      </p:sp>
      <p:sp>
        <p:nvSpPr>
          <p:cNvPr id="10" name="circulo-hallazgo-1"/>
          <p:cNvSpPr/>
          <p:nvPr/>
        </p:nvSpPr>
        <p:spPr>
          <a:xfrm>
            <a:off x="4572000" y="1737360"/>
            <a:ext cx="685800" cy="685800"/>
          </a:xfrm>
          <a:prstGeom prst="ellipse">
            <a:avLst/>
          </a:prstGeom>
          <a:solidFill>
            <a:schemeClr val="accent4"/>
          </a:solidFill>
          <a:ln/>
        </p:spPr>
      </p:sp>
      <p:pic>
        <p:nvPicPr>
          <p:cNvPr id="11" name="icono-hallazgo-1" descr="preencoded.png">    </p:cNvPr>
          <p:cNvPicPr>
            <a:picLocks noChangeAspect="1"/>
          </p:cNvPicPr>
          <p:nvPr/>
        </p:nvPicPr>
        <p:blipFill>
          <a:blip r:embed="rId2"/>
          <a:stretch>
            <a:fillRect/>
          </a:stretch>
        </p:blipFill>
        <p:spPr>
          <a:xfrm>
            <a:off x="4750308" y="1915668"/>
            <a:ext cx="329184" cy="329184"/>
          </a:xfrm>
          <a:prstGeom prst="rect">
            <a:avLst/>
          </a:prstGeom>
        </p:spPr>
      </p:pic>
      <p:sp>
        <p:nvSpPr>
          <p:cNvPr id="12" name="Text 7"/>
          <p:cNvSpPr txBox="1"/>
          <p:nvPr/>
        </p:nvSpPr>
        <p:spPr>
          <a:xfrm>
            <a:off x="5440680" y="1737360"/>
            <a:ext cx="2194560" cy="685800"/>
          </a:xfrm>
          <a:prstGeom prst="rect">
            <a:avLst/>
          </a:prstGeom>
          <a:noFill/>
          <a:ln/>
        </p:spPr>
        <p:txBody>
          <a:bodyPr wrap="square" lIns="0" tIns="0" rIns="0" bIns="0" rtlCol="0" anchor="ctr"/>
          <a:lstStyle/>
          <a:p>
            <a:pPr indent="0" marL="0">
              <a:buNone/>
            </a:pPr>
            <a:r>
              <a:rPr lang="es-AR" altLang="en-US" sz="1600" b="1" dirty="0">
                <a:solidFill>
                  <a:schemeClr val="tx1"/>
                </a:solidFill>
              </a:rPr>
              <a:t>Ejecuciones salteadas (#37)</a:t>
            </a:r>
            <a:endParaRPr lang="es-AR" sz="1600" dirty="0"/>
          </a:p>
        </p:txBody>
      </p:sp>
      <p:sp>
        <p:nvSpPr>
          <p:cNvPr id="13" name="Text 8"/>
          <p:cNvSpPr txBox="1"/>
          <p:nvPr/>
        </p:nvSpPr>
        <p:spPr>
          <a:xfrm>
            <a:off x="4572000" y="2560320"/>
            <a:ext cx="2971800" cy="914400"/>
          </a:xfrm>
          <a:prstGeom prst="rect">
            <a:avLst/>
          </a:prstGeom>
          <a:noFill/>
          <a:ln/>
        </p:spPr>
        <p:txBody>
          <a:bodyPr wrap="square" lIns="0" tIns="0" rIns="0" bIns="0" rtlCol="0" anchor="t"/>
          <a:lstStyle/>
          <a:p>
            <a:pPr indent="0" marL="0">
              <a:buNone/>
            </a:pPr>
            <a:r>
              <a:rPr lang="es-AR" altLang="en-US" sz="1400" dirty="0">
                <a:solidFill>
                  <a:schemeClr val="accent3"/>
                </a:solidFill>
              </a:rPr>
              <a:t>AS saltea ejecuciones sin imagen y registra mal algunas que sí enviaron evento</a:t>
            </a:r>
            <a:endParaRPr lang="es-AR" sz="1400" dirty="0"/>
          </a:p>
        </p:txBody>
      </p:sp>
      <p:sp>
        <p:nvSpPr>
          <p:cNvPr id="14" name="tarjeta-hallazgo-2"/>
          <p:cNvSpPr/>
          <p:nvPr/>
        </p:nvSpPr>
        <p:spPr>
          <a:xfrm>
            <a:off x="8046720" y="1463040"/>
            <a:ext cx="3474720" cy="2103120"/>
          </a:xfrm>
          <a:prstGeom prst="roundRect">
            <a:avLst>
              <a:gd name="adj" fmla="val 5217"/>
            </a:avLst>
          </a:prstGeom>
          <a:solidFill>
            <a:schemeClr val="bg2"/>
          </a:solidFill>
          <a:ln/>
          <a:effectLst>
            <a:outerShdw sx="100000" sy="100000" kx="0" ky="0" algn="bl" rotWithShape="0" blurRad="101600" dist="25400" dir="5400000">
              <a:srgbClr val="1B2430">
                <a:alpha val="12000"/>
              </a:srgbClr>
            </a:outerShdw>
          </a:effectLst>
        </p:spPr>
      </p:sp>
      <p:sp>
        <p:nvSpPr>
          <p:cNvPr id="15" name="circulo-hallazgo-2"/>
          <p:cNvSpPr/>
          <p:nvPr/>
        </p:nvSpPr>
        <p:spPr>
          <a:xfrm>
            <a:off x="8321040" y="1737360"/>
            <a:ext cx="685800" cy="685800"/>
          </a:xfrm>
          <a:prstGeom prst="ellipse">
            <a:avLst/>
          </a:prstGeom>
          <a:solidFill>
            <a:schemeClr val="accent2"/>
          </a:solidFill>
          <a:ln/>
        </p:spPr>
      </p:sp>
      <p:pic>
        <p:nvPicPr>
          <p:cNvPr id="16" name="icono-hallazgo-2" descr="preencoded.png">    </p:cNvPr>
          <p:cNvPicPr>
            <a:picLocks noChangeAspect="1"/>
          </p:cNvPicPr>
          <p:nvPr/>
        </p:nvPicPr>
        <p:blipFill>
          <a:blip r:embed="rId3"/>
          <a:stretch>
            <a:fillRect/>
          </a:stretch>
        </p:blipFill>
        <p:spPr>
          <a:xfrm>
            <a:off x="8499348" y="1915668"/>
            <a:ext cx="329184" cy="329184"/>
          </a:xfrm>
          <a:prstGeom prst="rect">
            <a:avLst/>
          </a:prstGeom>
        </p:spPr>
      </p:pic>
      <p:sp>
        <p:nvSpPr>
          <p:cNvPr id="17" name="Text 11"/>
          <p:cNvSpPr txBox="1"/>
          <p:nvPr/>
        </p:nvSpPr>
        <p:spPr>
          <a:xfrm>
            <a:off x="9189720" y="1737360"/>
            <a:ext cx="2194560" cy="685800"/>
          </a:xfrm>
          <a:prstGeom prst="rect">
            <a:avLst/>
          </a:prstGeom>
          <a:noFill/>
          <a:ln/>
        </p:spPr>
        <p:txBody>
          <a:bodyPr wrap="square" lIns="0" tIns="0" rIns="0" bIns="0" rtlCol="0" anchor="ctr"/>
          <a:lstStyle/>
          <a:p>
            <a:pPr indent="0" marL="0">
              <a:buNone/>
            </a:pPr>
            <a:r>
              <a:rPr lang="es-AR" altLang="en-US" sz="1600" b="1" dirty="0">
                <a:solidFill>
                  <a:schemeClr val="tx1"/>
                </a:solidFill>
              </a:rPr>
              <a:t>Limpieza incompleta (#32)</a:t>
            </a:r>
            <a:endParaRPr lang="es-AR" sz="1600" dirty="0"/>
          </a:p>
        </p:txBody>
      </p:sp>
      <p:sp>
        <p:nvSpPr>
          <p:cNvPr id="18" name="Text 12"/>
          <p:cNvSpPr txBox="1"/>
          <p:nvPr/>
        </p:nvSpPr>
        <p:spPr>
          <a:xfrm>
            <a:off x="8321040" y="2560320"/>
            <a:ext cx="2971800" cy="914400"/>
          </a:xfrm>
          <a:prstGeom prst="rect">
            <a:avLst/>
          </a:prstGeom>
          <a:noFill/>
          <a:ln/>
        </p:spPr>
        <p:txBody>
          <a:bodyPr wrap="square" lIns="0" tIns="0" rIns="0" bIns="0" rtlCol="0" anchor="t"/>
          <a:lstStyle/>
          <a:p>
            <a:pPr indent="0" marL="0">
              <a:buNone/>
            </a:pPr>
            <a:r>
              <a:rPr lang="es-AR" altLang="en-US" sz="1400" dirty="0">
                <a:solidFill>
                  <a:schemeClr val="accent3"/>
                </a:solidFill>
              </a:rPr>
              <a:t>Nuestro test dejaba patentes sin borrar; se vio en la base, no en pantalla</a:t>
            </a:r>
            <a:endParaRPr lang="es-AR" sz="1400" dirty="0"/>
          </a:p>
        </p:txBody>
      </p:sp>
      <p:sp>
        <p:nvSpPr>
          <p:cNvPr id="19" name="tarjeta-hallazgo-3"/>
          <p:cNvSpPr/>
          <p:nvPr/>
        </p:nvSpPr>
        <p:spPr>
          <a:xfrm>
            <a:off x="548640" y="3794760"/>
            <a:ext cx="3474720" cy="2103120"/>
          </a:xfrm>
          <a:prstGeom prst="roundRect">
            <a:avLst>
              <a:gd name="adj" fmla="val 5217"/>
            </a:avLst>
          </a:prstGeom>
          <a:solidFill>
            <a:schemeClr val="bg2"/>
          </a:solidFill>
          <a:ln/>
          <a:effectLst>
            <a:outerShdw sx="100000" sy="100000" kx="0" ky="0" algn="bl" rotWithShape="0" blurRad="101600" dist="25400" dir="5400000">
              <a:srgbClr val="1B2430">
                <a:alpha val="12000"/>
              </a:srgbClr>
            </a:outerShdw>
          </a:effectLst>
        </p:spPr>
      </p:sp>
      <p:sp>
        <p:nvSpPr>
          <p:cNvPr id="20" name="circulo-hallazgo-3"/>
          <p:cNvSpPr/>
          <p:nvPr/>
        </p:nvSpPr>
        <p:spPr>
          <a:xfrm>
            <a:off x="822960" y="4069080"/>
            <a:ext cx="685800" cy="685800"/>
          </a:xfrm>
          <a:prstGeom prst="ellipse">
            <a:avLst/>
          </a:prstGeom>
          <a:solidFill>
            <a:schemeClr val="accent2"/>
          </a:solidFill>
          <a:ln/>
        </p:spPr>
      </p:sp>
      <p:pic>
        <p:nvPicPr>
          <p:cNvPr id="21" name="icono-hallazgo-3" descr="preencoded.png">    </p:cNvPr>
          <p:cNvPicPr>
            <a:picLocks noChangeAspect="1"/>
          </p:cNvPicPr>
          <p:nvPr/>
        </p:nvPicPr>
        <p:blipFill>
          <a:blip r:embed="rId4"/>
          <a:stretch>
            <a:fillRect/>
          </a:stretch>
        </p:blipFill>
        <p:spPr>
          <a:xfrm>
            <a:off x="1001268" y="4247388"/>
            <a:ext cx="329184" cy="329184"/>
          </a:xfrm>
          <a:prstGeom prst="rect">
            <a:avLst/>
          </a:prstGeom>
        </p:spPr>
      </p:pic>
      <p:sp>
        <p:nvSpPr>
          <p:cNvPr id="22" name="Text 15"/>
          <p:cNvSpPr txBox="1"/>
          <p:nvPr/>
        </p:nvSpPr>
        <p:spPr>
          <a:xfrm>
            <a:off x="1691640" y="4069080"/>
            <a:ext cx="2194560" cy="685800"/>
          </a:xfrm>
          <a:prstGeom prst="rect">
            <a:avLst/>
          </a:prstGeom>
          <a:noFill/>
          <a:ln/>
        </p:spPr>
        <p:txBody>
          <a:bodyPr wrap="square" lIns="0" tIns="0" rIns="0" bIns="0" rtlCol="0" anchor="ctr"/>
          <a:lstStyle/>
          <a:p>
            <a:pPr indent="0" marL="0">
              <a:buNone/>
            </a:pPr>
            <a:r>
              <a:rPr lang="es-AR" altLang="en-US" sz="1600" b="1" dirty="0">
                <a:solidFill>
                  <a:schemeClr val="tx1"/>
                </a:solidFill>
              </a:rPr>
              <a:t>Reloj de ANPR adelantado</a:t>
            </a:r>
            <a:endParaRPr lang="es-AR" sz="1600" dirty="0"/>
          </a:p>
        </p:txBody>
      </p:sp>
      <p:sp>
        <p:nvSpPr>
          <p:cNvPr id="23" name="Text 16"/>
          <p:cNvSpPr txBox="1"/>
          <p:nvPr/>
        </p:nvSpPr>
        <p:spPr>
          <a:xfrm>
            <a:off x="822960" y="4892040"/>
            <a:ext cx="2971800" cy="914400"/>
          </a:xfrm>
          <a:prstGeom prst="rect">
            <a:avLst/>
          </a:prstGeom>
          <a:noFill/>
          <a:ln/>
        </p:spPr>
        <p:txBody>
          <a:bodyPr wrap="square" lIns="0" tIns="0" rIns="0" bIns="0" rtlCol="0" anchor="t"/>
          <a:lstStyle/>
          <a:p>
            <a:pPr indent="0" marL="0">
              <a:buNone/>
            </a:pPr>
            <a:r>
              <a:rPr lang="es-AR" altLang="en-US" sz="1400" dirty="0">
                <a:solidFill>
                  <a:schemeClr val="accent3"/>
                </a:solidFill>
              </a:rPr>
              <a:t>Una alarma recién atendida no aparece en Auditoría por un minuto</a:t>
            </a:r>
            <a:endParaRPr lang="es-AR" sz="1400" dirty="0"/>
          </a:p>
        </p:txBody>
      </p:sp>
      <p:sp>
        <p:nvSpPr>
          <p:cNvPr id="24" name="tarjeta-hallazgo-4"/>
          <p:cNvSpPr/>
          <p:nvPr/>
        </p:nvSpPr>
        <p:spPr>
          <a:xfrm>
            <a:off x="4297680" y="3794760"/>
            <a:ext cx="3474720" cy="2103120"/>
          </a:xfrm>
          <a:prstGeom prst="roundRect">
            <a:avLst>
              <a:gd name="adj" fmla="val 5217"/>
            </a:avLst>
          </a:prstGeom>
          <a:solidFill>
            <a:schemeClr val="bg2"/>
          </a:solidFill>
          <a:ln/>
          <a:effectLst>
            <a:outerShdw sx="100000" sy="100000" kx="0" ky="0" algn="bl" rotWithShape="0" blurRad="101600" dist="25400" dir="5400000">
              <a:srgbClr val="1B2430">
                <a:alpha val="12000"/>
              </a:srgbClr>
            </a:outerShdw>
          </a:effectLst>
        </p:spPr>
      </p:sp>
      <p:sp>
        <p:nvSpPr>
          <p:cNvPr id="25" name="circulo-hallazgo-4"/>
          <p:cNvSpPr/>
          <p:nvPr/>
        </p:nvSpPr>
        <p:spPr>
          <a:xfrm>
            <a:off x="4572000" y="4069080"/>
            <a:ext cx="685800" cy="685800"/>
          </a:xfrm>
          <a:prstGeom prst="ellipse">
            <a:avLst/>
          </a:prstGeom>
          <a:solidFill>
            <a:schemeClr val="accent6"/>
          </a:solidFill>
          <a:ln/>
        </p:spPr>
      </p:sp>
      <p:pic>
        <p:nvPicPr>
          <p:cNvPr id="26" name="icono-hallazgo-4" descr="preencoded.png">    </p:cNvPr>
          <p:cNvPicPr>
            <a:picLocks noChangeAspect="1"/>
          </p:cNvPicPr>
          <p:nvPr/>
        </p:nvPicPr>
        <p:blipFill>
          <a:blip r:embed="rId5"/>
          <a:stretch>
            <a:fillRect/>
          </a:stretch>
        </p:blipFill>
        <p:spPr>
          <a:xfrm>
            <a:off x="4750308" y="4247388"/>
            <a:ext cx="329184" cy="329184"/>
          </a:xfrm>
          <a:prstGeom prst="rect">
            <a:avLst/>
          </a:prstGeom>
        </p:spPr>
      </p:pic>
      <p:sp>
        <p:nvSpPr>
          <p:cNvPr id="27" name="Text 19"/>
          <p:cNvSpPr txBox="1"/>
          <p:nvPr/>
        </p:nvSpPr>
        <p:spPr>
          <a:xfrm>
            <a:off x="5440680" y="4069080"/>
            <a:ext cx="2194560" cy="685800"/>
          </a:xfrm>
          <a:prstGeom prst="rect">
            <a:avLst/>
          </a:prstGeom>
          <a:noFill/>
          <a:ln/>
        </p:spPr>
        <p:txBody>
          <a:bodyPr wrap="square" lIns="0" tIns="0" rIns="0" bIns="0" rtlCol="0" anchor="ctr"/>
          <a:lstStyle/>
          <a:p>
            <a:pPr indent="0" marL="0">
              <a:buNone/>
            </a:pPr>
            <a:r>
              <a:rPr lang="es-AR" altLang="en-US" sz="1600" b="1" dirty="0">
                <a:solidFill>
                  <a:schemeClr val="tx1"/>
                </a:solidFill>
              </a:rPr>
              <a:t>Nombre sin ":"</a:t>
            </a:r>
            <a:endParaRPr lang="es-AR" sz="1600" dirty="0"/>
          </a:p>
        </p:txBody>
      </p:sp>
      <p:sp>
        <p:nvSpPr>
          <p:cNvPr id="28" name="Text 20"/>
          <p:cNvSpPr txBox="1"/>
          <p:nvPr/>
        </p:nvSpPr>
        <p:spPr>
          <a:xfrm>
            <a:off x="4572000" y="4892040"/>
            <a:ext cx="2971800" cy="914400"/>
          </a:xfrm>
          <a:prstGeom prst="rect">
            <a:avLst/>
          </a:prstGeom>
          <a:noFill/>
          <a:ln/>
        </p:spPr>
        <p:txBody>
          <a:bodyPr wrap="square" lIns="0" tIns="0" rIns="0" bIns="0" rtlCol="0" anchor="t"/>
          <a:lstStyle/>
          <a:p>
            <a:pPr indent="0" marL="0">
              <a:buNone/>
            </a:pPr>
            <a:r>
              <a:rPr lang="es-AR" altLang="en-US" sz="1400" dirty="0">
                <a:solidFill>
                  <a:schemeClr val="accent3"/>
                </a:solidFill>
              </a:rPr>
              <a:t>Control Center borra los ":" del nombre de la extracción sin avisar</a:t>
            </a:r>
            <a:endParaRPr lang="es-AR" sz="1400" dirty="0"/>
          </a:p>
        </p:txBody>
      </p:sp>
      <p:sp>
        <p:nvSpPr>
          <p:cNvPr id="29" name="tarjeta-hallazgo-5"/>
          <p:cNvSpPr/>
          <p:nvPr/>
        </p:nvSpPr>
        <p:spPr>
          <a:xfrm>
            <a:off x="8046720" y="3794760"/>
            <a:ext cx="3474720" cy="2103120"/>
          </a:xfrm>
          <a:prstGeom prst="roundRect">
            <a:avLst>
              <a:gd name="adj" fmla="val 5217"/>
            </a:avLst>
          </a:prstGeom>
          <a:solidFill>
            <a:schemeClr val="bg2"/>
          </a:solidFill>
          <a:ln/>
          <a:effectLst>
            <a:outerShdw sx="100000" sy="100000" kx="0" ky="0" algn="bl" rotWithShape="0" blurRad="101600" dist="25400" dir="5400000">
              <a:srgbClr val="1B2430">
                <a:alpha val="12000"/>
              </a:srgbClr>
            </a:outerShdw>
          </a:effectLst>
        </p:spPr>
      </p:sp>
      <p:sp>
        <p:nvSpPr>
          <p:cNvPr id="30" name="circulo-hallazgo-5"/>
          <p:cNvSpPr/>
          <p:nvPr/>
        </p:nvSpPr>
        <p:spPr>
          <a:xfrm>
            <a:off x="8321040" y="4069080"/>
            <a:ext cx="685800" cy="685800"/>
          </a:xfrm>
          <a:prstGeom prst="ellipse">
            <a:avLst/>
          </a:prstGeom>
          <a:solidFill>
            <a:schemeClr val="accent6"/>
          </a:solidFill>
          <a:ln/>
        </p:spPr>
      </p:sp>
      <p:pic>
        <p:nvPicPr>
          <p:cNvPr id="31" name="icono-hallazgo-5" descr="preencoded.png">    </p:cNvPr>
          <p:cNvPicPr>
            <a:picLocks noChangeAspect="1"/>
          </p:cNvPicPr>
          <p:nvPr/>
        </p:nvPicPr>
        <p:blipFill>
          <a:blip r:embed="rId6"/>
          <a:stretch>
            <a:fillRect/>
          </a:stretch>
        </p:blipFill>
        <p:spPr>
          <a:xfrm>
            <a:off x="8499348" y="4247388"/>
            <a:ext cx="329184" cy="329184"/>
          </a:xfrm>
          <a:prstGeom prst="rect">
            <a:avLst/>
          </a:prstGeom>
        </p:spPr>
      </p:pic>
      <p:sp>
        <p:nvSpPr>
          <p:cNvPr id="32" name="Text 23"/>
          <p:cNvSpPr txBox="1"/>
          <p:nvPr/>
        </p:nvSpPr>
        <p:spPr>
          <a:xfrm>
            <a:off x="9189720" y="4069080"/>
            <a:ext cx="2194560" cy="685800"/>
          </a:xfrm>
          <a:prstGeom prst="rect">
            <a:avLst/>
          </a:prstGeom>
          <a:noFill/>
          <a:ln/>
        </p:spPr>
        <p:txBody>
          <a:bodyPr wrap="square" lIns="0" tIns="0" rIns="0" bIns="0" rtlCol="0" anchor="ctr"/>
          <a:lstStyle/>
          <a:p>
            <a:pPr indent="0" marL="0">
              <a:buNone/>
            </a:pPr>
            <a:r>
              <a:rPr lang="es-AR" altLang="en-US" sz="1600" b="1" dirty="0">
                <a:solidFill>
                  <a:schemeClr val="tx1"/>
                </a:solidFill>
              </a:rPr>
              <a:t>Fechas mes/día/año</a:t>
            </a:r>
            <a:endParaRPr lang="es-AR" sz="1600" dirty="0"/>
          </a:p>
        </p:txBody>
      </p:sp>
      <p:sp>
        <p:nvSpPr>
          <p:cNvPr id="33" name="Text 24"/>
          <p:cNvSpPr txBox="1"/>
          <p:nvPr/>
        </p:nvSpPr>
        <p:spPr>
          <a:xfrm>
            <a:off x="8321040" y="4892040"/>
            <a:ext cx="2971800" cy="914400"/>
          </a:xfrm>
          <a:prstGeom prst="rect">
            <a:avLst/>
          </a:prstGeom>
          <a:noFill/>
          <a:ln/>
        </p:spPr>
        <p:txBody>
          <a:bodyPr wrap="square" lIns="0" tIns="0" rIns="0" bIns="0" rtlCol="0" anchor="t"/>
          <a:lstStyle/>
          <a:p>
            <a:pPr indent="0" marL="0">
              <a:buNone/>
            </a:pPr>
            <a:r>
              <a:rPr lang="es-AR" altLang="en-US" sz="1400" dirty="0">
                <a:solidFill>
                  <a:schemeClr val="accent3"/>
                </a:solidFill>
              </a:rPr>
              <a:t>Biblioteca Digital muestra las grabaciones en otro formato de fecha</a:t>
            </a:r>
            <a:endParaRPr lang="es-AR" sz="14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Evidencia: seguridad y AS</a:t>
            </a:r>
            <a:endParaRPr lang="es-AR" sz="3200" dirty="0"/>
          </a:p>
        </p:txBody>
      </p:sp>
      <p:sp>
        <p:nvSpPr>
          <p:cNvPr id="4" name="tarjeta-ev-pass"/>
          <p:cNvSpPr/>
          <p:nvPr/>
        </p:nvSpPr>
        <p:spPr>
          <a:xfrm>
            <a:off x="548640" y="1325880"/>
            <a:ext cx="5440680" cy="4754880"/>
          </a:xfrm>
          <a:prstGeom prst="roundRect">
            <a:avLst>
              <a:gd name="adj" fmla="val 2308"/>
            </a:avLst>
          </a:prstGeom>
          <a:solidFill>
            <a:schemeClr val="bg2"/>
          </a:solidFill>
          <a:ln/>
          <a:effectLst>
            <a:outerShdw sx="100000" sy="100000" kx="0" ky="0" algn="bl" rotWithShape="0" blurRad="101600" dist="25400" dir="5400000">
              <a:srgbClr val="1B2430">
                <a:alpha val="12000"/>
              </a:srgbClr>
            </a:outerShdw>
          </a:effectLst>
        </p:spPr>
      </p:sp>
      <p:sp>
        <p:nvSpPr>
          <p:cNvPr id="5" name="circulo-ev-pass"/>
          <p:cNvSpPr/>
          <p:nvPr/>
        </p:nvSpPr>
        <p:spPr>
          <a:xfrm>
            <a:off x="822960" y="1554480"/>
            <a:ext cx="594360" cy="594360"/>
          </a:xfrm>
          <a:prstGeom prst="ellipse">
            <a:avLst/>
          </a:prstGeom>
          <a:solidFill>
            <a:schemeClr val="accent4"/>
          </a:solidFill>
          <a:ln/>
        </p:spPr>
      </p:sp>
      <p:pic>
        <p:nvPicPr>
          <p:cNvPr id="6" name="icono-ev-pass" descr="preencoded.png">    </p:cNvPr>
          <p:cNvPicPr>
            <a:picLocks noChangeAspect="1"/>
          </p:cNvPicPr>
          <p:nvPr/>
        </p:nvPicPr>
        <p:blipFill>
          <a:blip r:embed="rId1"/>
          <a:stretch>
            <a:fillRect/>
          </a:stretch>
        </p:blipFill>
        <p:spPr>
          <a:xfrm>
            <a:off x="977494" y="1709014"/>
            <a:ext cx="285293" cy="285293"/>
          </a:xfrm>
          <a:prstGeom prst="rect">
            <a:avLst/>
          </a:prstGeom>
        </p:spPr>
      </p:pic>
      <p:sp>
        <p:nvSpPr>
          <p:cNvPr id="7" name="Text 3"/>
          <p:cNvSpPr txBox="1"/>
          <p:nvPr/>
        </p:nvSpPr>
        <p:spPr>
          <a:xfrm>
            <a:off x="1600200" y="1645920"/>
            <a:ext cx="4572000" cy="411480"/>
          </a:xfrm>
          <a:prstGeom prst="rect">
            <a:avLst/>
          </a:prstGeom>
          <a:noFill/>
          <a:ln/>
        </p:spPr>
        <p:txBody>
          <a:bodyPr wrap="square" lIns="0" tIns="0" rIns="0" bIns="0" rtlCol="0" anchor="ctr"/>
          <a:lstStyle/>
          <a:p>
            <a:pPr indent="0" marL="0">
              <a:buNone/>
            </a:pPr>
            <a:r>
              <a:rPr lang="es-AR" altLang="en-US" sz="1800" b="1" dirty="0">
                <a:solidFill>
                  <a:schemeClr val="tx1"/>
                </a:solidFill>
              </a:rPr>
              <a:t>Contraseña expuesta (#36)</a:t>
            </a:r>
            <a:endParaRPr lang="es-AR" sz="1800" dirty="0"/>
          </a:p>
        </p:txBody>
      </p:sp>
      <p:pic>
        <p:nvPicPr>
          <p:cNvPr id="8" name="captura-login" descr="ev-login.png">    </p:cNvPr>
          <p:cNvPicPr>
            <a:picLocks noChangeAspect="1"/>
          </p:cNvPicPr>
          <p:nvPr/>
        </p:nvPicPr>
        <p:blipFill>
          <a:blip r:embed="rId2"/>
          <a:stretch>
            <a:fillRect/>
          </a:stretch>
        </p:blipFill>
        <p:spPr>
          <a:xfrm>
            <a:off x="822960" y="2377440"/>
            <a:ext cx="2331720" cy="1929384"/>
          </a:xfrm>
          <a:prstGeom prst="rect">
            <a:avLst/>
          </a:prstGeom>
        </p:spPr>
      </p:pic>
      <p:sp>
        <p:nvSpPr>
          <p:cNvPr id="9" name="consola-pass"/>
          <p:cNvSpPr/>
          <p:nvPr/>
        </p:nvSpPr>
        <p:spPr>
          <a:xfrm>
            <a:off x="3337560" y="2377440"/>
            <a:ext cx="2377440" cy="1929384"/>
          </a:xfrm>
          <a:prstGeom prst="roundRect">
            <a:avLst>
              <a:gd name="adj" fmla="val 3791"/>
            </a:avLst>
          </a:prstGeom>
          <a:solidFill>
            <a:schemeClr val="tx2"/>
          </a:solidFill>
          <a:ln/>
        </p:spPr>
      </p:sp>
      <p:sp>
        <p:nvSpPr>
          <p:cNvPr id="10" name="Text 5"/>
          <p:cNvSpPr txBox="1"/>
          <p:nvPr/>
        </p:nvSpPr>
        <p:spPr>
          <a:xfrm>
            <a:off x="3520440" y="2514600"/>
            <a:ext cx="2011680" cy="1655064"/>
          </a:xfrm>
          <a:prstGeom prst="rect">
            <a:avLst/>
          </a:prstGeom>
          <a:noFill/>
          <a:ln/>
        </p:spPr>
        <p:txBody>
          <a:bodyPr wrap="square" lIns="0" tIns="0" rIns="0" bIns="0" rtlCol="0" anchor="t"/>
          <a:lstStyle/>
          <a:p>
            <a:pPr indent="0" marL="0">
              <a:spcAft>
                <a:spcPts val="200"/>
              </a:spcAft>
              <a:buNone/>
            </a:pPr>
            <a:r>
              <a:rPr lang="es-AR" altLang="en-US" sz="1200" dirty="0">
                <a:solidFill>
                  <a:schemeClr val="bg2"/>
                </a:solidFill>
                <a:latin typeface="Courier New" pitchFamily="34" charset="0"/>
                <a:ea typeface="Courier New" pitchFamily="34" charset="-122"/>
                <a:cs typeface="Courier New" pitchFamily="34" charset="-120"/>
              </a:rPr>
              <a:t>UI Automation lee:</a:t>
            </a:r>
            <a:endParaRPr lang="es-AR" sz="1200" dirty="0"/>
          </a:p>
          <a:p>
            <a:pPr indent="0" marL="0">
              <a:spcAft>
                <a:spcPts val="200"/>
              </a:spcAft>
              <a:buNone/>
            </a:pPr>
            <a:r>
              <a:rPr lang="es-AR" altLang="en-US" sz="1200" dirty="0">
                <a:solidFill>
                  <a:schemeClr val="bg2"/>
                </a:solidFill>
                <a:latin typeface="Courier New" pitchFamily="34" charset="0"/>
                <a:ea typeface="Courier New" pitchFamily="34" charset="-122"/>
                <a:cs typeface="Courier New" pitchFamily="34" charset="-120"/>
              </a:rPr>
              <a:t>Usuario</a:t>
            </a:r>
            <a:endParaRPr lang="es-AR" sz="1200" dirty="0"/>
          </a:p>
          <a:p>
            <a:pPr indent="0" marL="0">
              <a:spcAft>
                <a:spcPts val="200"/>
              </a:spcAft>
              <a:buNone/>
            </a:pPr>
            <a:r>
              <a:rPr lang="es-AR" altLang="en-US" sz="1200" dirty="0">
                <a:solidFill>
                  <a:schemeClr val="bg2"/>
                </a:solidFill>
                <a:latin typeface="Courier New" pitchFamily="34" charset="0"/>
                <a:ea typeface="Courier New" pitchFamily="34" charset="-122"/>
                <a:cs typeface="Courier New" pitchFamily="34" charset="-120"/>
              </a:rPr>
              <a:t>  mfrancesconi</a:t>
            </a:r>
            <a:endParaRPr lang="es-AR" sz="1200" dirty="0"/>
          </a:p>
          <a:p>
            <a:pPr indent="0" marL="0">
              <a:spcAft>
                <a:spcPts val="200"/>
              </a:spcAft>
              <a:buNone/>
            </a:pPr>
            <a:r>
              <a:rPr lang="es-AR" altLang="en-US" sz="1200" b="1" dirty="0">
                <a:solidFill>
                  <a:schemeClr val="bg2"/>
                </a:solidFill>
                <a:latin typeface="Courier New" pitchFamily="34" charset="0"/>
                <a:ea typeface="Courier New" pitchFamily="34" charset="-122"/>
                <a:cs typeface="Courier New" pitchFamily="34" charset="-120"/>
              </a:rPr>
              <a:t>Contraseña</a:t>
            </a:r>
            <a:endParaRPr lang="es-AR" sz="1200" dirty="0"/>
          </a:p>
          <a:p>
            <a:pPr indent="0" marL="0">
              <a:spcAft>
                <a:spcPts val="200"/>
              </a:spcAft>
              <a:buNone/>
            </a:pPr>
            <a:r>
              <a:rPr lang="es-AR" altLang="en-US" sz="1200" b="1" dirty="0">
                <a:solidFill>
                  <a:schemeClr val="accent2"/>
                </a:solidFill>
                <a:latin typeface="Courier New" pitchFamily="34" charset="0"/>
                <a:ea typeface="Courier New" pitchFamily="34" charset="-122"/>
                <a:cs typeface="Courier New" pitchFamily="34" charset="-120"/>
              </a:rPr>
              <a:t>  ••••  (texto plano)</a:t>
            </a:r>
            <a:endParaRPr lang="es-AR" sz="1200" dirty="0"/>
          </a:p>
        </p:txBody>
      </p:sp>
      <p:sp>
        <p:nvSpPr>
          <p:cNvPr id="11" name="Text 6"/>
          <p:cNvSpPr txBox="1"/>
          <p:nvPr/>
        </p:nvSpPr>
        <p:spPr>
          <a:xfrm>
            <a:off x="822960" y="4526280"/>
            <a:ext cx="4937760" cy="914400"/>
          </a:xfrm>
          <a:prstGeom prst="rect">
            <a:avLst/>
          </a:prstGeom>
          <a:noFill/>
          <a:ln/>
        </p:spPr>
        <p:txBody>
          <a:bodyPr wrap="square" lIns="0" tIns="0" rIns="0" bIns="0" rtlCol="0" anchor="t"/>
          <a:lstStyle/>
          <a:p>
            <a:pPr indent="0" marL="0">
              <a:buNone/>
            </a:pPr>
            <a:r>
              <a:rPr lang="es-AR" altLang="en-US" sz="1400" dirty="0">
                <a:solidFill>
                  <a:schemeClr val="accent3"/>
                </a:solidFill>
              </a:rPr>
              <a:t>En pantalla se ve con puntos, pero cualquier programa de la sesión puede leer el valor real (acá ocultado).</a:t>
            </a:r>
            <a:endParaRPr lang="es-AR" sz="1400" dirty="0"/>
          </a:p>
        </p:txBody>
      </p:sp>
      <p:sp>
        <p:nvSpPr>
          <p:cNvPr id="12" name="tarjeta-ev-as"/>
          <p:cNvSpPr/>
          <p:nvPr/>
        </p:nvSpPr>
        <p:spPr>
          <a:xfrm>
            <a:off x="6172200" y="1325880"/>
            <a:ext cx="5440680" cy="4754880"/>
          </a:xfrm>
          <a:prstGeom prst="roundRect">
            <a:avLst>
              <a:gd name="adj" fmla="val 2308"/>
            </a:avLst>
          </a:prstGeom>
          <a:solidFill>
            <a:schemeClr val="bg2"/>
          </a:solidFill>
          <a:ln/>
          <a:effectLst>
            <a:outerShdw sx="100000" sy="100000" kx="0" ky="0" algn="bl" rotWithShape="0" blurRad="101600" dist="25400" dir="5400000">
              <a:srgbClr val="1B2430">
                <a:alpha val="12000"/>
              </a:srgbClr>
            </a:outerShdw>
          </a:effectLst>
        </p:spPr>
      </p:sp>
      <p:sp>
        <p:nvSpPr>
          <p:cNvPr id="13" name="circulo-ev-as"/>
          <p:cNvSpPr/>
          <p:nvPr/>
        </p:nvSpPr>
        <p:spPr>
          <a:xfrm>
            <a:off x="6446520" y="1554480"/>
            <a:ext cx="594360" cy="594360"/>
          </a:xfrm>
          <a:prstGeom prst="ellipse">
            <a:avLst/>
          </a:prstGeom>
          <a:solidFill>
            <a:schemeClr val="accent4"/>
          </a:solidFill>
          <a:ln/>
        </p:spPr>
      </p:sp>
      <p:pic>
        <p:nvPicPr>
          <p:cNvPr id="14" name="icono-ev-as" descr="preencoded.png">    </p:cNvPr>
          <p:cNvPicPr>
            <a:picLocks noChangeAspect="1"/>
          </p:cNvPicPr>
          <p:nvPr/>
        </p:nvPicPr>
        <p:blipFill>
          <a:blip r:embed="rId3"/>
          <a:stretch>
            <a:fillRect/>
          </a:stretch>
        </p:blipFill>
        <p:spPr>
          <a:xfrm>
            <a:off x="6601054" y="1709014"/>
            <a:ext cx="285293" cy="285293"/>
          </a:xfrm>
          <a:prstGeom prst="rect">
            <a:avLst/>
          </a:prstGeom>
        </p:spPr>
      </p:pic>
      <p:sp>
        <p:nvSpPr>
          <p:cNvPr id="15" name="Text 9"/>
          <p:cNvSpPr txBox="1"/>
          <p:nvPr/>
        </p:nvSpPr>
        <p:spPr>
          <a:xfrm>
            <a:off x="7223760" y="1645920"/>
            <a:ext cx="4572000" cy="411480"/>
          </a:xfrm>
          <a:prstGeom prst="rect">
            <a:avLst/>
          </a:prstGeom>
          <a:noFill/>
          <a:ln/>
        </p:spPr>
        <p:txBody>
          <a:bodyPr wrap="square" lIns="0" tIns="0" rIns="0" bIns="0" rtlCol="0" anchor="ctr"/>
          <a:lstStyle/>
          <a:p>
            <a:pPr indent="0" marL="0">
              <a:buNone/>
            </a:pPr>
            <a:r>
              <a:rPr lang="es-AR" altLang="en-US" sz="1800" b="1" dirty="0">
                <a:solidFill>
                  <a:schemeClr val="tx1"/>
                </a:solidFill>
              </a:rPr>
              <a:t>Ejecuciones salteadas (#37)</a:t>
            </a:r>
            <a:endParaRPr lang="es-AR" sz="1800" dirty="0"/>
          </a:p>
        </p:txBody>
      </p:sp>
      <p:sp>
        <p:nvSpPr>
          <p:cNvPr id="16" name="consola-as"/>
          <p:cNvSpPr/>
          <p:nvPr/>
        </p:nvSpPr>
        <p:spPr>
          <a:xfrm>
            <a:off x="6446520" y="2377440"/>
            <a:ext cx="4937760" cy="1929384"/>
          </a:xfrm>
          <a:prstGeom prst="roundRect">
            <a:avLst>
              <a:gd name="adj" fmla="val 3791"/>
            </a:avLst>
          </a:prstGeom>
          <a:solidFill>
            <a:schemeClr val="tx2"/>
          </a:solidFill>
          <a:ln/>
        </p:spPr>
      </p:sp>
      <p:sp>
        <p:nvSpPr>
          <p:cNvPr id="17" name="Text 11"/>
          <p:cNvSpPr txBox="1"/>
          <p:nvPr/>
        </p:nvSpPr>
        <p:spPr>
          <a:xfrm>
            <a:off x="6629400" y="2514600"/>
            <a:ext cx="4572000" cy="1655064"/>
          </a:xfrm>
          <a:prstGeom prst="rect">
            <a:avLst/>
          </a:prstGeom>
          <a:noFill/>
          <a:ln/>
        </p:spPr>
        <p:txBody>
          <a:bodyPr wrap="square" lIns="0" tIns="0" rIns="0" bIns="0" rtlCol="0" anchor="t"/>
          <a:lstStyle/>
          <a:p>
            <a:pPr indent="0" marL="0">
              <a:spcAft>
                <a:spcPts val="200"/>
              </a:spcAft>
              <a:buNone/>
            </a:pPr>
            <a:r>
              <a:rPr lang="es-AR" altLang="en-US" sz="1200" dirty="0">
                <a:solidFill>
                  <a:schemeClr val="bg2"/>
                </a:solidFill>
                <a:latin typeface="Courier New" pitchFamily="34" charset="0"/>
                <a:ea typeface="Courier New" pitchFamily="34" charset="-122"/>
                <a:cs typeface="Courier New" pitchFamily="34" charset="-120"/>
              </a:rPr>
              <a:t>13:32:40 tarea 53 · Executing Programmable Task.</a:t>
            </a:r>
            <a:endParaRPr lang="es-AR" sz="1200" dirty="0"/>
          </a:p>
          <a:p>
            <a:pPr indent="0" marL="0">
              <a:spcAft>
                <a:spcPts val="200"/>
              </a:spcAft>
              <a:buNone/>
            </a:pPr>
            <a:r>
              <a:rPr lang="es-AR" altLang="en-US" sz="1200" dirty="0">
                <a:solidFill>
                  <a:schemeClr val="bg2"/>
                </a:solidFill>
                <a:latin typeface="Courier New" pitchFamily="34" charset="0"/>
                <a:ea typeface="Courier New" pitchFamily="34" charset="-122"/>
                <a:cs typeface="Courier New" pitchFamily="34" charset="-120"/>
              </a:rPr>
              <a:t>13:32:50 tarea 53 · Connection established</a:t>
            </a:r>
            <a:endParaRPr lang="es-AR" sz="1200" dirty="0"/>
          </a:p>
          <a:p>
            <a:pPr indent="0" marL="0">
              <a:spcAft>
                <a:spcPts val="200"/>
              </a:spcAft>
              <a:buNone/>
            </a:pPr>
            <a:r>
              <a:rPr lang="es-AR" altLang="en-US" sz="1200" b="1" dirty="0">
                <a:solidFill>
                  <a:schemeClr val="accent2"/>
                </a:solidFill>
                <a:latin typeface="Courier New" pitchFamily="34" charset="0"/>
                <a:ea typeface="Courier New" pitchFamily="34" charset="-122"/>
                <a:cs typeface="Courier New" pitchFamily="34" charset="-120"/>
              </a:rPr>
              <a:t>13:32:50 tarea 53 · processed 1 frames</a:t>
            </a:r>
            <a:endParaRPr lang="es-AR" sz="1200" dirty="0"/>
          </a:p>
          <a:p>
            <a:pPr indent="0" marL="0">
              <a:spcAft>
                <a:spcPts val="200"/>
              </a:spcAft>
              <a:buNone/>
            </a:pPr>
            <a:r>
              <a:rPr lang="es-AR" altLang="en-US" sz="1200" b="1" dirty="0">
                <a:solidFill>
                  <a:schemeClr val="accent2"/>
                </a:solidFill>
                <a:latin typeface="Courier New" pitchFamily="34" charset="0"/>
                <a:ea typeface="Courier New" pitchFamily="34" charset="-122"/>
                <a:cs typeface="Courier New" pitchFamily="34" charset="-120"/>
              </a:rPr>
              <a:t>13:32:51 tarea 53 · has been skipped for today</a:t>
            </a:r>
            <a:endParaRPr lang="es-AR" sz="1200" dirty="0"/>
          </a:p>
          <a:p>
            <a:pPr indent="0" marL="0">
              <a:spcAft>
                <a:spcPts val="200"/>
              </a:spcAft>
              <a:buNone/>
            </a:pPr>
            <a:r>
              <a:rPr lang="es-AR" altLang="en-US" sz="1200" dirty="0">
                <a:solidFill>
                  <a:schemeClr val="bg2"/>
                </a:solidFill>
                <a:latin typeface="Courier New" pitchFamily="34" charset="0"/>
                <a:ea typeface="Courier New" pitchFamily="34" charset="-122"/>
                <a:cs typeface="Courier New" pitchFamily="34" charset="-120"/>
              </a:rPr>
              <a:t>13:32:52 webhook · Exception: Timeout</a:t>
            </a:r>
            <a:endParaRPr lang="es-AR" sz="1200" dirty="0"/>
          </a:p>
        </p:txBody>
      </p:sp>
      <p:sp>
        <p:nvSpPr>
          <p:cNvPr id="18" name="Text 12"/>
          <p:cNvSpPr txBox="1"/>
          <p:nvPr/>
        </p:nvSpPr>
        <p:spPr>
          <a:xfrm>
            <a:off x="6446520" y="4526280"/>
            <a:ext cx="4937760" cy="914400"/>
          </a:xfrm>
          <a:prstGeom prst="rect">
            <a:avLst/>
          </a:prstGeom>
          <a:noFill/>
          <a:ln/>
        </p:spPr>
        <p:txBody>
          <a:bodyPr wrap="square" lIns="0" tIns="0" rIns="0" bIns="0" rtlCol="0" anchor="t"/>
          <a:lstStyle/>
          <a:p>
            <a:pPr indent="0" marL="0">
              <a:buNone/>
            </a:pPr>
            <a:r>
              <a:rPr lang="es-AR" altLang="en-US" sz="1400" dirty="0">
                <a:solidFill>
                  <a:schemeClr val="accent3"/>
                </a:solidFill>
              </a:rPr>
              <a:t>AS analizó la imagen y el evento llegó a Control Center, pero registró la ejecución como salteada. Otras veces la saltea de verdad, sin imagen de la cámara.</a:t>
            </a:r>
            <a:endParaRPr lang="es-AR" sz="14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Evidencia: datos y formatos</a:t>
            </a:r>
            <a:endParaRPr lang="es-AR" sz="3200" dirty="0"/>
          </a:p>
        </p:txBody>
      </p:sp>
      <p:sp>
        <p:nvSpPr>
          <p:cNvPr id="4" name="tarjeta-ev-limpieza"/>
          <p:cNvSpPr/>
          <p:nvPr/>
        </p:nvSpPr>
        <p:spPr>
          <a:xfrm>
            <a:off x="548640" y="1325880"/>
            <a:ext cx="4572000" cy="4754880"/>
          </a:xfrm>
          <a:prstGeom prst="roundRect">
            <a:avLst>
              <a:gd name="adj" fmla="val 2400"/>
            </a:avLst>
          </a:prstGeom>
          <a:solidFill>
            <a:schemeClr val="bg2"/>
          </a:solidFill>
          <a:ln/>
          <a:effectLst>
            <a:outerShdw sx="100000" sy="100000" kx="0" ky="0" algn="bl" rotWithShape="0" blurRad="101600" dist="25400" dir="5400000">
              <a:srgbClr val="1B2430">
                <a:alpha val="12000"/>
              </a:srgbClr>
            </a:outerShdw>
          </a:effectLst>
        </p:spPr>
      </p:sp>
      <p:sp>
        <p:nvSpPr>
          <p:cNvPr id="5" name="circulo-ev-limpieza"/>
          <p:cNvSpPr/>
          <p:nvPr/>
        </p:nvSpPr>
        <p:spPr>
          <a:xfrm>
            <a:off x="822960" y="1554480"/>
            <a:ext cx="594360" cy="594360"/>
          </a:xfrm>
          <a:prstGeom prst="ellipse">
            <a:avLst/>
          </a:prstGeom>
          <a:solidFill>
            <a:schemeClr val="accent2"/>
          </a:solidFill>
          <a:ln/>
        </p:spPr>
      </p:sp>
      <p:pic>
        <p:nvPicPr>
          <p:cNvPr id="6" name="icono-ev-limpieza" descr="preencoded.png">    </p:cNvPr>
          <p:cNvPicPr>
            <a:picLocks noChangeAspect="1"/>
          </p:cNvPicPr>
          <p:nvPr/>
        </p:nvPicPr>
        <p:blipFill>
          <a:blip r:embed="rId1"/>
          <a:stretch>
            <a:fillRect/>
          </a:stretch>
        </p:blipFill>
        <p:spPr>
          <a:xfrm>
            <a:off x="977494" y="1709014"/>
            <a:ext cx="285293" cy="285293"/>
          </a:xfrm>
          <a:prstGeom prst="rect">
            <a:avLst/>
          </a:prstGeom>
        </p:spPr>
      </p:pic>
      <p:sp>
        <p:nvSpPr>
          <p:cNvPr id="7" name="Text 3"/>
          <p:cNvSpPr txBox="1"/>
          <p:nvPr/>
        </p:nvSpPr>
        <p:spPr>
          <a:xfrm>
            <a:off x="1600200" y="1645920"/>
            <a:ext cx="4572000" cy="411480"/>
          </a:xfrm>
          <a:prstGeom prst="rect">
            <a:avLst/>
          </a:prstGeom>
          <a:noFill/>
          <a:ln/>
        </p:spPr>
        <p:txBody>
          <a:bodyPr wrap="square" lIns="0" tIns="0" rIns="0" bIns="0" rtlCol="0" anchor="ctr"/>
          <a:lstStyle/>
          <a:p>
            <a:pPr indent="0" marL="0">
              <a:buNone/>
            </a:pPr>
            <a:r>
              <a:rPr lang="es-AR" altLang="en-US" sz="1800" b="1" dirty="0">
                <a:solidFill>
                  <a:schemeClr val="tx1"/>
                </a:solidFill>
              </a:rPr>
              <a:t>Limpieza incompleta (#32)</a:t>
            </a:r>
            <a:endParaRPr lang="es-AR" sz="1800" dirty="0"/>
          </a:p>
        </p:txBody>
      </p:sp>
      <p:sp>
        <p:nvSpPr>
          <p:cNvPr id="8" name="consola-limpieza"/>
          <p:cNvSpPr/>
          <p:nvPr/>
        </p:nvSpPr>
        <p:spPr>
          <a:xfrm>
            <a:off x="822960" y="2377440"/>
            <a:ext cx="4023360" cy="1737360"/>
          </a:xfrm>
          <a:prstGeom prst="roundRect">
            <a:avLst>
              <a:gd name="adj" fmla="val 4211"/>
            </a:avLst>
          </a:prstGeom>
          <a:solidFill>
            <a:schemeClr val="tx2"/>
          </a:solidFill>
          <a:ln/>
        </p:spPr>
      </p:sp>
      <p:sp>
        <p:nvSpPr>
          <p:cNvPr id="9" name="Text 5"/>
          <p:cNvSpPr txBox="1"/>
          <p:nvPr/>
        </p:nvSpPr>
        <p:spPr>
          <a:xfrm>
            <a:off x="1005840" y="2514600"/>
            <a:ext cx="3657600" cy="1463040"/>
          </a:xfrm>
          <a:prstGeom prst="rect">
            <a:avLst/>
          </a:prstGeom>
          <a:noFill/>
          <a:ln/>
        </p:spPr>
        <p:txBody>
          <a:bodyPr wrap="square" lIns="0" tIns="0" rIns="0" bIns="0" rtlCol="0" anchor="t"/>
          <a:lstStyle/>
          <a:p>
            <a:pPr indent="0" marL="0">
              <a:spcAft>
                <a:spcPts val="200"/>
              </a:spcAft>
              <a:buNone/>
            </a:pPr>
            <a:r>
              <a:rPr lang="es-AR" altLang="en-US" sz="1200" b="1" dirty="0">
                <a:solidFill>
                  <a:schemeClr val="accent2"/>
                </a:solidFill>
                <a:latin typeface="Courier New" pitchFamily="34" charset="0"/>
                <a:ea typeface="Courier New" pitchFamily="34" charset="-122"/>
                <a:cs typeface="Courier New" pitchFamily="34" charset="-120"/>
              </a:rPr>
              <a:t>Error: NEW157 sigue activa</a:t>
            </a:r>
            <a:endParaRPr lang="es-AR" sz="1200" dirty="0"/>
          </a:p>
          <a:p>
            <a:pPr indent="0" marL="0">
              <a:spcAft>
                <a:spcPts val="200"/>
              </a:spcAft>
              <a:buNone/>
            </a:pPr>
            <a:r>
              <a:rPr lang="es-AR" altLang="en-US" sz="1200" b="1" dirty="0">
                <a:solidFill>
                  <a:schemeClr val="accent2"/>
                </a:solidFill>
                <a:latin typeface="Courier New" pitchFamily="34" charset="0"/>
                <a:ea typeface="Courier New" pitchFamily="34" charset="-122"/>
                <a:cs typeface="Courier New" pitchFamily="34" charset="-120"/>
              </a:rPr>
              <a:t>       en la base</a:t>
            </a:r>
            <a:endParaRPr lang="es-AR" sz="1200" dirty="0"/>
          </a:p>
          <a:p>
            <a:pPr indent="0" marL="0">
              <a:spcAft>
                <a:spcPts val="200"/>
              </a:spcAft>
              <a:buNone/>
            </a:pPr>
            <a:endParaRPr lang="es-AR" sz="1200" dirty="0"/>
          </a:p>
          <a:p>
            <a:pPr indent="0" marL="0">
              <a:spcAft>
                <a:spcPts val="200"/>
              </a:spcAft>
              <a:buNone/>
            </a:pPr>
            <a:r>
              <a:rPr lang="es-AR" altLang="en-US" sz="1200" dirty="0">
                <a:solidFill>
                  <a:schemeClr val="bg2"/>
                </a:solidFill>
                <a:latin typeface="Courier New" pitchFamily="34" charset="0"/>
                <a:ea typeface="Courier New" pitchFamily="34" charset="-122"/>
                <a:cs typeface="Courier New" pitchFamily="34" charset="-120"/>
              </a:rPr>
              <a:t>Expected: []</a:t>
            </a:r>
            <a:endParaRPr lang="es-AR" sz="1200" dirty="0"/>
          </a:p>
          <a:p>
            <a:pPr indent="0" marL="0">
              <a:spcAft>
                <a:spcPts val="200"/>
              </a:spcAft>
              <a:buNone/>
            </a:pPr>
            <a:r>
              <a:rPr lang="es-AR" altLang="en-US" sz="1200" dirty="0">
                <a:solidFill>
                  <a:schemeClr val="bg2"/>
                </a:solidFill>
                <a:latin typeface="Courier New" pitchFamily="34" charset="0"/>
                <a:ea typeface="Courier New" pitchFamily="34" charset="-122"/>
                <a:cs typeface="Courier New" pitchFamily="34" charset="-120"/>
              </a:rPr>
              <a:t>Received: [41]</a:t>
            </a:r>
            <a:endParaRPr lang="es-AR" sz="1200" dirty="0"/>
          </a:p>
        </p:txBody>
      </p:sp>
      <p:sp>
        <p:nvSpPr>
          <p:cNvPr id="10" name="Text 6"/>
          <p:cNvSpPr txBox="1"/>
          <p:nvPr/>
        </p:nvSpPr>
        <p:spPr>
          <a:xfrm>
            <a:off x="822960" y="4343400"/>
            <a:ext cx="4023360" cy="1097280"/>
          </a:xfrm>
          <a:prstGeom prst="rect">
            <a:avLst/>
          </a:prstGeom>
          <a:noFill/>
          <a:ln/>
        </p:spPr>
        <p:txBody>
          <a:bodyPr wrap="square" lIns="0" tIns="0" rIns="0" bIns="0" rtlCol="0" anchor="t"/>
          <a:lstStyle/>
          <a:p>
            <a:pPr indent="0" marL="0">
              <a:buNone/>
            </a:pPr>
            <a:r>
              <a:rPr lang="es-AR" altLang="en-US" sz="1400" dirty="0">
                <a:solidFill>
                  <a:schemeClr val="accent3"/>
                </a:solidFill>
              </a:rPr>
              <a:t>Por pantalla el test seguía en verde; la base mostró que solo borraba la primera patente. Lo corregimos en nuestro test.</a:t>
            </a:r>
            <a:endParaRPr lang="es-AR" sz="1400" dirty="0"/>
          </a:p>
        </p:txBody>
      </p:sp>
      <p:sp>
        <p:nvSpPr>
          <p:cNvPr id="11" name="tarjeta-ev-formatos"/>
          <p:cNvSpPr/>
          <p:nvPr/>
        </p:nvSpPr>
        <p:spPr>
          <a:xfrm>
            <a:off x="5349240" y="1325880"/>
            <a:ext cx="6263640" cy="4754880"/>
          </a:xfrm>
          <a:prstGeom prst="roundRect">
            <a:avLst>
              <a:gd name="adj" fmla="val 2308"/>
            </a:avLst>
          </a:prstGeom>
          <a:solidFill>
            <a:schemeClr val="bg2"/>
          </a:solidFill>
          <a:ln/>
          <a:effectLst>
            <a:outerShdw sx="100000" sy="100000" kx="0" ky="0" algn="bl" rotWithShape="0" blurRad="101600" dist="25400" dir="5400000">
              <a:srgbClr val="1B2430">
                <a:alpha val="12000"/>
              </a:srgbClr>
            </a:outerShdw>
          </a:effectLst>
        </p:spPr>
      </p:sp>
      <p:sp>
        <p:nvSpPr>
          <p:cNvPr id="12" name="circulo-ev-nombre"/>
          <p:cNvSpPr/>
          <p:nvPr/>
        </p:nvSpPr>
        <p:spPr>
          <a:xfrm>
            <a:off x="5623560" y="1554480"/>
            <a:ext cx="594360" cy="594360"/>
          </a:xfrm>
          <a:prstGeom prst="ellipse">
            <a:avLst/>
          </a:prstGeom>
          <a:solidFill>
            <a:schemeClr val="accent6"/>
          </a:solidFill>
          <a:ln/>
        </p:spPr>
      </p:sp>
      <p:pic>
        <p:nvPicPr>
          <p:cNvPr id="13" name="icono-ev-nombre" descr="preencoded.png">    </p:cNvPr>
          <p:cNvPicPr>
            <a:picLocks noChangeAspect="1"/>
          </p:cNvPicPr>
          <p:nvPr/>
        </p:nvPicPr>
        <p:blipFill>
          <a:blip r:embed="rId2"/>
          <a:stretch>
            <a:fillRect/>
          </a:stretch>
        </p:blipFill>
        <p:spPr>
          <a:xfrm>
            <a:off x="5778094" y="1709014"/>
            <a:ext cx="285293" cy="285293"/>
          </a:xfrm>
          <a:prstGeom prst="rect">
            <a:avLst/>
          </a:prstGeom>
        </p:spPr>
      </p:pic>
      <p:sp>
        <p:nvSpPr>
          <p:cNvPr id="14" name="Text 9"/>
          <p:cNvSpPr txBox="1"/>
          <p:nvPr/>
        </p:nvSpPr>
        <p:spPr>
          <a:xfrm>
            <a:off x="6400800" y="1645920"/>
            <a:ext cx="4572000" cy="411480"/>
          </a:xfrm>
          <a:prstGeom prst="rect">
            <a:avLst/>
          </a:prstGeom>
          <a:noFill/>
          <a:ln/>
        </p:spPr>
        <p:txBody>
          <a:bodyPr wrap="square" lIns="0" tIns="0" rIns="0" bIns="0" rtlCol="0" anchor="ctr"/>
          <a:lstStyle/>
          <a:p>
            <a:pPr indent="0" marL="0">
              <a:buNone/>
            </a:pPr>
            <a:r>
              <a:rPr lang="es-AR" altLang="en-US" sz="1800" b="1" dirty="0">
                <a:solidFill>
                  <a:schemeClr val="tx1"/>
                </a:solidFill>
              </a:rPr>
              <a:t>Nombre sin ":"</a:t>
            </a:r>
            <a:endParaRPr lang="es-AR" sz="1800" dirty="0"/>
          </a:p>
        </p:txBody>
      </p:sp>
      <p:pic>
        <p:nvPicPr>
          <p:cNvPr id="15" name="captura-nombre" descr="ev-nombre.png">    </p:cNvPr>
          <p:cNvPicPr>
            <a:picLocks noChangeAspect="1"/>
          </p:cNvPicPr>
          <p:nvPr/>
        </p:nvPicPr>
        <p:blipFill>
          <a:blip r:embed="rId3"/>
          <a:stretch>
            <a:fillRect/>
          </a:stretch>
        </p:blipFill>
        <p:spPr>
          <a:xfrm>
            <a:off x="5623560" y="2286000"/>
            <a:ext cx="3291840" cy="1362456"/>
          </a:xfrm>
          <a:prstGeom prst="rect">
            <a:avLst/>
          </a:prstGeom>
        </p:spPr>
      </p:pic>
      <p:sp>
        <p:nvSpPr>
          <p:cNvPr id="16" name="Text 10"/>
          <p:cNvSpPr txBox="1"/>
          <p:nvPr/>
        </p:nvSpPr>
        <p:spPr>
          <a:xfrm>
            <a:off x="9098280" y="2331720"/>
            <a:ext cx="2286000" cy="1280160"/>
          </a:xfrm>
          <a:prstGeom prst="rect">
            <a:avLst/>
          </a:prstGeom>
          <a:noFill/>
          <a:ln/>
        </p:spPr>
        <p:txBody>
          <a:bodyPr wrap="square" lIns="0" tIns="0" rIns="0" bIns="0" rtlCol="0" anchor="t"/>
          <a:lstStyle/>
          <a:p>
            <a:pPr indent="0" marL="0">
              <a:buNone/>
            </a:pPr>
            <a:r>
              <a:rPr lang="es-AR" altLang="en-US" sz="1400" dirty="0">
                <a:solidFill>
                  <a:schemeClr val="accent3"/>
                </a:solidFill>
              </a:rPr>
              <a:t>Se tipeó "QA-AUTO 2026-10-15 12:04": Control Center borró los ":" sin avisar.</a:t>
            </a:r>
            <a:endParaRPr lang="es-AR" sz="1400" dirty="0"/>
          </a:p>
        </p:txBody>
      </p:sp>
      <p:sp>
        <p:nvSpPr>
          <p:cNvPr id="17" name="circulo-ev-fechas"/>
          <p:cNvSpPr/>
          <p:nvPr/>
        </p:nvSpPr>
        <p:spPr>
          <a:xfrm>
            <a:off x="5623560" y="3931920"/>
            <a:ext cx="594360" cy="594360"/>
          </a:xfrm>
          <a:prstGeom prst="ellipse">
            <a:avLst/>
          </a:prstGeom>
          <a:solidFill>
            <a:schemeClr val="accent6"/>
          </a:solidFill>
          <a:ln/>
        </p:spPr>
      </p:sp>
      <p:pic>
        <p:nvPicPr>
          <p:cNvPr id="18" name="icono-ev-fechas" descr="preencoded.png">    </p:cNvPr>
          <p:cNvPicPr>
            <a:picLocks noChangeAspect="1"/>
          </p:cNvPicPr>
          <p:nvPr/>
        </p:nvPicPr>
        <p:blipFill>
          <a:blip r:embed="rId4"/>
          <a:stretch>
            <a:fillRect/>
          </a:stretch>
        </p:blipFill>
        <p:spPr>
          <a:xfrm>
            <a:off x="5778094" y="4086454"/>
            <a:ext cx="285293" cy="285293"/>
          </a:xfrm>
          <a:prstGeom prst="rect">
            <a:avLst/>
          </a:prstGeom>
        </p:spPr>
      </p:pic>
      <p:sp>
        <p:nvSpPr>
          <p:cNvPr id="19" name="Text 12"/>
          <p:cNvSpPr txBox="1"/>
          <p:nvPr/>
        </p:nvSpPr>
        <p:spPr>
          <a:xfrm>
            <a:off x="6400800" y="4023360"/>
            <a:ext cx="4572000" cy="411480"/>
          </a:xfrm>
          <a:prstGeom prst="rect">
            <a:avLst/>
          </a:prstGeom>
          <a:noFill/>
          <a:ln/>
        </p:spPr>
        <p:txBody>
          <a:bodyPr wrap="square" lIns="0" tIns="0" rIns="0" bIns="0" rtlCol="0" anchor="ctr"/>
          <a:lstStyle/>
          <a:p>
            <a:pPr indent="0" marL="0">
              <a:buNone/>
            </a:pPr>
            <a:r>
              <a:rPr lang="es-AR" altLang="en-US" sz="1800" b="1" dirty="0">
                <a:solidFill>
                  <a:schemeClr val="tx1"/>
                </a:solidFill>
              </a:rPr>
              <a:t>Fechas mes/día/año</a:t>
            </a:r>
            <a:endParaRPr lang="es-AR" sz="1800" dirty="0"/>
          </a:p>
        </p:txBody>
      </p:sp>
      <p:pic>
        <p:nvPicPr>
          <p:cNvPr id="20" name="captura-fechas" descr="ev-fechas.png">    </p:cNvPr>
          <p:cNvPicPr>
            <a:picLocks noChangeAspect="1"/>
          </p:cNvPicPr>
          <p:nvPr/>
        </p:nvPicPr>
        <p:blipFill>
          <a:blip r:embed="rId5"/>
          <a:stretch>
            <a:fillRect/>
          </a:stretch>
        </p:blipFill>
        <p:spPr>
          <a:xfrm>
            <a:off x="5623560" y="4617720"/>
            <a:ext cx="3840480" cy="731520"/>
          </a:xfrm>
          <a:prstGeom prst="rect">
            <a:avLst/>
          </a:prstGeom>
        </p:spPr>
      </p:pic>
      <p:sp>
        <p:nvSpPr>
          <p:cNvPr id="21" name="Text 13"/>
          <p:cNvSpPr txBox="1"/>
          <p:nvPr/>
        </p:nvSpPr>
        <p:spPr>
          <a:xfrm>
            <a:off x="9646920" y="4526280"/>
            <a:ext cx="1783080" cy="1371600"/>
          </a:xfrm>
          <a:prstGeom prst="rect">
            <a:avLst/>
          </a:prstGeom>
          <a:noFill/>
          <a:ln/>
        </p:spPr>
        <p:txBody>
          <a:bodyPr wrap="square" lIns="0" tIns="0" rIns="0" bIns="0" rtlCol="0" anchor="t"/>
          <a:lstStyle/>
          <a:p>
            <a:pPr indent="0" marL="0">
              <a:buNone/>
            </a:pPr>
            <a:r>
              <a:rPr lang="es-AR" altLang="en-US" sz="1400" dirty="0">
                <a:solidFill>
                  <a:schemeClr val="accent3"/>
                </a:solidFill>
              </a:rPr>
              <a:t>Biblioteca Digital usa mes/día/año; el resto de la aplicación, día/mes/año (15/10/2026).</a:t>
            </a:r>
            <a:endParaRPr lang="es-AR" sz="14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8229600" cy="1097280"/>
          </a:xfrm>
          <a:prstGeom prst="rect">
            <a:avLst/>
          </a:prstGeom>
          <a:noFill/>
          <a:ln/>
        </p:spPr>
        <p:txBody>
          <a:bodyPr wrap="square" lIns="0" tIns="0" rIns="0" bIns="0" rtlCol="0" anchor="t"/>
          <a:lstStyle/>
          <a:p>
            <a:pPr algn="l" indent="0" marL="0">
              <a:buNone/>
            </a:pPr>
            <a:r>
              <a:rPr lang="es-AR" altLang="en-US" sz="4000" b="1" dirty="0">
                <a:solidFill>
                  <a:schemeClr val="bg1"/>
                </a:solidFill>
              </a:rPr>
              <a:t>Frameworks y CI/CD</a:t>
            </a:r>
            <a:endParaRPr lang="es-AR" sz="4000" dirty="0"/>
          </a:p>
        </p:txBody>
      </p:sp>
      <p:sp>
        <p:nvSpPr>
          <p:cNvPr id="4" name="Text 0"/>
          <p:cNvSpPr/>
          <p:nvPr>
            <p:ph idx="101" type="body" hasCustomPrompt="1"/>
          </p:nvPr>
        </p:nvSpPr>
        <p:spPr>
          <a:xfrm>
            <a:off x="731520" y="3931920"/>
            <a:ext cx="8229600" cy="914400"/>
          </a:xfrm>
          <a:prstGeom prst="rect">
            <a:avLst/>
          </a:prstGeom>
          <a:noFill/>
          <a:ln/>
        </p:spPr>
        <p:txBody>
          <a:bodyPr wrap="square" lIns="0" tIns="0" rIns="0" bIns="0" rtlCol="0" anchor="t"/>
          <a:lstStyle/>
          <a:p>
            <a:pPr indent="0" marL="0">
              <a:buNone/>
            </a:pPr>
            <a:r>
              <a:rPr lang="es-AR" altLang="en-US" sz="1800" dirty="0">
                <a:solidFill>
                  <a:schemeClr val="bg2"/>
                </a:solidFill>
              </a:rPr>
              <a:t>Los mismos casos en cuatro herramientas, y cómo corren solos</a:t>
            </a:r>
            <a:endParaRPr lang="es-AR" sz="1800" dirty="0"/>
          </a:p>
        </p:txBody>
      </p:sp>
      <p:sp>
        <p:nvSpPr>
          <p:cNvPr id="5" name="Text 2"/>
          <p:cNvSpPr txBox="1"/>
          <p:nvPr/>
        </p:nvSpPr>
        <p:spPr>
          <a:xfrm>
            <a:off x="731520" y="1463040"/>
            <a:ext cx="1828800" cy="1097280"/>
          </a:xfrm>
          <a:prstGeom prst="rect">
            <a:avLst/>
          </a:prstGeom>
          <a:noFill/>
          <a:ln/>
        </p:spPr>
        <p:txBody>
          <a:bodyPr wrap="square" lIns="0" tIns="0" rIns="0" bIns="0" rtlCol="0" anchor="t"/>
          <a:lstStyle/>
          <a:p>
            <a:pPr indent="0" marL="0">
              <a:buNone/>
            </a:pPr>
            <a:r>
              <a:rPr lang="es-AR" altLang="en-US" sz="6000" b="1" dirty="0">
                <a:solidFill>
                  <a:schemeClr val="accent2"/>
                </a:solidFill>
                <a:latin typeface="Arial" pitchFamily="34" charset="0"/>
                <a:ea typeface="Arial" pitchFamily="34" charset="-122"/>
                <a:cs typeface="Arial" pitchFamily="34" charset="-120"/>
              </a:rPr>
              <a:t>03</a:t>
            </a:r>
            <a:endParaRPr lang="es-AR" sz="6000" dirty="0"/>
          </a:p>
        </p:txBody>
      </p:sp>
      <p:sp>
        <p:nvSpPr>
          <p:cNvPr id="6" name="circulo-sep-03"/>
          <p:cNvSpPr/>
          <p:nvPr/>
        </p:nvSpPr>
        <p:spPr>
          <a:xfrm>
            <a:off x="9052560" y="2194560"/>
            <a:ext cx="2194560" cy="2194560"/>
          </a:xfrm>
          <a:prstGeom prst="ellipse">
            <a:avLst/>
          </a:prstGeom>
          <a:solidFill>
            <a:schemeClr val="accent1"/>
          </a:solidFill>
          <a:ln/>
        </p:spPr>
      </p:sp>
      <p:pic>
        <p:nvPicPr>
          <p:cNvPr id="7" name="icono-sep-03" descr="preencoded.png">    </p:cNvPr>
          <p:cNvPicPr>
            <a:picLocks noChangeAspect="1"/>
          </p:cNvPicPr>
          <p:nvPr/>
        </p:nvPicPr>
        <p:blipFill>
          <a:blip r:embed="rId1"/>
          <a:stretch>
            <a:fillRect/>
          </a:stretch>
        </p:blipFill>
        <p:spPr>
          <a:xfrm>
            <a:off x="9623146" y="2765146"/>
            <a:ext cx="1053389" cy="1053389"/>
          </a:xfrm>
          <a:prstGeom prst="rect">
            <a:avLst/>
          </a:prstGeom>
        </p:spPr>
      </p:pic>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Los casos de ANPR en cuatro frameworks</a:t>
            </a:r>
            <a:endParaRPr lang="es-AR" sz="3200" dirty="0"/>
          </a:p>
        </p:txBody>
      </p:sp>
      <p:graphicFrame>
        <p:nvGraphicFramePr>
          <p:cNvPr id="4" name="grafico-comparacion" descr=""/>
          <p:cNvGraphicFramePr/>
          <p:nvPr/>
        </p:nvGraphicFramePr>
        <p:xfrm>
          <a:off x="548640" y="1371600"/>
          <a:ext cx="5669280" cy="42062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623560"/>
            <a:ext cx="5669280" cy="548640"/>
          </a:xfrm>
          <a:prstGeom prst="rect">
            <a:avLst/>
          </a:prstGeom>
          <a:noFill/>
          <a:ln/>
        </p:spPr>
        <p:txBody>
          <a:bodyPr wrap="square" lIns="0" tIns="0" rIns="0" bIns="0" rtlCol="0" anchor="t"/>
          <a:lstStyle/>
          <a:p>
            <a:pPr indent="0" marL="0">
              <a:buNone/>
            </a:pPr>
            <a:r>
              <a:rPr lang="es-AR" altLang="en-US" sz="1200" i="1" dirty="0">
                <a:solidFill>
                  <a:schemeClr val="accent3"/>
                </a:solidFill>
              </a:rPr>
              <a:t>Login (3 casos), logout y smoke de ANPR. Las integraciones solo están en Playwright y no entran en la comparación.</a:t>
            </a:r>
            <a:endParaRPr lang="es-AR" sz="1200" dirty="0"/>
          </a:p>
        </p:txBody>
      </p:sp>
      <p:graphicFrame>
        <p:nvGraphicFramePr>
          <p:cNvPr id="21" name="tabla-frameworks"/>
          <p:cNvGraphicFramePr>
            <a:graphicFrameLocks noGrp="1"/>
          </p:cNvGraphicFramePr>
          <p:nvPr>
            <p:extLst>
              <p:ext uri="{D42A27DB-BD31-4B8C-83A1-F6EECF244321}">
                <p14:modId xmlns:p14="http://schemas.microsoft.com/office/powerpoint/2010/main" val="1579011935"/>
              </p:ext>
            </p:extLst>
          </p:nvPr>
        </p:nvGraphicFramePr>
        <p:xfrm>
          <a:off x="6492240" y="1463040"/>
          <a:ext cx="5120640" cy="914400"/>
        </p:xfrm>
        <a:graphic>
          <a:graphicData uri="http://schemas.openxmlformats.org/drawingml/2006/table">
            <a:tbl>
              <a:tblPr/>
              <a:tblGrid>
                <a:gridCol w="1280160"/>
                <a:gridCol w="1005840"/>
                <a:gridCol w="914400"/>
                <a:gridCol w="960120"/>
                <a:gridCol w="960120"/>
              </a:tblGrid>
              <a:tr h="457200">
                <a:tc>
                  <a:txBody>
                    <a:bodyPr/>
                    <a:lstStyle/>
                    <a:p>
                      <a:pPr indent="0" marL="0">
                        <a:buNone/>
                      </a:pP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Playwright</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Cypress</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Selenium</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Katalon</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r>
              <a:tr h="59436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Licencia para CI</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5"/>
                          </a:solidFill>
                          <a:latin typeface="Calibri" pitchFamily="34" charset="0"/>
                          <a:ea typeface="Calibri" pitchFamily="34" charset="-122"/>
                          <a:cs typeface="Calibri" pitchFamily="34" charset="-120"/>
                        </a:rPr>
                        <a:t>Gratis</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b="1" dirty="0">
                          <a:solidFill>
                            <a:schemeClr val="accent5"/>
                          </a:solidFill>
                          <a:latin typeface="Calibri" pitchFamily="34" charset="0"/>
                          <a:ea typeface="Calibri" pitchFamily="34" charset="-122"/>
                          <a:cs typeface="Calibri" pitchFamily="34" charset="-120"/>
                        </a:rPr>
                        <a:t>Gratis</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b="1" dirty="0">
                          <a:solidFill>
                            <a:schemeClr val="accent5"/>
                          </a:solidFill>
                          <a:latin typeface="Calibri" pitchFamily="34" charset="0"/>
                          <a:ea typeface="Calibri" pitchFamily="34" charset="-122"/>
                          <a:cs typeface="Calibri" pitchFamily="34" charset="-120"/>
                        </a:rPr>
                        <a:t>Gratis</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b="1" dirty="0">
                          <a:solidFill>
                            <a:schemeClr val="accent4"/>
                          </a:solidFill>
                          <a:latin typeface="Calibri" pitchFamily="34" charset="0"/>
                          <a:ea typeface="Calibri" pitchFamily="34" charset="-122"/>
                          <a:cs typeface="Calibri" pitchFamily="34" charset="-120"/>
                        </a:rPr>
                        <a:t>Paga</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59436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Adaptaciones</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5"/>
                          </a:solidFill>
                          <a:latin typeface="Calibri" pitchFamily="34" charset="0"/>
                          <a:ea typeface="Calibri" pitchFamily="34" charset="-122"/>
                          <a:cs typeface="Calibri" pitchFamily="34" charset="-120"/>
                        </a:rPr>
                        <a:t>Ninguna</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https → http</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Sesión y clics</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Clics</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59436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Reporte HTML</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5"/>
                          </a:solidFill>
                          <a:latin typeface="Calibri" pitchFamily="34" charset="0"/>
                          <a:ea typeface="Calibri" pitchFamily="34" charset="-122"/>
                          <a:cs typeface="Calibri" pitchFamily="34" charset="-120"/>
                        </a:rPr>
                        <a:t>Incluido</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Plugin</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Plugin</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400" b="1" dirty="0">
                          <a:solidFill>
                            <a:schemeClr val="accent5"/>
                          </a:solidFill>
                          <a:latin typeface="Calibri" pitchFamily="34" charset="0"/>
                          <a:ea typeface="Calibri" pitchFamily="34" charset="-122"/>
                          <a:cs typeface="Calibri" pitchFamily="34" charset="-120"/>
                        </a:rPr>
                        <a:t>Incluido</a:t>
                      </a:r>
                      <a:endParaRPr lang="en-US" sz="1400" dirty="0">
                        <a:latin typeface="Calibri" charset="0"/>
                        <a:ea typeface="Calibri" charset="0"/>
                        <a:cs typeface="Calibri" charset="0"/>
                      </a:endParaRPr>
                    </a:p>
                  </a:txBody>
                  <a:tcPr marL="73152"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bl>
          </a:graphicData>
        </a:graphic>
      </p:graphicFrame>
      <p:sp>
        <p:nvSpPr>
          <p:cNvPr id="7" name="tarjeta-conclusion-frameworks"/>
          <p:cNvSpPr/>
          <p:nvPr/>
        </p:nvSpPr>
        <p:spPr>
          <a:xfrm>
            <a:off x="6492240" y="4023360"/>
            <a:ext cx="5120640" cy="1828800"/>
          </a:xfrm>
          <a:prstGeom prst="roundRect">
            <a:avLst>
              <a:gd name="adj" fmla="val 6000"/>
            </a:avLst>
          </a:prstGeom>
          <a:solidFill>
            <a:schemeClr val="tx2"/>
          </a:solidFill>
          <a:ln/>
          <a:effectLst>
            <a:outerShdw sx="100000" sy="100000" kx="0" ky="0" algn="bl" rotWithShape="0" blurRad="101600" dist="25400" dir="5400000">
              <a:srgbClr val="1B2430">
                <a:alpha val="12000"/>
              </a:srgbClr>
            </a:outerShdw>
          </a:effectLst>
        </p:spPr>
      </p:sp>
      <p:sp>
        <p:nvSpPr>
          <p:cNvPr id="8" name="Text 3"/>
          <p:cNvSpPr txBox="1"/>
          <p:nvPr/>
        </p:nvSpPr>
        <p:spPr>
          <a:xfrm>
            <a:off x="6766560" y="4206240"/>
            <a:ext cx="4572000" cy="731520"/>
          </a:xfrm>
          <a:prstGeom prst="rect">
            <a:avLst/>
          </a:prstGeom>
          <a:noFill/>
          <a:ln/>
        </p:spPr>
        <p:txBody>
          <a:bodyPr wrap="square" lIns="0" tIns="0" rIns="0" bIns="0" rtlCol="0" anchor="t"/>
          <a:lstStyle/>
          <a:p>
            <a:pPr indent="0" marL="0">
              <a:buNone/>
            </a:pPr>
            <a:r>
              <a:rPr lang="es-AR" altLang="en-US" sz="1700" b="1" dirty="0">
                <a:solidFill>
                  <a:schemeClr val="bg1"/>
                </a:solidFill>
              </a:rPr>
              <a:t>Playwright: el más rápido y el único sin adaptaciones</a:t>
            </a:r>
            <a:endParaRPr lang="es-AR" sz="1700" dirty="0"/>
          </a:p>
        </p:txBody>
      </p:sp>
      <p:sp>
        <p:nvSpPr>
          <p:cNvPr id="9" name="Text 4"/>
          <p:cNvSpPr txBox="1"/>
          <p:nvPr/>
        </p:nvSpPr>
        <p:spPr>
          <a:xfrm>
            <a:off x="6766560" y="4937760"/>
            <a:ext cx="4572000" cy="731520"/>
          </a:xfrm>
          <a:prstGeom prst="rect">
            <a:avLst/>
          </a:prstGeom>
          <a:noFill/>
          <a:ln/>
        </p:spPr>
        <p:txBody>
          <a:bodyPr wrap="square" lIns="0" tIns="0" rIns="0" bIns="0" rtlCol="0" anchor="t"/>
          <a:lstStyle/>
          <a:p>
            <a:pPr indent="0" marL="0">
              <a:buNone/>
            </a:pPr>
            <a:r>
              <a:rPr lang="es-AR" altLang="en-US" sz="1500" dirty="0">
                <a:solidFill>
                  <a:schemeClr val="bg2"/>
                </a:solidFill>
              </a:rPr>
              <a:t>Además maneja la web, SSH y el escritorio de VMS desde el mismo runner</a:t>
            </a:r>
            <a:endParaRPr lang="es-AR" sz="15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CI/CD: qué aporta cada herramienta</a:t>
            </a:r>
            <a:endParaRPr lang="es-AR" sz="3200" dirty="0"/>
          </a:p>
        </p:txBody>
      </p:sp>
      <p:sp>
        <p:nvSpPr>
          <p:cNvPr id="4" name="Text 1"/>
          <p:cNvSpPr txBox="1"/>
          <p:nvPr/>
        </p:nvSpPr>
        <p:spPr>
          <a:xfrm>
            <a:off x="548640" y="1188720"/>
            <a:ext cx="11064240" cy="365760"/>
          </a:xfrm>
          <a:prstGeom prst="rect">
            <a:avLst/>
          </a:prstGeom>
          <a:noFill/>
          <a:ln/>
        </p:spPr>
        <p:txBody>
          <a:bodyPr wrap="square" lIns="0" tIns="0" rIns="0" bIns="0" rtlCol="0" anchor="t"/>
          <a:lstStyle/>
          <a:p>
            <a:pPr indent="0" marL="0">
              <a:buNone/>
            </a:pPr>
            <a:r>
              <a:rPr lang="es-AR" altLang="en-US" sz="1600" i="1" dirty="0">
                <a:solidFill>
                  <a:schemeClr val="accent1"/>
                </a:solidFill>
              </a:rPr>
              <a:t>Que los tests corran solos en cada cambio, siempre igual, y que el resultado quede a la vista</a:t>
            </a:r>
            <a:endParaRPr lang="es-AR" sz="1600" dirty="0"/>
          </a:p>
        </p:txBody>
      </p:sp>
      <p:sp>
        <p:nvSpPr>
          <p:cNvPr id="5" name="Text 2"/>
          <p:cNvSpPr txBox="1"/>
          <p:nvPr/>
        </p:nvSpPr>
        <p:spPr>
          <a:xfrm>
            <a:off x="3063240" y="1691640"/>
            <a:ext cx="2834640" cy="320040"/>
          </a:xfrm>
          <a:prstGeom prst="rect">
            <a:avLst/>
          </a:prstGeom>
          <a:noFill/>
          <a:ln/>
        </p:spPr>
        <p:txBody>
          <a:bodyPr wrap="square" lIns="0" tIns="0" rIns="0" bIns="0" rtlCol="0" anchor="t"/>
          <a:lstStyle/>
          <a:p>
            <a:pPr indent="0" marL="0">
              <a:buNone/>
            </a:pPr>
            <a:r>
              <a:rPr lang="es-AR" altLang="en-US" sz="1300" b="1" dirty="0">
                <a:solidFill>
                  <a:schemeClr val="accent3"/>
                </a:solidFill>
              </a:rPr>
              <a:t>Qué es, en simple</a:t>
            </a:r>
            <a:endParaRPr lang="es-AR" sz="1300" dirty="0"/>
          </a:p>
        </p:txBody>
      </p:sp>
      <p:sp>
        <p:nvSpPr>
          <p:cNvPr id="6" name="Text 3"/>
          <p:cNvSpPr txBox="1"/>
          <p:nvPr/>
        </p:nvSpPr>
        <p:spPr>
          <a:xfrm>
            <a:off x="5943600" y="1691640"/>
            <a:ext cx="2834640" cy="320040"/>
          </a:xfrm>
          <a:prstGeom prst="rect">
            <a:avLst/>
          </a:prstGeom>
          <a:noFill/>
          <a:ln/>
        </p:spPr>
        <p:txBody>
          <a:bodyPr wrap="square" lIns="0" tIns="0" rIns="0" bIns="0" rtlCol="0" anchor="t"/>
          <a:lstStyle/>
          <a:p>
            <a:pPr indent="0" marL="0">
              <a:buNone/>
            </a:pPr>
            <a:r>
              <a:rPr lang="es-AR" altLang="en-US" sz="1300" b="1" dirty="0">
                <a:solidFill>
                  <a:schemeClr val="accent3"/>
                </a:solidFill>
              </a:rPr>
              <a:t>Para qué la usamos</a:t>
            </a:r>
            <a:endParaRPr lang="es-AR" sz="1300" dirty="0"/>
          </a:p>
        </p:txBody>
      </p:sp>
      <p:sp>
        <p:nvSpPr>
          <p:cNvPr id="7" name="Text 4"/>
          <p:cNvSpPr txBox="1"/>
          <p:nvPr/>
        </p:nvSpPr>
        <p:spPr>
          <a:xfrm>
            <a:off x="8823960" y="1691640"/>
            <a:ext cx="2834640" cy="320040"/>
          </a:xfrm>
          <a:prstGeom prst="rect">
            <a:avLst/>
          </a:prstGeom>
          <a:noFill/>
          <a:ln/>
        </p:spPr>
        <p:txBody>
          <a:bodyPr wrap="square" lIns="0" tIns="0" rIns="0" bIns="0" rtlCol="0" anchor="t"/>
          <a:lstStyle/>
          <a:p>
            <a:pPr indent="0" marL="0">
              <a:buNone/>
            </a:pPr>
            <a:r>
              <a:rPr lang="es-AR" altLang="en-US" sz="1300" b="1" dirty="0">
                <a:solidFill>
                  <a:schemeClr val="accent3"/>
                </a:solidFill>
              </a:rPr>
              <a:t>Dónde corre</a:t>
            </a:r>
            <a:endParaRPr lang="es-AR" sz="1300" dirty="0"/>
          </a:p>
        </p:txBody>
      </p:sp>
      <p:sp>
        <p:nvSpPr>
          <p:cNvPr id="8" name="tarjeta-herramienta-0"/>
          <p:cNvSpPr/>
          <p:nvPr/>
        </p:nvSpPr>
        <p:spPr>
          <a:xfrm>
            <a:off x="548640" y="2057400"/>
            <a:ext cx="11064240" cy="896112"/>
          </a:xfrm>
          <a:prstGeom prst="roundRect">
            <a:avLst>
              <a:gd name="adj" fmla="val 12245"/>
            </a:avLst>
          </a:prstGeom>
          <a:solidFill>
            <a:schemeClr val="bg2"/>
          </a:solidFill>
          <a:ln/>
          <a:effectLst>
            <a:outerShdw sx="100000" sy="100000" kx="0" ky="0" algn="bl" rotWithShape="0" blurRad="101600" dist="25400" dir="5400000">
              <a:srgbClr val="1B2430">
                <a:alpha val="12000"/>
              </a:srgbClr>
            </a:outerShdw>
          </a:effectLst>
        </p:spPr>
      </p:sp>
      <p:sp>
        <p:nvSpPr>
          <p:cNvPr id="9" name="circulo-herramienta-0"/>
          <p:cNvSpPr/>
          <p:nvPr/>
        </p:nvSpPr>
        <p:spPr>
          <a:xfrm>
            <a:off x="731520" y="2212848"/>
            <a:ext cx="585216" cy="585216"/>
          </a:xfrm>
          <a:prstGeom prst="ellipse">
            <a:avLst/>
          </a:prstGeom>
          <a:solidFill>
            <a:schemeClr val="accent6"/>
          </a:solidFill>
          <a:ln/>
        </p:spPr>
      </p:sp>
      <p:pic>
        <p:nvPicPr>
          <p:cNvPr id="10" name="icono-herramienta-0" descr="preencoded.png">    </p:cNvPr>
          <p:cNvPicPr>
            <a:picLocks noChangeAspect="1"/>
          </p:cNvPicPr>
          <p:nvPr/>
        </p:nvPicPr>
        <p:blipFill>
          <a:blip r:embed="rId1"/>
          <a:stretch>
            <a:fillRect/>
          </a:stretch>
        </p:blipFill>
        <p:spPr>
          <a:xfrm>
            <a:off x="883676" y="2365004"/>
            <a:ext cx="280904" cy="280904"/>
          </a:xfrm>
          <a:prstGeom prst="rect">
            <a:avLst/>
          </a:prstGeom>
        </p:spPr>
      </p:pic>
      <p:sp>
        <p:nvSpPr>
          <p:cNvPr id="11" name="Text 7"/>
          <p:cNvSpPr txBox="1"/>
          <p:nvPr/>
        </p:nvSpPr>
        <p:spPr>
          <a:xfrm>
            <a:off x="1463040" y="2057400"/>
            <a:ext cx="1463040" cy="896112"/>
          </a:xfrm>
          <a:prstGeom prst="rect">
            <a:avLst/>
          </a:prstGeom>
          <a:noFill/>
          <a:ln/>
        </p:spPr>
        <p:txBody>
          <a:bodyPr wrap="square" lIns="0" tIns="0" rIns="0" bIns="0" rtlCol="0" anchor="ctr"/>
          <a:lstStyle/>
          <a:p>
            <a:pPr indent="0" marL="0">
              <a:buNone/>
            </a:pPr>
            <a:r>
              <a:rPr lang="es-AR" altLang="en-US" sz="1600" b="1" dirty="0">
                <a:solidFill>
                  <a:schemeClr val="tx1"/>
                </a:solidFill>
              </a:rPr>
              <a:t>GitHub Actions</a:t>
            </a:r>
            <a:endParaRPr lang="es-AR" sz="1600" dirty="0"/>
          </a:p>
        </p:txBody>
      </p:sp>
      <p:sp>
        <p:nvSpPr>
          <p:cNvPr id="12" name="Text 8"/>
          <p:cNvSpPr txBox="1"/>
          <p:nvPr/>
        </p:nvSpPr>
        <p:spPr>
          <a:xfrm>
            <a:off x="3063240" y="2057400"/>
            <a:ext cx="2697480" cy="896112"/>
          </a:xfrm>
          <a:prstGeom prst="rect">
            <a:avLst/>
          </a:prstGeom>
          <a:noFill/>
          <a:ln/>
        </p:spPr>
        <p:txBody>
          <a:bodyPr wrap="square" lIns="0" tIns="0" rIns="0" bIns="0" rtlCol="0" anchor="ctr"/>
          <a:lstStyle/>
          <a:p>
            <a:pPr indent="0" marL="0">
              <a:buNone/>
            </a:pPr>
            <a:r>
              <a:rPr lang="es-AR" altLang="en-US" sz="1400" dirty="0">
                <a:solidFill>
                  <a:schemeClr val="tx1"/>
                </a:solidFill>
              </a:rPr>
              <a:t>Un robot de GitHub que corre tareas cada vez que alguien sube un cambio</a:t>
            </a:r>
            <a:endParaRPr lang="es-AR" sz="1400" dirty="0"/>
          </a:p>
        </p:txBody>
      </p:sp>
      <p:sp>
        <p:nvSpPr>
          <p:cNvPr id="13" name="Text 9"/>
          <p:cNvSpPr txBox="1"/>
          <p:nvPr/>
        </p:nvSpPr>
        <p:spPr>
          <a:xfrm>
            <a:off x="5943600" y="2057400"/>
            <a:ext cx="2697480" cy="896112"/>
          </a:xfrm>
          <a:prstGeom prst="rect">
            <a:avLst/>
          </a:prstGeom>
          <a:noFill/>
          <a:ln/>
        </p:spPr>
        <p:txBody>
          <a:bodyPr wrap="square" lIns="0" tIns="0" rIns="0" bIns="0" rtlCol="0" anchor="ctr"/>
          <a:lstStyle/>
          <a:p>
            <a:pPr indent="0" marL="0">
              <a:buNone/>
            </a:pPr>
            <a:r>
              <a:rPr lang="es-AR" altLang="en-US" sz="1400" dirty="0">
                <a:solidFill>
                  <a:schemeClr val="tx1"/>
                </a:solidFill>
              </a:rPr>
              <a:t>Revisar que compilen todos los tests en cada push y publicar las versiones</a:t>
            </a:r>
            <a:endParaRPr lang="es-AR" sz="1400" dirty="0"/>
          </a:p>
        </p:txBody>
      </p:sp>
      <p:sp>
        <p:nvSpPr>
          <p:cNvPr id="14" name="Text 10"/>
          <p:cNvSpPr txBox="1"/>
          <p:nvPr/>
        </p:nvSpPr>
        <p:spPr>
          <a:xfrm>
            <a:off x="8823960" y="2057400"/>
            <a:ext cx="2651760" cy="896112"/>
          </a:xfrm>
          <a:prstGeom prst="rect">
            <a:avLst/>
          </a:prstGeom>
          <a:noFill/>
          <a:ln/>
        </p:spPr>
        <p:txBody>
          <a:bodyPr wrap="square" lIns="0" tIns="0" rIns="0" bIns="0" rtlCol="0" anchor="ctr"/>
          <a:lstStyle/>
          <a:p>
            <a:pPr indent="0" marL="0">
              <a:buNone/>
            </a:pPr>
            <a:r>
              <a:rPr lang="es-AR" altLang="en-US" sz="1400" dirty="0">
                <a:solidFill>
                  <a:schemeClr val="accent3"/>
                </a:solidFill>
              </a:rPr>
              <a:t>En la nube de GitHub: no llega a nuestra red</a:t>
            </a:r>
            <a:endParaRPr lang="es-AR" sz="1400" dirty="0"/>
          </a:p>
        </p:txBody>
      </p:sp>
      <p:sp>
        <p:nvSpPr>
          <p:cNvPr id="15" name="tarjeta-herramienta-1"/>
          <p:cNvSpPr/>
          <p:nvPr/>
        </p:nvSpPr>
        <p:spPr>
          <a:xfrm>
            <a:off x="548640" y="3081528"/>
            <a:ext cx="11064240" cy="896112"/>
          </a:xfrm>
          <a:prstGeom prst="roundRect">
            <a:avLst>
              <a:gd name="adj" fmla="val 12245"/>
            </a:avLst>
          </a:prstGeom>
          <a:solidFill>
            <a:schemeClr val="bg2"/>
          </a:solidFill>
          <a:ln/>
          <a:effectLst>
            <a:outerShdw sx="100000" sy="100000" kx="0" ky="0" algn="bl" rotWithShape="0" blurRad="101600" dist="25400" dir="5400000">
              <a:srgbClr val="1B2430">
                <a:alpha val="12000"/>
              </a:srgbClr>
            </a:outerShdw>
          </a:effectLst>
        </p:spPr>
      </p:sp>
      <p:sp>
        <p:nvSpPr>
          <p:cNvPr id="16" name="circulo-herramienta-1"/>
          <p:cNvSpPr/>
          <p:nvPr/>
        </p:nvSpPr>
        <p:spPr>
          <a:xfrm>
            <a:off x="731520" y="3236976"/>
            <a:ext cx="585216" cy="585216"/>
          </a:xfrm>
          <a:prstGeom prst="ellipse">
            <a:avLst/>
          </a:prstGeom>
          <a:solidFill>
            <a:schemeClr val="accent1"/>
          </a:solidFill>
          <a:ln/>
        </p:spPr>
      </p:sp>
      <p:pic>
        <p:nvPicPr>
          <p:cNvPr id="17" name="icono-herramienta-1" descr="preencoded.png">    </p:cNvPr>
          <p:cNvPicPr>
            <a:picLocks noChangeAspect="1"/>
          </p:cNvPicPr>
          <p:nvPr/>
        </p:nvPicPr>
        <p:blipFill>
          <a:blip r:embed="rId2"/>
          <a:stretch>
            <a:fillRect/>
          </a:stretch>
        </p:blipFill>
        <p:spPr>
          <a:xfrm>
            <a:off x="883676" y="3389132"/>
            <a:ext cx="280904" cy="280904"/>
          </a:xfrm>
          <a:prstGeom prst="rect">
            <a:avLst/>
          </a:prstGeom>
        </p:spPr>
      </p:pic>
      <p:sp>
        <p:nvSpPr>
          <p:cNvPr id="18" name="Text 13"/>
          <p:cNvSpPr txBox="1"/>
          <p:nvPr/>
        </p:nvSpPr>
        <p:spPr>
          <a:xfrm>
            <a:off x="1463040" y="3081528"/>
            <a:ext cx="1463040" cy="896112"/>
          </a:xfrm>
          <a:prstGeom prst="rect">
            <a:avLst/>
          </a:prstGeom>
          <a:noFill/>
          <a:ln/>
        </p:spPr>
        <p:txBody>
          <a:bodyPr wrap="square" lIns="0" tIns="0" rIns="0" bIns="0" rtlCol="0" anchor="ctr"/>
          <a:lstStyle/>
          <a:p>
            <a:pPr indent="0" marL="0">
              <a:buNone/>
            </a:pPr>
            <a:r>
              <a:rPr lang="es-AR" altLang="en-US" sz="1600" b="1" dirty="0">
                <a:solidFill>
                  <a:schemeClr val="tx1"/>
                </a:solidFill>
              </a:rPr>
              <a:t>Jenkins</a:t>
            </a:r>
            <a:endParaRPr lang="es-AR" sz="1600" dirty="0"/>
          </a:p>
        </p:txBody>
      </p:sp>
      <p:sp>
        <p:nvSpPr>
          <p:cNvPr id="19" name="Text 14"/>
          <p:cNvSpPr txBox="1"/>
          <p:nvPr/>
        </p:nvSpPr>
        <p:spPr>
          <a:xfrm>
            <a:off x="3063240" y="3081528"/>
            <a:ext cx="2697480" cy="896112"/>
          </a:xfrm>
          <a:prstGeom prst="rect">
            <a:avLst/>
          </a:prstGeom>
          <a:noFill/>
          <a:ln/>
        </p:spPr>
        <p:txBody>
          <a:bodyPr wrap="square" lIns="0" tIns="0" rIns="0" bIns="0" rtlCol="0" anchor="ctr"/>
          <a:lstStyle/>
          <a:p>
            <a:pPr indent="0" marL="0">
              <a:buNone/>
            </a:pPr>
            <a:r>
              <a:rPr lang="es-AR" altLang="en-US" sz="1400" dirty="0">
                <a:solidFill>
                  <a:schemeClr val="tx1"/>
                </a:solidFill>
              </a:rPr>
              <a:t>Un servidor nuestro que corre las pruebas a pedido o en un horario</a:t>
            </a:r>
            <a:endParaRPr lang="es-AR" sz="1400" dirty="0"/>
          </a:p>
        </p:txBody>
      </p:sp>
      <p:sp>
        <p:nvSpPr>
          <p:cNvPr id="20" name="Text 15"/>
          <p:cNvSpPr txBox="1"/>
          <p:nvPr/>
        </p:nvSpPr>
        <p:spPr>
          <a:xfrm>
            <a:off x="5943600" y="3081528"/>
            <a:ext cx="2697480" cy="896112"/>
          </a:xfrm>
          <a:prstGeom prst="rect">
            <a:avLst/>
          </a:prstGeom>
          <a:noFill/>
          <a:ln/>
        </p:spPr>
        <p:txBody>
          <a:bodyPr wrap="square" lIns="0" tIns="0" rIns="0" bIns="0" rtlCol="0" anchor="ctr"/>
          <a:lstStyle/>
          <a:p>
            <a:pPr indent="0" marL="0">
              <a:buNone/>
            </a:pPr>
            <a:r>
              <a:rPr lang="es-AR" altLang="en-US" sz="1400" dirty="0">
                <a:solidFill>
                  <a:schemeClr val="tx1"/>
                </a:solidFill>
              </a:rPr>
              <a:t>Correr los tests de punta a punta contra ANPR, AS, Biblioteca y VMS</a:t>
            </a:r>
            <a:endParaRPr lang="es-AR" sz="1400" dirty="0"/>
          </a:p>
        </p:txBody>
      </p:sp>
      <p:sp>
        <p:nvSpPr>
          <p:cNvPr id="21" name="Text 16"/>
          <p:cNvSpPr txBox="1"/>
          <p:nvPr/>
        </p:nvSpPr>
        <p:spPr>
          <a:xfrm>
            <a:off x="8823960" y="3081528"/>
            <a:ext cx="2651760" cy="896112"/>
          </a:xfrm>
          <a:prstGeom prst="rect">
            <a:avLst/>
          </a:prstGeom>
          <a:noFill/>
          <a:ln/>
        </p:spPr>
        <p:txBody>
          <a:bodyPr wrap="square" lIns="0" tIns="0" rIns="0" bIns="0" rtlCol="0" anchor="ctr"/>
          <a:lstStyle/>
          <a:p>
            <a:pPr indent="0" marL="0">
              <a:buNone/>
            </a:pPr>
            <a:r>
              <a:rPr lang="es-AR" altLang="en-US" sz="1400" dirty="0">
                <a:solidFill>
                  <a:schemeClr val="accent3"/>
                </a:solidFill>
              </a:rPr>
              <a:t>En una PC o servidor de nuestra red</a:t>
            </a:r>
            <a:endParaRPr lang="es-AR" sz="1400" dirty="0"/>
          </a:p>
        </p:txBody>
      </p:sp>
      <p:sp>
        <p:nvSpPr>
          <p:cNvPr id="22" name="tarjeta-herramienta-2"/>
          <p:cNvSpPr/>
          <p:nvPr/>
        </p:nvSpPr>
        <p:spPr>
          <a:xfrm>
            <a:off x="548640" y="4105656"/>
            <a:ext cx="11064240" cy="896112"/>
          </a:xfrm>
          <a:prstGeom prst="roundRect">
            <a:avLst>
              <a:gd name="adj" fmla="val 12245"/>
            </a:avLst>
          </a:prstGeom>
          <a:solidFill>
            <a:schemeClr val="bg2"/>
          </a:solidFill>
          <a:ln/>
          <a:effectLst>
            <a:outerShdw sx="100000" sy="100000" kx="0" ky="0" algn="bl" rotWithShape="0" blurRad="101600" dist="25400" dir="5400000">
              <a:srgbClr val="1B2430">
                <a:alpha val="12000"/>
              </a:srgbClr>
            </a:outerShdw>
          </a:effectLst>
        </p:spPr>
      </p:sp>
      <p:sp>
        <p:nvSpPr>
          <p:cNvPr id="23" name="circulo-herramienta-2"/>
          <p:cNvSpPr/>
          <p:nvPr/>
        </p:nvSpPr>
        <p:spPr>
          <a:xfrm>
            <a:off x="731520" y="4261104"/>
            <a:ext cx="585216" cy="585216"/>
          </a:xfrm>
          <a:prstGeom prst="ellipse">
            <a:avLst/>
          </a:prstGeom>
          <a:solidFill>
            <a:schemeClr val="accent1"/>
          </a:solidFill>
          <a:ln/>
        </p:spPr>
      </p:sp>
      <p:pic>
        <p:nvPicPr>
          <p:cNvPr id="24" name="icono-herramienta-2" descr="preencoded.png">    </p:cNvPr>
          <p:cNvPicPr>
            <a:picLocks noChangeAspect="1"/>
          </p:cNvPicPr>
          <p:nvPr/>
        </p:nvPicPr>
        <p:blipFill>
          <a:blip r:embed="rId3"/>
          <a:stretch>
            <a:fillRect/>
          </a:stretch>
        </p:blipFill>
        <p:spPr>
          <a:xfrm>
            <a:off x="883676" y="4413260"/>
            <a:ext cx="280904" cy="280904"/>
          </a:xfrm>
          <a:prstGeom prst="rect">
            <a:avLst/>
          </a:prstGeom>
        </p:spPr>
      </p:pic>
      <p:sp>
        <p:nvSpPr>
          <p:cNvPr id="25" name="Text 19"/>
          <p:cNvSpPr txBox="1"/>
          <p:nvPr/>
        </p:nvSpPr>
        <p:spPr>
          <a:xfrm>
            <a:off x="1463040" y="4105656"/>
            <a:ext cx="1463040" cy="896112"/>
          </a:xfrm>
          <a:prstGeom prst="rect">
            <a:avLst/>
          </a:prstGeom>
          <a:noFill/>
          <a:ln/>
        </p:spPr>
        <p:txBody>
          <a:bodyPr wrap="square" lIns="0" tIns="0" rIns="0" bIns="0" rtlCol="0" anchor="ctr"/>
          <a:lstStyle/>
          <a:p>
            <a:pPr indent="0" marL="0">
              <a:buNone/>
            </a:pPr>
            <a:r>
              <a:rPr lang="es-AR" altLang="en-US" sz="1600" b="1" dirty="0">
                <a:solidFill>
                  <a:schemeClr val="tx1"/>
                </a:solidFill>
              </a:rPr>
              <a:t>Docker</a:t>
            </a:r>
            <a:endParaRPr lang="es-AR" sz="1600" dirty="0"/>
          </a:p>
        </p:txBody>
      </p:sp>
      <p:sp>
        <p:nvSpPr>
          <p:cNvPr id="26" name="Text 20"/>
          <p:cNvSpPr txBox="1"/>
          <p:nvPr/>
        </p:nvSpPr>
        <p:spPr>
          <a:xfrm>
            <a:off x="3063240" y="4105656"/>
            <a:ext cx="2697480" cy="896112"/>
          </a:xfrm>
          <a:prstGeom prst="rect">
            <a:avLst/>
          </a:prstGeom>
          <a:noFill/>
          <a:ln/>
        </p:spPr>
        <p:txBody>
          <a:bodyPr wrap="square" lIns="0" tIns="0" rIns="0" bIns="0" rtlCol="0" anchor="ctr"/>
          <a:lstStyle/>
          <a:p>
            <a:pPr indent="0" marL="0">
              <a:buNone/>
            </a:pPr>
            <a:r>
              <a:rPr lang="es-AR" altLang="en-US" sz="1400" dirty="0">
                <a:solidFill>
                  <a:schemeClr val="tx1"/>
                </a:solidFill>
              </a:rPr>
              <a:t>Una "caja" con todo lo que el test necesita: Node, Chrome y los tests</a:t>
            </a:r>
            <a:endParaRPr lang="es-AR" sz="1400" dirty="0"/>
          </a:p>
        </p:txBody>
      </p:sp>
      <p:sp>
        <p:nvSpPr>
          <p:cNvPr id="27" name="Text 21"/>
          <p:cNvSpPr txBox="1"/>
          <p:nvPr/>
        </p:nvSpPr>
        <p:spPr>
          <a:xfrm>
            <a:off x="5943600" y="4105656"/>
            <a:ext cx="2697480" cy="896112"/>
          </a:xfrm>
          <a:prstGeom prst="rect">
            <a:avLst/>
          </a:prstGeom>
          <a:noFill/>
          <a:ln/>
        </p:spPr>
        <p:txBody>
          <a:bodyPr wrap="square" lIns="0" tIns="0" rIns="0" bIns="0" rtlCol="0" anchor="ctr"/>
          <a:lstStyle/>
          <a:p>
            <a:pPr indent="0" marL="0">
              <a:buNone/>
            </a:pPr>
            <a:r>
              <a:rPr lang="es-AR" altLang="en-US" sz="1400" dirty="0">
                <a:solidFill>
                  <a:schemeClr val="tx1"/>
                </a:solidFill>
              </a:rPr>
              <a:t>Que los tests corran igual en cualquier PC, sin instalar nada más</a:t>
            </a:r>
            <a:endParaRPr lang="es-AR" sz="1400" dirty="0"/>
          </a:p>
        </p:txBody>
      </p:sp>
      <p:sp>
        <p:nvSpPr>
          <p:cNvPr id="28" name="Text 22"/>
          <p:cNvSpPr txBox="1"/>
          <p:nvPr/>
        </p:nvSpPr>
        <p:spPr>
          <a:xfrm>
            <a:off x="8823960" y="4105656"/>
            <a:ext cx="2651760" cy="896112"/>
          </a:xfrm>
          <a:prstGeom prst="rect">
            <a:avLst/>
          </a:prstGeom>
          <a:noFill/>
          <a:ln/>
        </p:spPr>
        <p:txBody>
          <a:bodyPr wrap="square" lIns="0" tIns="0" rIns="0" bIns="0" rtlCol="0" anchor="ctr"/>
          <a:lstStyle/>
          <a:p>
            <a:pPr indent="0" marL="0">
              <a:buNone/>
            </a:pPr>
            <a:r>
              <a:rPr lang="es-AR" altLang="en-US" sz="1400" dirty="0">
                <a:solidFill>
                  <a:schemeClr val="accent3"/>
                </a:solidFill>
              </a:rPr>
              <a:t>En cualquier máquina con Docker (un Linux sin pantalla)</a:t>
            </a:r>
            <a:endParaRPr lang="es-AR" sz="1400" dirty="0"/>
          </a:p>
        </p:txBody>
      </p:sp>
      <p:sp>
        <p:nvSpPr>
          <p:cNvPr id="29" name="tarjeta-herramienta-3"/>
          <p:cNvSpPr/>
          <p:nvPr/>
        </p:nvSpPr>
        <p:spPr>
          <a:xfrm>
            <a:off x="548640" y="5129784"/>
            <a:ext cx="11064240" cy="896112"/>
          </a:xfrm>
          <a:prstGeom prst="roundRect">
            <a:avLst>
              <a:gd name="adj" fmla="val 12245"/>
            </a:avLst>
          </a:prstGeom>
          <a:solidFill>
            <a:schemeClr val="bg2"/>
          </a:solidFill>
          <a:ln/>
          <a:effectLst>
            <a:outerShdw sx="100000" sy="100000" kx="0" ky="0" algn="bl" rotWithShape="0" blurRad="101600" dist="25400" dir="5400000">
              <a:srgbClr val="1B2430">
                <a:alpha val="12000"/>
              </a:srgbClr>
            </a:outerShdw>
          </a:effectLst>
        </p:spPr>
      </p:sp>
      <p:sp>
        <p:nvSpPr>
          <p:cNvPr id="30" name="circulo-herramienta-3"/>
          <p:cNvSpPr/>
          <p:nvPr/>
        </p:nvSpPr>
        <p:spPr>
          <a:xfrm>
            <a:off x="731520" y="5285232"/>
            <a:ext cx="585216" cy="585216"/>
          </a:xfrm>
          <a:prstGeom prst="ellipse">
            <a:avLst/>
          </a:prstGeom>
          <a:solidFill>
            <a:schemeClr val="accent2"/>
          </a:solidFill>
          <a:ln/>
        </p:spPr>
      </p:sp>
      <p:pic>
        <p:nvPicPr>
          <p:cNvPr id="31" name="icono-herramienta-3" descr="preencoded.png">    </p:cNvPr>
          <p:cNvPicPr>
            <a:picLocks noChangeAspect="1"/>
          </p:cNvPicPr>
          <p:nvPr/>
        </p:nvPicPr>
        <p:blipFill>
          <a:blip r:embed="rId4"/>
          <a:stretch>
            <a:fillRect/>
          </a:stretch>
        </p:blipFill>
        <p:spPr>
          <a:xfrm>
            <a:off x="883676" y="5437388"/>
            <a:ext cx="280904" cy="280904"/>
          </a:xfrm>
          <a:prstGeom prst="rect">
            <a:avLst/>
          </a:prstGeom>
        </p:spPr>
      </p:pic>
      <p:sp>
        <p:nvSpPr>
          <p:cNvPr id="32" name="Text 25"/>
          <p:cNvSpPr txBox="1"/>
          <p:nvPr/>
        </p:nvSpPr>
        <p:spPr>
          <a:xfrm>
            <a:off x="1463040" y="5129784"/>
            <a:ext cx="1463040" cy="896112"/>
          </a:xfrm>
          <a:prstGeom prst="rect">
            <a:avLst/>
          </a:prstGeom>
          <a:noFill/>
          <a:ln/>
        </p:spPr>
        <p:txBody>
          <a:bodyPr wrap="square" lIns="0" tIns="0" rIns="0" bIns="0" rtlCol="0" anchor="ctr"/>
          <a:lstStyle/>
          <a:p>
            <a:pPr indent="0" marL="0">
              <a:buNone/>
            </a:pPr>
            <a:r>
              <a:rPr lang="es-AR" altLang="en-US" sz="1600" b="1" dirty="0">
                <a:solidFill>
                  <a:schemeClr val="tx1"/>
                </a:solidFill>
              </a:rPr>
              <a:t>Kubernetes</a:t>
            </a:r>
            <a:endParaRPr lang="es-AR" sz="1600" dirty="0"/>
          </a:p>
        </p:txBody>
      </p:sp>
      <p:sp>
        <p:nvSpPr>
          <p:cNvPr id="33" name="Text 26"/>
          <p:cNvSpPr txBox="1"/>
          <p:nvPr/>
        </p:nvSpPr>
        <p:spPr>
          <a:xfrm>
            <a:off x="3063240" y="5129784"/>
            <a:ext cx="2697480" cy="896112"/>
          </a:xfrm>
          <a:prstGeom prst="rect">
            <a:avLst/>
          </a:prstGeom>
          <a:noFill/>
          <a:ln/>
        </p:spPr>
        <p:txBody>
          <a:bodyPr wrap="square" lIns="0" tIns="0" rIns="0" bIns="0" rtlCol="0" anchor="ctr"/>
          <a:lstStyle/>
          <a:p>
            <a:pPr indent="0" marL="0">
              <a:buNone/>
            </a:pPr>
            <a:r>
              <a:rPr lang="es-AR" altLang="en-US" sz="1400" dirty="0">
                <a:solidFill>
                  <a:schemeClr val="tx1"/>
                </a:solidFill>
              </a:rPr>
              <a:t>Un organizador de cajas: decide dónde y cuántas correr a la vez</a:t>
            </a:r>
            <a:endParaRPr lang="es-AR" sz="1400" dirty="0"/>
          </a:p>
        </p:txBody>
      </p:sp>
      <p:sp>
        <p:nvSpPr>
          <p:cNvPr id="34" name="Text 27"/>
          <p:cNvSpPr txBox="1"/>
          <p:nvPr/>
        </p:nvSpPr>
        <p:spPr>
          <a:xfrm>
            <a:off x="5943600" y="5129784"/>
            <a:ext cx="2697480" cy="896112"/>
          </a:xfrm>
          <a:prstGeom prst="rect">
            <a:avLst/>
          </a:prstGeom>
          <a:noFill/>
          <a:ln/>
        </p:spPr>
        <p:txBody>
          <a:bodyPr wrap="square" lIns="0" tIns="0" rIns="0" bIns="0" rtlCol="0" anchor="ctr"/>
          <a:lstStyle/>
          <a:p>
            <a:pPr indent="0" marL="0">
              <a:buNone/>
            </a:pPr>
            <a:r>
              <a:rPr lang="es-AR" altLang="en-US" sz="1400" dirty="0">
                <a:solidFill>
                  <a:schemeClr val="tx1"/>
                </a:solidFill>
              </a:rPr>
              <a:t>Correr ANPR y Biblioteca al mismo tiempo, cada uno en su caja</a:t>
            </a:r>
            <a:endParaRPr lang="es-AR" sz="1400" dirty="0"/>
          </a:p>
        </p:txBody>
      </p:sp>
      <p:sp>
        <p:nvSpPr>
          <p:cNvPr id="35" name="Text 28"/>
          <p:cNvSpPr txBox="1"/>
          <p:nvPr/>
        </p:nvSpPr>
        <p:spPr>
          <a:xfrm>
            <a:off x="8823960" y="5129784"/>
            <a:ext cx="2651760" cy="896112"/>
          </a:xfrm>
          <a:prstGeom prst="rect">
            <a:avLst/>
          </a:prstGeom>
          <a:noFill/>
          <a:ln/>
        </p:spPr>
        <p:txBody>
          <a:bodyPr wrap="square" lIns="0" tIns="0" rIns="0" bIns="0" rtlCol="0" anchor="ctr"/>
          <a:lstStyle/>
          <a:p>
            <a:pPr indent="0" marL="0">
              <a:buNone/>
            </a:pPr>
            <a:r>
              <a:rPr lang="es-AR" altLang="en-US" sz="1400" dirty="0">
                <a:solidFill>
                  <a:schemeClr val="accent3"/>
                </a:solidFill>
              </a:rPr>
              <a:t>En un cluster; en la demo, el de Rancher Desktop</a:t>
            </a:r>
            <a:endParaRPr lang="es-AR" sz="14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Dónde corre cada prueba y por qué</a:t>
            </a:r>
            <a:endParaRPr lang="es-AR" sz="3200" dirty="0"/>
          </a:p>
        </p:txBody>
      </p:sp>
      <p:sp>
        <p:nvSpPr>
          <p:cNvPr id="4" name="Text 1"/>
          <p:cNvSpPr txBox="1"/>
          <p:nvPr/>
        </p:nvSpPr>
        <p:spPr>
          <a:xfrm>
            <a:off x="548640" y="1234440"/>
            <a:ext cx="4572000" cy="365760"/>
          </a:xfrm>
          <a:prstGeom prst="rect">
            <a:avLst/>
          </a:prstGeom>
          <a:noFill/>
          <a:ln/>
        </p:spPr>
        <p:txBody>
          <a:bodyPr wrap="square" lIns="0" tIns="0" rIns="0" bIns="0" rtlCol="0" anchor="t"/>
          <a:lstStyle/>
          <a:p>
            <a:pPr indent="0" marL="0">
              <a:buNone/>
            </a:pPr>
            <a:r>
              <a:rPr lang="es-AR" altLang="en-US" sz="1700" b="1" dirty="0">
                <a:solidFill>
                  <a:schemeClr val="tx1"/>
                </a:solidFill>
              </a:rPr>
              <a:t>Qué pasa con cada cambio</a:t>
            </a:r>
            <a:endParaRPr lang="es-AR" sz="1700" dirty="0"/>
          </a:p>
        </p:txBody>
      </p:sp>
      <p:sp>
        <p:nvSpPr>
          <p:cNvPr id="5" name="circulo-recorrido-0"/>
          <p:cNvSpPr/>
          <p:nvPr/>
        </p:nvSpPr>
        <p:spPr>
          <a:xfrm>
            <a:off x="548640" y="1737360"/>
            <a:ext cx="685800" cy="685800"/>
          </a:xfrm>
          <a:prstGeom prst="ellipse">
            <a:avLst/>
          </a:prstGeom>
          <a:solidFill>
            <a:schemeClr val="accent6"/>
          </a:solidFill>
          <a:ln/>
        </p:spPr>
      </p:sp>
      <p:pic>
        <p:nvPicPr>
          <p:cNvPr id="6" name="icono-recorrido-0" descr="preencoded.png">    </p:cNvPr>
          <p:cNvPicPr>
            <a:picLocks noChangeAspect="1"/>
          </p:cNvPicPr>
          <p:nvPr/>
        </p:nvPicPr>
        <p:blipFill>
          <a:blip r:embed="rId1"/>
          <a:stretch>
            <a:fillRect/>
          </a:stretch>
        </p:blipFill>
        <p:spPr>
          <a:xfrm>
            <a:off x="726948" y="1915668"/>
            <a:ext cx="329184" cy="329184"/>
          </a:xfrm>
          <a:prstGeom prst="rect">
            <a:avLst/>
          </a:prstGeom>
        </p:spPr>
      </p:pic>
      <p:sp>
        <p:nvSpPr>
          <p:cNvPr id="7" name="Text 3"/>
          <p:cNvSpPr txBox="1"/>
          <p:nvPr/>
        </p:nvSpPr>
        <p:spPr>
          <a:xfrm>
            <a:off x="1417320" y="1719072"/>
            <a:ext cx="3657600" cy="365760"/>
          </a:xfrm>
          <a:prstGeom prst="rect">
            <a:avLst/>
          </a:prstGeom>
          <a:noFill/>
          <a:ln/>
        </p:spPr>
        <p:txBody>
          <a:bodyPr wrap="square" lIns="0" tIns="0" rIns="0" bIns="0" rtlCol="0" anchor="t"/>
          <a:lstStyle/>
          <a:p>
            <a:pPr indent="0" marL="0">
              <a:buNone/>
            </a:pPr>
            <a:r>
              <a:rPr lang="es-AR" altLang="en-US" sz="1600" b="1" dirty="0">
                <a:solidFill>
                  <a:schemeClr val="tx1"/>
                </a:solidFill>
              </a:rPr>
              <a:t>1. Subo un cambio a GitHub</a:t>
            </a:r>
            <a:endParaRPr lang="es-AR" sz="1600" dirty="0"/>
          </a:p>
        </p:txBody>
      </p:sp>
      <p:sp>
        <p:nvSpPr>
          <p:cNvPr id="8" name="Text 4"/>
          <p:cNvSpPr txBox="1"/>
          <p:nvPr/>
        </p:nvSpPr>
        <p:spPr>
          <a:xfrm>
            <a:off x="1417320" y="2084832"/>
            <a:ext cx="3657600" cy="365760"/>
          </a:xfrm>
          <a:prstGeom prst="rect">
            <a:avLst/>
          </a:prstGeom>
          <a:noFill/>
          <a:ln/>
        </p:spPr>
        <p:txBody>
          <a:bodyPr wrap="square" lIns="0" tIns="0" rIns="0" bIns="0" rtlCol="0" anchor="t"/>
          <a:lstStyle/>
          <a:p>
            <a:pPr indent="0" marL="0">
              <a:buNone/>
            </a:pPr>
            <a:r>
              <a:rPr lang="es-AR" altLang="en-US" sz="1400" dirty="0">
                <a:solidFill>
                  <a:schemeClr val="accent3"/>
                </a:solidFill>
              </a:rPr>
              <a:t>Un test nuevo o una corrección</a:t>
            </a:r>
            <a:endParaRPr lang="es-AR" sz="1400" dirty="0"/>
          </a:p>
        </p:txBody>
      </p:sp>
      <p:sp>
        <p:nvSpPr>
          <p:cNvPr id="9" name="flecha-recorrido-0"/>
          <p:cNvSpPr/>
          <p:nvPr/>
        </p:nvSpPr>
        <p:spPr>
          <a:xfrm>
            <a:off x="891540" y="2450592"/>
            <a:ext cx="0" cy="310896"/>
          </a:xfrm>
          <a:prstGeom prst="line">
            <a:avLst/>
          </a:prstGeom>
          <a:noFill/>
          <a:ln w="25400">
            <a:solidFill>
              <a:srgbClr val="F4A259"/>
            </a:solidFill>
            <a:prstDash val="solid"/>
            <a:tailEnd type="triangle"/>
          </a:ln>
        </p:spPr>
      </p:sp>
      <p:sp>
        <p:nvSpPr>
          <p:cNvPr id="10" name="circulo-recorrido-1"/>
          <p:cNvSpPr/>
          <p:nvPr/>
        </p:nvSpPr>
        <p:spPr>
          <a:xfrm>
            <a:off x="548640" y="2788920"/>
            <a:ext cx="685800" cy="685800"/>
          </a:xfrm>
          <a:prstGeom prst="ellipse">
            <a:avLst/>
          </a:prstGeom>
          <a:solidFill>
            <a:schemeClr val="accent6"/>
          </a:solidFill>
          <a:ln/>
        </p:spPr>
      </p:sp>
      <p:pic>
        <p:nvPicPr>
          <p:cNvPr id="11" name="icono-recorrido-1" descr="preencoded.png">    </p:cNvPr>
          <p:cNvPicPr>
            <a:picLocks noChangeAspect="1"/>
          </p:cNvPicPr>
          <p:nvPr/>
        </p:nvPicPr>
        <p:blipFill>
          <a:blip r:embed="rId2"/>
          <a:stretch>
            <a:fillRect/>
          </a:stretch>
        </p:blipFill>
        <p:spPr>
          <a:xfrm>
            <a:off x="726948" y="2967228"/>
            <a:ext cx="329184" cy="329184"/>
          </a:xfrm>
          <a:prstGeom prst="rect">
            <a:avLst/>
          </a:prstGeom>
        </p:spPr>
      </p:pic>
      <p:sp>
        <p:nvSpPr>
          <p:cNvPr id="12" name="Text 7"/>
          <p:cNvSpPr txBox="1"/>
          <p:nvPr/>
        </p:nvSpPr>
        <p:spPr>
          <a:xfrm>
            <a:off x="1417320" y="2770632"/>
            <a:ext cx="3657600" cy="365760"/>
          </a:xfrm>
          <a:prstGeom prst="rect">
            <a:avLst/>
          </a:prstGeom>
          <a:noFill/>
          <a:ln/>
        </p:spPr>
        <p:txBody>
          <a:bodyPr wrap="square" lIns="0" tIns="0" rIns="0" bIns="0" rtlCol="0" anchor="t"/>
          <a:lstStyle/>
          <a:p>
            <a:pPr indent="0" marL="0">
              <a:buNone/>
            </a:pPr>
            <a:r>
              <a:rPr lang="es-AR" altLang="en-US" sz="1600" b="1" dirty="0">
                <a:solidFill>
                  <a:schemeClr val="tx1"/>
                </a:solidFill>
              </a:rPr>
              <a:t>2. GitHub Actions valida</a:t>
            </a:r>
            <a:endParaRPr lang="es-AR" sz="1600" dirty="0"/>
          </a:p>
        </p:txBody>
      </p:sp>
      <p:sp>
        <p:nvSpPr>
          <p:cNvPr id="13" name="Text 8"/>
          <p:cNvSpPr txBox="1"/>
          <p:nvPr/>
        </p:nvSpPr>
        <p:spPr>
          <a:xfrm>
            <a:off x="1417320" y="3136392"/>
            <a:ext cx="3657600" cy="365760"/>
          </a:xfrm>
          <a:prstGeom prst="rect">
            <a:avLst/>
          </a:prstGeom>
          <a:noFill/>
          <a:ln/>
        </p:spPr>
        <p:txBody>
          <a:bodyPr wrap="square" lIns="0" tIns="0" rIns="0" bIns="0" rtlCol="0" anchor="t"/>
          <a:lstStyle/>
          <a:p>
            <a:pPr indent="0" marL="0">
              <a:buNone/>
            </a:pPr>
            <a:r>
              <a:rPr lang="es-AR" altLang="en-US" sz="1400" dirty="0">
                <a:solidFill>
                  <a:schemeClr val="accent3"/>
                </a:solidFill>
              </a:rPr>
              <a:t>En la nube, en minutos: ¿compila todo?</a:t>
            </a:r>
            <a:endParaRPr lang="es-AR" sz="1400" dirty="0"/>
          </a:p>
        </p:txBody>
      </p:sp>
      <p:sp>
        <p:nvSpPr>
          <p:cNvPr id="14" name="flecha-recorrido-1"/>
          <p:cNvSpPr/>
          <p:nvPr/>
        </p:nvSpPr>
        <p:spPr>
          <a:xfrm>
            <a:off x="891540" y="3502152"/>
            <a:ext cx="0" cy="310896"/>
          </a:xfrm>
          <a:prstGeom prst="line">
            <a:avLst/>
          </a:prstGeom>
          <a:noFill/>
          <a:ln w="25400">
            <a:solidFill>
              <a:srgbClr val="F4A259"/>
            </a:solidFill>
            <a:prstDash val="solid"/>
            <a:tailEnd type="triangle"/>
          </a:ln>
        </p:spPr>
      </p:sp>
      <p:sp>
        <p:nvSpPr>
          <p:cNvPr id="15" name="circulo-recorrido-2"/>
          <p:cNvSpPr/>
          <p:nvPr/>
        </p:nvSpPr>
        <p:spPr>
          <a:xfrm>
            <a:off x="548640" y="3840480"/>
            <a:ext cx="685800" cy="685800"/>
          </a:xfrm>
          <a:prstGeom prst="ellipse">
            <a:avLst/>
          </a:prstGeom>
          <a:solidFill>
            <a:schemeClr val="accent1"/>
          </a:solidFill>
          <a:ln/>
        </p:spPr>
      </p:sp>
      <p:pic>
        <p:nvPicPr>
          <p:cNvPr id="16" name="icono-recorrido-2" descr="preencoded.png">    </p:cNvPr>
          <p:cNvPicPr>
            <a:picLocks noChangeAspect="1"/>
          </p:cNvPicPr>
          <p:nvPr/>
        </p:nvPicPr>
        <p:blipFill>
          <a:blip r:embed="rId3"/>
          <a:stretch>
            <a:fillRect/>
          </a:stretch>
        </p:blipFill>
        <p:spPr>
          <a:xfrm>
            <a:off x="726948" y="4018788"/>
            <a:ext cx="329184" cy="329184"/>
          </a:xfrm>
          <a:prstGeom prst="rect">
            <a:avLst/>
          </a:prstGeom>
        </p:spPr>
      </p:pic>
      <p:sp>
        <p:nvSpPr>
          <p:cNvPr id="17" name="Text 11"/>
          <p:cNvSpPr txBox="1"/>
          <p:nvPr/>
        </p:nvSpPr>
        <p:spPr>
          <a:xfrm>
            <a:off x="1417320" y="3822192"/>
            <a:ext cx="3657600" cy="365760"/>
          </a:xfrm>
          <a:prstGeom prst="rect">
            <a:avLst/>
          </a:prstGeom>
          <a:noFill/>
          <a:ln/>
        </p:spPr>
        <p:txBody>
          <a:bodyPr wrap="square" lIns="0" tIns="0" rIns="0" bIns="0" rtlCol="0" anchor="t"/>
          <a:lstStyle/>
          <a:p>
            <a:pPr indent="0" marL="0">
              <a:buNone/>
            </a:pPr>
            <a:r>
              <a:rPr lang="es-AR" altLang="en-US" sz="1600" b="1" dirty="0">
                <a:solidFill>
                  <a:schemeClr val="tx1"/>
                </a:solidFill>
              </a:rPr>
              <a:t>3. Jenkins prueba de punta a punta</a:t>
            </a:r>
            <a:endParaRPr lang="es-AR" sz="1600" dirty="0"/>
          </a:p>
        </p:txBody>
      </p:sp>
      <p:sp>
        <p:nvSpPr>
          <p:cNvPr id="18" name="Text 12"/>
          <p:cNvSpPr txBox="1"/>
          <p:nvPr/>
        </p:nvSpPr>
        <p:spPr>
          <a:xfrm>
            <a:off x="1417320" y="4187952"/>
            <a:ext cx="3657600" cy="365760"/>
          </a:xfrm>
          <a:prstGeom prst="rect">
            <a:avLst/>
          </a:prstGeom>
          <a:noFill/>
          <a:ln/>
        </p:spPr>
        <p:txBody>
          <a:bodyPr wrap="square" lIns="0" tIns="0" rIns="0" bIns="0" rtlCol="0" anchor="t"/>
          <a:lstStyle/>
          <a:p>
            <a:pPr indent="0" marL="0">
              <a:buNone/>
            </a:pPr>
            <a:r>
              <a:rPr lang="es-AR" altLang="en-US" sz="1400" dirty="0">
                <a:solidFill>
                  <a:schemeClr val="accent3"/>
                </a:solidFill>
              </a:rPr>
              <a:t>En nuestra red, contra los ambientes reales</a:t>
            </a:r>
            <a:endParaRPr lang="es-AR" sz="1400" dirty="0"/>
          </a:p>
        </p:txBody>
      </p:sp>
      <p:sp>
        <p:nvSpPr>
          <p:cNvPr id="19" name="flecha-recorrido-2"/>
          <p:cNvSpPr/>
          <p:nvPr/>
        </p:nvSpPr>
        <p:spPr>
          <a:xfrm>
            <a:off x="891540" y="4553712"/>
            <a:ext cx="0" cy="310896"/>
          </a:xfrm>
          <a:prstGeom prst="line">
            <a:avLst/>
          </a:prstGeom>
          <a:noFill/>
          <a:ln w="25400">
            <a:solidFill>
              <a:srgbClr val="F4A259"/>
            </a:solidFill>
            <a:prstDash val="solid"/>
            <a:tailEnd type="triangle"/>
          </a:ln>
        </p:spPr>
      </p:sp>
      <p:sp>
        <p:nvSpPr>
          <p:cNvPr id="20" name="circulo-recorrido-3"/>
          <p:cNvSpPr/>
          <p:nvPr/>
        </p:nvSpPr>
        <p:spPr>
          <a:xfrm>
            <a:off x="548640" y="4892040"/>
            <a:ext cx="685800" cy="685800"/>
          </a:xfrm>
          <a:prstGeom prst="ellipse">
            <a:avLst/>
          </a:prstGeom>
          <a:solidFill>
            <a:schemeClr val="accent2"/>
          </a:solidFill>
          <a:ln/>
        </p:spPr>
      </p:sp>
      <p:pic>
        <p:nvPicPr>
          <p:cNvPr id="21" name="icono-recorrido-3" descr="preencoded.png">    </p:cNvPr>
          <p:cNvPicPr>
            <a:picLocks noChangeAspect="1"/>
          </p:cNvPicPr>
          <p:nvPr/>
        </p:nvPicPr>
        <p:blipFill>
          <a:blip r:embed="rId4"/>
          <a:stretch>
            <a:fillRect/>
          </a:stretch>
        </p:blipFill>
        <p:spPr>
          <a:xfrm>
            <a:off x="726948" y="5070348"/>
            <a:ext cx="329184" cy="329184"/>
          </a:xfrm>
          <a:prstGeom prst="rect">
            <a:avLst/>
          </a:prstGeom>
        </p:spPr>
      </p:pic>
      <p:sp>
        <p:nvSpPr>
          <p:cNvPr id="22" name="Text 15"/>
          <p:cNvSpPr txBox="1"/>
          <p:nvPr/>
        </p:nvSpPr>
        <p:spPr>
          <a:xfrm>
            <a:off x="1417320" y="4873752"/>
            <a:ext cx="3657600" cy="365760"/>
          </a:xfrm>
          <a:prstGeom prst="rect">
            <a:avLst/>
          </a:prstGeom>
          <a:noFill/>
          <a:ln/>
        </p:spPr>
        <p:txBody>
          <a:bodyPr wrap="square" lIns="0" tIns="0" rIns="0" bIns="0" rtlCol="0" anchor="t"/>
          <a:lstStyle/>
          <a:p>
            <a:pPr indent="0" marL="0">
              <a:buNone/>
            </a:pPr>
            <a:r>
              <a:rPr lang="es-AR" altLang="en-US" sz="1600" b="1" dirty="0">
                <a:solidFill>
                  <a:schemeClr val="tx1"/>
                </a:solidFill>
              </a:rPr>
              <a:t>4. Reporte e historial</a:t>
            </a:r>
            <a:endParaRPr lang="es-AR" sz="1600" dirty="0"/>
          </a:p>
        </p:txBody>
      </p:sp>
      <p:sp>
        <p:nvSpPr>
          <p:cNvPr id="23" name="Text 16"/>
          <p:cNvSpPr txBox="1"/>
          <p:nvPr/>
        </p:nvSpPr>
        <p:spPr>
          <a:xfrm>
            <a:off x="1417320" y="5239512"/>
            <a:ext cx="3657600" cy="365760"/>
          </a:xfrm>
          <a:prstGeom prst="rect">
            <a:avLst/>
          </a:prstGeom>
          <a:noFill/>
          <a:ln/>
        </p:spPr>
        <p:txBody>
          <a:bodyPr wrap="square" lIns="0" tIns="0" rIns="0" bIns="0" rtlCol="0" anchor="t"/>
          <a:lstStyle/>
          <a:p>
            <a:pPr indent="0" marL="0">
              <a:buNone/>
            </a:pPr>
            <a:r>
              <a:rPr lang="es-AR" altLang="en-US" sz="1400" dirty="0">
                <a:solidFill>
                  <a:schemeClr val="accent3"/>
                </a:solidFill>
              </a:rPr>
              <a:t>Capturas, videos y resultados de cada build</a:t>
            </a:r>
            <a:endParaRPr lang="es-AR" sz="1400" dirty="0"/>
          </a:p>
        </p:txBody>
      </p:sp>
      <p:sp>
        <p:nvSpPr>
          <p:cNvPr id="24" name="Text 17"/>
          <p:cNvSpPr txBox="1"/>
          <p:nvPr/>
        </p:nvSpPr>
        <p:spPr>
          <a:xfrm>
            <a:off x="5394960" y="1234440"/>
            <a:ext cx="5486400" cy="365760"/>
          </a:xfrm>
          <a:prstGeom prst="rect">
            <a:avLst/>
          </a:prstGeom>
          <a:noFill/>
          <a:ln/>
        </p:spPr>
        <p:txBody>
          <a:bodyPr wrap="square" lIns="0" tIns="0" rIns="0" bIns="0" rtlCol="0" anchor="t"/>
          <a:lstStyle/>
          <a:p>
            <a:pPr indent="0" marL="0">
              <a:buNone/>
            </a:pPr>
            <a:r>
              <a:rPr lang="es-AR" altLang="en-US" sz="1700" b="1" dirty="0">
                <a:solidFill>
                  <a:schemeClr val="tx1"/>
                </a:solidFill>
              </a:rPr>
              <a:t>Qué prueba corre dónde</a:t>
            </a:r>
            <a:endParaRPr lang="es-AR" sz="1700" dirty="0"/>
          </a:p>
        </p:txBody>
      </p:sp>
      <p:graphicFrame>
        <p:nvGraphicFramePr>
          <p:cNvPr id="23" name="tabla-donde-corre"/>
          <p:cNvGraphicFramePr>
            <a:graphicFrameLocks noGrp="1"/>
          </p:cNvGraphicFramePr>
          <p:nvPr>
            <p:extLst>
              <p:ext uri="{D42A27DB-BD31-4B8C-83A1-F6EECF244321}">
                <p14:modId xmlns:p14="http://schemas.microsoft.com/office/powerpoint/2010/main" val="1579011935"/>
              </p:ext>
            </p:extLst>
          </p:nvPr>
        </p:nvGraphicFramePr>
        <p:xfrm>
          <a:off x="5394960" y="1691640"/>
          <a:ext cx="6217920" cy="914400"/>
        </p:xfrm>
        <a:graphic>
          <a:graphicData uri="http://schemas.openxmlformats.org/drawingml/2006/table">
            <a:tbl>
              <a:tblPr/>
              <a:tblGrid>
                <a:gridCol w="1828800"/>
                <a:gridCol w="1188720"/>
                <a:gridCol w="1005840"/>
                <a:gridCol w="1005840"/>
                <a:gridCol w="1188720"/>
              </a:tblGrid>
              <a:tr h="457200">
                <a:tc>
                  <a:txBody>
                    <a:bodyPr/>
                    <a:lstStyle/>
                    <a:p>
                      <a:pPr algn="ctr" indent="0" marL="0">
                        <a:buNone/>
                      </a:pPr>
                      <a:endParaRPr lang="en-US" sz="14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GitHub Actions</a:t>
                      </a:r>
                      <a:endParaRPr lang="en-US" sz="14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Jenkins</a:t>
                      </a:r>
                      <a:endParaRPr lang="en-US" sz="14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Docker</a:t>
                      </a:r>
                      <a:endParaRPr lang="en-US" sz="14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Kubernetes</a:t>
                      </a:r>
                      <a:endParaRPr lang="en-US" sz="14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r>
              <a:tr h="54864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Web: ANPR y Biblioteca</a:t>
                      </a:r>
                      <a:endParaRPr lang="en-US" sz="14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3"/>
                          </a:solidFill>
                          <a:latin typeface="Calibri" pitchFamily="34" charset="0"/>
                          <a:ea typeface="Calibri" pitchFamily="34" charset="-122"/>
                          <a:cs typeface="Calibri" pitchFamily="34" charset="-120"/>
                        </a:rPr>
                        <a:t>Valida</a:t>
                      </a:r>
                      <a:endParaRPr lang="en-US" sz="14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algn="ctr" indent="0" marL="0">
                        <a:buNone/>
                      </a:pPr>
                      <a:r>
                        <a:rPr lang="en-US" sz="1800" b="1" dirty="0">
                          <a:solidFill>
                            <a:schemeClr val="accent5"/>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algn="ctr" indent="0" marL="0">
                        <a:buNone/>
                      </a:pPr>
                      <a:r>
                        <a:rPr lang="en-US" sz="1800" b="1" dirty="0">
                          <a:solidFill>
                            <a:schemeClr val="accent5"/>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algn="ctr" indent="0" marL="0">
                        <a:buNone/>
                      </a:pPr>
                      <a:r>
                        <a:rPr lang="en-US" sz="1800" b="1" dirty="0">
                          <a:solidFill>
                            <a:schemeClr val="accent5"/>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54864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Integraciones con AS</a:t>
                      </a:r>
                      <a:endParaRPr lang="en-US" sz="14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3"/>
                          </a:solidFill>
                          <a:latin typeface="Calibri" pitchFamily="34" charset="0"/>
                          <a:ea typeface="Calibri" pitchFamily="34" charset="-122"/>
                          <a:cs typeface="Calibri" pitchFamily="34" charset="-120"/>
                        </a:rPr>
                        <a:t>Valida</a:t>
                      </a:r>
                      <a:endParaRPr lang="en-US" sz="14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algn="ctr" indent="0" marL="0">
                        <a:buNone/>
                      </a:pPr>
                      <a:r>
                        <a:rPr lang="en-US" sz="1800" b="1" dirty="0">
                          <a:solidFill>
                            <a:schemeClr val="accent5"/>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algn="ctr" indent="0" marL="0">
                        <a:buNone/>
                      </a:pPr>
                      <a:r>
                        <a:rPr lang="en-US" sz="1400" dirty="0">
                          <a:solidFill>
                            <a:schemeClr val="accent3"/>
                          </a:solidFill>
                          <a:latin typeface="Calibri" pitchFamily="34" charset="0"/>
                          <a:ea typeface="Calibri" pitchFamily="34" charset="-122"/>
                          <a:cs typeface="Calibri" pitchFamily="34" charset="-120"/>
                        </a:rPr>
                        <a:t>Posible</a:t>
                      </a:r>
                      <a:endParaRPr lang="en-US" sz="14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algn="ctr" indent="0" marL="0">
                        <a:buNone/>
                      </a:pPr>
                      <a:r>
                        <a:rPr lang="en-US" sz="1400" dirty="0">
                          <a:solidFill>
                            <a:schemeClr val="accent3"/>
                          </a:solidFill>
                          <a:latin typeface="Calibri" pitchFamily="34" charset="0"/>
                          <a:ea typeface="Calibri" pitchFamily="34" charset="-122"/>
                          <a:cs typeface="Calibri" pitchFamily="34" charset="-120"/>
                        </a:rPr>
                        <a:t>Posible</a:t>
                      </a:r>
                      <a:endParaRPr lang="en-US" sz="14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54864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VMS: escritorio Windows</a:t>
                      </a:r>
                      <a:endParaRPr lang="en-US" sz="14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3"/>
                          </a:solidFill>
                          <a:latin typeface="Calibri" pitchFamily="34" charset="0"/>
                          <a:ea typeface="Calibri" pitchFamily="34" charset="-122"/>
                          <a:cs typeface="Calibri" pitchFamily="34" charset="-120"/>
                        </a:rPr>
                        <a:t>Valida</a:t>
                      </a:r>
                      <a:endParaRPr lang="en-US" sz="14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algn="ctr" indent="0" marL="0">
                        <a:buNone/>
                      </a:pPr>
                      <a:r>
                        <a:rPr lang="en-US" sz="1800" b="1" dirty="0">
                          <a:solidFill>
                            <a:schemeClr val="accent5"/>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73152"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bl>
          </a:graphicData>
        </a:graphic>
      </p:graphicFrame>
      <p:sp>
        <p:nvSpPr>
          <p:cNvPr id="26" name="Text 18"/>
          <p:cNvSpPr txBox="1"/>
          <p:nvPr/>
        </p:nvSpPr>
        <p:spPr>
          <a:xfrm>
            <a:off x="5394960" y="3977640"/>
            <a:ext cx="6217920" cy="320040"/>
          </a:xfrm>
          <a:prstGeom prst="rect">
            <a:avLst/>
          </a:prstGeom>
          <a:noFill/>
          <a:ln/>
        </p:spPr>
        <p:txBody>
          <a:bodyPr wrap="square" lIns="0" tIns="0" rIns="0" bIns="0" rtlCol="0" anchor="t"/>
          <a:lstStyle/>
          <a:p>
            <a:pPr indent="0" marL="0">
              <a:buNone/>
            </a:pPr>
            <a:r>
              <a:rPr lang="es-AR" altLang="en-US" sz="1200" i="1" dirty="0">
                <a:solidFill>
                  <a:schemeClr val="accent3"/>
                </a:solidFill>
              </a:rPr>
              <a:t>Valida: solo revisa que compilen (no llega a la red). Posible: no lo probamos todavía.</a:t>
            </a:r>
            <a:endParaRPr lang="es-AR" sz="1200" dirty="0"/>
          </a:p>
        </p:txBody>
      </p:sp>
      <p:sp>
        <p:nvSpPr>
          <p:cNvPr id="27" name="tarjeta-por-que-vms"/>
          <p:cNvSpPr/>
          <p:nvPr/>
        </p:nvSpPr>
        <p:spPr>
          <a:xfrm>
            <a:off x="5394960" y="4434840"/>
            <a:ext cx="6217920" cy="1554480"/>
          </a:xfrm>
          <a:prstGeom prst="roundRect">
            <a:avLst>
              <a:gd name="adj" fmla="val 7059"/>
            </a:avLst>
          </a:prstGeom>
          <a:solidFill>
            <a:schemeClr val="tx2"/>
          </a:solidFill>
          <a:ln/>
          <a:effectLst>
            <a:outerShdw sx="100000" sy="100000" kx="0" ky="0" algn="bl" rotWithShape="0" blurRad="101600" dist="25400" dir="5400000">
              <a:srgbClr val="1B2430">
                <a:alpha val="12000"/>
              </a:srgbClr>
            </a:outerShdw>
          </a:effectLst>
        </p:spPr>
      </p:sp>
      <p:sp>
        <p:nvSpPr>
          <p:cNvPr id="28" name="circulo-por-que-vms"/>
          <p:cNvSpPr/>
          <p:nvPr/>
        </p:nvSpPr>
        <p:spPr>
          <a:xfrm>
            <a:off x="5623560" y="4709160"/>
            <a:ext cx="685800" cy="685800"/>
          </a:xfrm>
          <a:prstGeom prst="ellipse">
            <a:avLst/>
          </a:prstGeom>
          <a:solidFill>
            <a:schemeClr val="accent2"/>
          </a:solidFill>
          <a:ln/>
        </p:spPr>
      </p:sp>
      <p:pic>
        <p:nvPicPr>
          <p:cNvPr id="29" name="icono-por-que-vms" descr="preencoded.png">    </p:cNvPr>
          <p:cNvPicPr>
            <a:picLocks noChangeAspect="1"/>
          </p:cNvPicPr>
          <p:nvPr/>
        </p:nvPicPr>
        <p:blipFill>
          <a:blip r:embed="rId5"/>
          <a:stretch>
            <a:fillRect/>
          </a:stretch>
        </p:blipFill>
        <p:spPr>
          <a:xfrm>
            <a:off x="5801868" y="4887468"/>
            <a:ext cx="329184" cy="329184"/>
          </a:xfrm>
          <a:prstGeom prst="rect">
            <a:avLst/>
          </a:prstGeom>
        </p:spPr>
      </p:pic>
      <p:sp>
        <p:nvSpPr>
          <p:cNvPr id="30" name="Text 21"/>
          <p:cNvSpPr txBox="1"/>
          <p:nvPr/>
        </p:nvSpPr>
        <p:spPr>
          <a:xfrm>
            <a:off x="6492240" y="4599432"/>
            <a:ext cx="4937760" cy="365760"/>
          </a:xfrm>
          <a:prstGeom prst="rect">
            <a:avLst/>
          </a:prstGeom>
          <a:noFill/>
          <a:ln/>
        </p:spPr>
        <p:txBody>
          <a:bodyPr wrap="square" lIns="0" tIns="0" rIns="0" bIns="0" rtlCol="0" anchor="t"/>
          <a:lstStyle/>
          <a:p>
            <a:pPr indent="0" marL="0">
              <a:buNone/>
            </a:pPr>
            <a:r>
              <a:rPr lang="es-AR" altLang="en-US" sz="1600" b="1" dirty="0">
                <a:solidFill>
                  <a:schemeClr val="bg1"/>
                </a:solidFill>
              </a:rPr>
              <a:t>¿Por qué VMS no va en contenedores?</a:t>
            </a:r>
            <a:endParaRPr lang="es-AR" sz="1600" dirty="0"/>
          </a:p>
        </p:txBody>
      </p:sp>
      <p:sp>
        <p:nvSpPr>
          <p:cNvPr id="31" name="Text 22"/>
          <p:cNvSpPr txBox="1"/>
          <p:nvPr/>
        </p:nvSpPr>
        <p:spPr>
          <a:xfrm>
            <a:off x="6492240" y="5001768"/>
            <a:ext cx="4937760" cy="914400"/>
          </a:xfrm>
          <a:prstGeom prst="rect">
            <a:avLst/>
          </a:prstGeom>
          <a:noFill/>
          <a:ln/>
        </p:spPr>
        <p:txBody>
          <a:bodyPr wrap="square" lIns="0" tIns="0" rIns="0" bIns="0" rtlCol="0" anchor="t"/>
          <a:lstStyle/>
          <a:p>
            <a:pPr indent="0" marL="0">
              <a:buNone/>
            </a:pPr>
            <a:r>
              <a:rPr lang="es-AR" altLang="en-US" sz="1400" dirty="0">
                <a:solidFill>
                  <a:schemeClr val="bg2"/>
                </a:solidFill>
              </a:rPr>
              <a:t>El test usa el mouse y lee la pantalla de una app de Windows. Un contenedor es un Linux sin pantalla: VMS corre en Jenkins, en una PC Windows con la sesión abierta.</a:t>
            </a:r>
            <a:endParaRPr lang="es-AR" sz="14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Docker y Kubernetes en la práctica</a:t>
            </a:r>
            <a:endParaRPr lang="es-AR" sz="3200" dirty="0"/>
          </a:p>
        </p:txBody>
      </p:sp>
      <p:sp>
        <p:nvSpPr>
          <p:cNvPr id="4" name="tarjeta-docker-0"/>
          <p:cNvSpPr/>
          <p:nvPr/>
        </p:nvSpPr>
        <p:spPr>
          <a:xfrm>
            <a:off x="548640" y="1371600"/>
            <a:ext cx="6675120" cy="1280160"/>
          </a:xfrm>
          <a:prstGeom prst="roundRect">
            <a:avLst>
              <a:gd name="adj" fmla="val 8571"/>
            </a:avLst>
          </a:prstGeom>
          <a:solidFill>
            <a:schemeClr val="bg2"/>
          </a:solidFill>
          <a:ln/>
          <a:effectLst>
            <a:outerShdw sx="100000" sy="100000" kx="0" ky="0" algn="bl" rotWithShape="0" blurRad="101600" dist="25400" dir="5400000">
              <a:srgbClr val="1B2430">
                <a:alpha val="12000"/>
              </a:srgbClr>
            </a:outerShdw>
          </a:effectLst>
        </p:spPr>
      </p:sp>
      <p:sp>
        <p:nvSpPr>
          <p:cNvPr id="5" name="circulo-docker-0"/>
          <p:cNvSpPr/>
          <p:nvPr/>
        </p:nvSpPr>
        <p:spPr>
          <a:xfrm>
            <a:off x="777240" y="1600200"/>
            <a:ext cx="822960" cy="822960"/>
          </a:xfrm>
          <a:prstGeom prst="ellipse">
            <a:avLst/>
          </a:prstGeom>
          <a:solidFill>
            <a:schemeClr val="accent6"/>
          </a:solidFill>
          <a:ln/>
        </p:spPr>
      </p:sp>
      <p:pic>
        <p:nvPicPr>
          <p:cNvPr id="6" name="icono-docker-0" descr="preencoded.png">    </p:cNvPr>
          <p:cNvPicPr>
            <a:picLocks noChangeAspect="1"/>
          </p:cNvPicPr>
          <p:nvPr/>
        </p:nvPicPr>
        <p:blipFill>
          <a:blip r:embed="rId1"/>
          <a:stretch>
            <a:fillRect/>
          </a:stretch>
        </p:blipFill>
        <p:spPr>
          <a:xfrm>
            <a:off x="991210" y="1814170"/>
            <a:ext cx="395021" cy="395021"/>
          </a:xfrm>
          <a:prstGeom prst="rect">
            <a:avLst/>
          </a:prstGeom>
        </p:spPr>
      </p:pic>
      <p:sp>
        <p:nvSpPr>
          <p:cNvPr id="7" name="Text 3"/>
          <p:cNvSpPr txBox="1"/>
          <p:nvPr/>
        </p:nvSpPr>
        <p:spPr>
          <a:xfrm>
            <a:off x="1828800" y="1554480"/>
            <a:ext cx="2377440" cy="411480"/>
          </a:xfrm>
          <a:prstGeom prst="rect">
            <a:avLst/>
          </a:prstGeom>
          <a:noFill/>
          <a:ln/>
        </p:spPr>
        <p:txBody>
          <a:bodyPr wrap="square" lIns="0" tIns="0" rIns="0" bIns="0" rtlCol="0" anchor="t"/>
          <a:lstStyle/>
          <a:p>
            <a:pPr indent="0" marL="0">
              <a:buNone/>
            </a:pPr>
            <a:r>
              <a:rPr lang="es-AR" altLang="en-US" sz="1800" b="1" dirty="0">
                <a:solidFill>
                  <a:schemeClr val="tx1"/>
                </a:solidFill>
              </a:rPr>
              <a:t>Dockerfile</a:t>
            </a:r>
            <a:endParaRPr lang="es-AR" sz="1800" dirty="0"/>
          </a:p>
        </p:txBody>
      </p:sp>
      <p:sp>
        <p:nvSpPr>
          <p:cNvPr id="8" name="Text 4"/>
          <p:cNvSpPr txBox="1"/>
          <p:nvPr/>
        </p:nvSpPr>
        <p:spPr>
          <a:xfrm>
            <a:off x="1828800" y="1993392"/>
            <a:ext cx="3108960" cy="594360"/>
          </a:xfrm>
          <a:prstGeom prst="rect">
            <a:avLst/>
          </a:prstGeom>
          <a:noFill/>
          <a:ln/>
        </p:spPr>
        <p:txBody>
          <a:bodyPr wrap="square" lIns="0" tIns="0" rIns="0" bIns="0" rtlCol="0" anchor="t"/>
          <a:lstStyle/>
          <a:p>
            <a:pPr indent="0" marL="0">
              <a:buNone/>
            </a:pPr>
            <a:r>
              <a:rPr lang="es-AR" altLang="en-US" sz="1400" dirty="0">
                <a:solidFill>
                  <a:schemeClr val="accent3"/>
                </a:solidFill>
              </a:rPr>
              <a:t>Imagen con Node, Chrome y los tests de Playwright. Sin credenciales</a:t>
            </a:r>
            <a:endParaRPr lang="es-AR" sz="1400" dirty="0"/>
          </a:p>
        </p:txBody>
      </p:sp>
      <p:sp>
        <p:nvSpPr>
          <p:cNvPr id="9" name="cmd-docker-0"/>
          <p:cNvSpPr/>
          <p:nvPr/>
        </p:nvSpPr>
        <p:spPr>
          <a:xfrm>
            <a:off x="5029200" y="1755648"/>
            <a:ext cx="2011680" cy="502920"/>
          </a:xfrm>
          <a:prstGeom prst="roundRect">
            <a:avLst>
              <a:gd name="adj" fmla="val 18182"/>
            </a:avLst>
          </a:prstGeom>
          <a:solidFill>
            <a:schemeClr val="tx2"/>
          </a:solidFill>
          <a:ln/>
        </p:spPr>
      </p:sp>
      <p:sp>
        <p:nvSpPr>
          <p:cNvPr id="10" name="Text 6"/>
          <p:cNvSpPr txBox="1"/>
          <p:nvPr/>
        </p:nvSpPr>
        <p:spPr>
          <a:xfrm>
            <a:off x="5029200" y="1755648"/>
            <a:ext cx="2011680" cy="502920"/>
          </a:xfrm>
          <a:prstGeom prst="rect">
            <a:avLst/>
          </a:prstGeom>
          <a:noFill/>
          <a:ln/>
        </p:spPr>
        <p:txBody>
          <a:bodyPr wrap="square" lIns="0" tIns="0" rIns="0" bIns="0" rtlCol="0" anchor="ctr"/>
          <a:lstStyle/>
          <a:p>
            <a:pPr algn="ctr" indent="0" marL="0">
              <a:buNone/>
            </a:pPr>
            <a:r>
              <a:rPr lang="es-AR" altLang="en-US" sz="1200" dirty="0">
                <a:solidFill>
                  <a:schemeClr val="bg1"/>
                </a:solidFill>
                <a:latin typeface="Courier New" pitchFamily="34" charset="0"/>
                <a:ea typeface="Courier New" pitchFamily="34" charset="-122"/>
                <a:cs typeface="Courier New" pitchFamily="34" charset="-120"/>
              </a:rPr>
              <a:t>npm run docker:build</a:t>
            </a:r>
            <a:endParaRPr lang="es-AR" sz="1200" dirty="0"/>
          </a:p>
        </p:txBody>
      </p:sp>
      <p:sp>
        <p:nvSpPr>
          <p:cNvPr id="11" name="flecha-docker-0"/>
          <p:cNvSpPr/>
          <p:nvPr/>
        </p:nvSpPr>
        <p:spPr>
          <a:xfrm>
            <a:off x="1188720" y="2441448"/>
            <a:ext cx="0" cy="420624"/>
          </a:xfrm>
          <a:prstGeom prst="line">
            <a:avLst/>
          </a:prstGeom>
          <a:noFill/>
          <a:ln w="25400">
            <a:solidFill>
              <a:srgbClr val="F4A259"/>
            </a:solidFill>
            <a:prstDash val="solid"/>
            <a:tailEnd type="triangle"/>
          </a:ln>
        </p:spPr>
      </p:sp>
      <p:sp>
        <p:nvSpPr>
          <p:cNvPr id="12" name="tarjeta-docker-1"/>
          <p:cNvSpPr/>
          <p:nvPr/>
        </p:nvSpPr>
        <p:spPr>
          <a:xfrm>
            <a:off x="548640" y="2880360"/>
            <a:ext cx="6675120" cy="1280160"/>
          </a:xfrm>
          <a:prstGeom prst="roundRect">
            <a:avLst>
              <a:gd name="adj" fmla="val 8571"/>
            </a:avLst>
          </a:prstGeom>
          <a:solidFill>
            <a:schemeClr val="bg2"/>
          </a:solidFill>
          <a:ln/>
          <a:effectLst>
            <a:outerShdw sx="100000" sy="100000" kx="0" ky="0" algn="bl" rotWithShape="0" blurRad="101600" dist="25400" dir="5400000">
              <a:srgbClr val="1B2430">
                <a:alpha val="12000"/>
              </a:srgbClr>
            </a:outerShdw>
          </a:effectLst>
        </p:spPr>
      </p:sp>
      <p:sp>
        <p:nvSpPr>
          <p:cNvPr id="13" name="circulo-docker-1"/>
          <p:cNvSpPr/>
          <p:nvPr/>
        </p:nvSpPr>
        <p:spPr>
          <a:xfrm>
            <a:off x="777240" y="3108960"/>
            <a:ext cx="822960" cy="822960"/>
          </a:xfrm>
          <a:prstGeom prst="ellipse">
            <a:avLst/>
          </a:prstGeom>
          <a:solidFill>
            <a:schemeClr val="accent1"/>
          </a:solidFill>
          <a:ln/>
        </p:spPr>
      </p:sp>
      <p:pic>
        <p:nvPicPr>
          <p:cNvPr id="14" name="icono-docker-1" descr="preencoded.png">    </p:cNvPr>
          <p:cNvPicPr>
            <a:picLocks noChangeAspect="1"/>
          </p:cNvPicPr>
          <p:nvPr/>
        </p:nvPicPr>
        <p:blipFill>
          <a:blip r:embed="rId2"/>
          <a:stretch>
            <a:fillRect/>
          </a:stretch>
        </p:blipFill>
        <p:spPr>
          <a:xfrm>
            <a:off x="991210" y="3322930"/>
            <a:ext cx="395021" cy="395021"/>
          </a:xfrm>
          <a:prstGeom prst="rect">
            <a:avLst/>
          </a:prstGeom>
        </p:spPr>
      </p:pic>
      <p:sp>
        <p:nvSpPr>
          <p:cNvPr id="15" name="Text 10"/>
          <p:cNvSpPr txBox="1"/>
          <p:nvPr/>
        </p:nvSpPr>
        <p:spPr>
          <a:xfrm>
            <a:off x="1828800" y="3063240"/>
            <a:ext cx="2377440" cy="411480"/>
          </a:xfrm>
          <a:prstGeom prst="rect">
            <a:avLst/>
          </a:prstGeom>
          <a:noFill/>
          <a:ln/>
        </p:spPr>
        <p:txBody>
          <a:bodyPr wrap="square" lIns="0" tIns="0" rIns="0" bIns="0" rtlCol="0" anchor="t"/>
          <a:lstStyle/>
          <a:p>
            <a:pPr indent="0" marL="0">
              <a:buNone/>
            </a:pPr>
            <a:r>
              <a:rPr lang="es-AR" altLang="en-US" sz="1800" b="1" dirty="0">
                <a:solidFill>
                  <a:schemeClr val="tx1"/>
                </a:solidFill>
              </a:rPr>
              <a:t>Docker</a:t>
            </a:r>
            <a:endParaRPr lang="es-AR" sz="1800" dirty="0"/>
          </a:p>
        </p:txBody>
      </p:sp>
      <p:sp>
        <p:nvSpPr>
          <p:cNvPr id="16" name="Text 11"/>
          <p:cNvSpPr txBox="1"/>
          <p:nvPr/>
        </p:nvSpPr>
        <p:spPr>
          <a:xfrm>
            <a:off x="1828800" y="3502152"/>
            <a:ext cx="3108960" cy="594360"/>
          </a:xfrm>
          <a:prstGeom prst="rect">
            <a:avLst/>
          </a:prstGeom>
          <a:noFill/>
          <a:ln/>
        </p:spPr>
        <p:txBody>
          <a:bodyPr wrap="square" lIns="0" tIns="0" rIns="0" bIns="0" rtlCol="0" anchor="t"/>
          <a:lstStyle/>
          <a:p>
            <a:pPr indent="0" marL="0">
              <a:buNone/>
            </a:pPr>
            <a:r>
              <a:rPr lang="es-AR" altLang="en-US" sz="1400" dirty="0">
                <a:solidFill>
                  <a:schemeClr val="accent3"/>
                </a:solidFill>
              </a:rPr>
              <a:t>Corre ANPR y Biblioteca Digital en un contenedor, igual en cualquier PC</a:t>
            </a:r>
            <a:endParaRPr lang="es-AR" sz="1400" dirty="0"/>
          </a:p>
        </p:txBody>
      </p:sp>
      <p:sp>
        <p:nvSpPr>
          <p:cNvPr id="17" name="cmd-docker-1"/>
          <p:cNvSpPr/>
          <p:nvPr/>
        </p:nvSpPr>
        <p:spPr>
          <a:xfrm>
            <a:off x="5029200" y="3264408"/>
            <a:ext cx="2011680" cy="502920"/>
          </a:xfrm>
          <a:prstGeom prst="roundRect">
            <a:avLst>
              <a:gd name="adj" fmla="val 18182"/>
            </a:avLst>
          </a:prstGeom>
          <a:solidFill>
            <a:schemeClr val="tx2"/>
          </a:solidFill>
          <a:ln/>
        </p:spPr>
      </p:sp>
      <p:sp>
        <p:nvSpPr>
          <p:cNvPr id="18" name="Text 13"/>
          <p:cNvSpPr txBox="1"/>
          <p:nvPr/>
        </p:nvSpPr>
        <p:spPr>
          <a:xfrm>
            <a:off x="5029200" y="3264408"/>
            <a:ext cx="2011680" cy="502920"/>
          </a:xfrm>
          <a:prstGeom prst="rect">
            <a:avLst/>
          </a:prstGeom>
          <a:noFill/>
          <a:ln/>
        </p:spPr>
        <p:txBody>
          <a:bodyPr wrap="square" lIns="0" tIns="0" rIns="0" bIns="0" rtlCol="0" anchor="ctr"/>
          <a:lstStyle/>
          <a:p>
            <a:pPr algn="ctr" indent="0" marL="0">
              <a:buNone/>
            </a:pPr>
            <a:r>
              <a:rPr lang="es-AR" altLang="en-US" sz="1200" dirty="0">
                <a:solidFill>
                  <a:schemeClr val="bg1"/>
                </a:solidFill>
                <a:latin typeface="Courier New" pitchFamily="34" charset="0"/>
                <a:ea typeface="Courier New" pitchFamily="34" charset="-122"/>
                <a:cs typeface="Courier New" pitchFamily="34" charset="-120"/>
              </a:rPr>
              <a:t>npm run docker:test</a:t>
            </a:r>
            <a:endParaRPr lang="es-AR" sz="1200" dirty="0"/>
          </a:p>
        </p:txBody>
      </p:sp>
      <p:sp>
        <p:nvSpPr>
          <p:cNvPr id="19" name="flecha-docker-1"/>
          <p:cNvSpPr/>
          <p:nvPr/>
        </p:nvSpPr>
        <p:spPr>
          <a:xfrm>
            <a:off x="1188720" y="3950208"/>
            <a:ext cx="0" cy="420624"/>
          </a:xfrm>
          <a:prstGeom prst="line">
            <a:avLst/>
          </a:prstGeom>
          <a:noFill/>
          <a:ln w="25400">
            <a:solidFill>
              <a:srgbClr val="F4A259"/>
            </a:solidFill>
            <a:prstDash val="solid"/>
            <a:tailEnd type="triangle"/>
          </a:ln>
        </p:spPr>
      </p:sp>
      <p:sp>
        <p:nvSpPr>
          <p:cNvPr id="20" name="tarjeta-docker-2"/>
          <p:cNvSpPr/>
          <p:nvPr/>
        </p:nvSpPr>
        <p:spPr>
          <a:xfrm>
            <a:off x="548640" y="4389120"/>
            <a:ext cx="6675120" cy="1280160"/>
          </a:xfrm>
          <a:prstGeom prst="roundRect">
            <a:avLst>
              <a:gd name="adj" fmla="val 8571"/>
            </a:avLst>
          </a:prstGeom>
          <a:solidFill>
            <a:schemeClr val="bg2"/>
          </a:solidFill>
          <a:ln/>
          <a:effectLst>
            <a:outerShdw sx="100000" sy="100000" kx="0" ky="0" algn="bl" rotWithShape="0" blurRad="101600" dist="25400" dir="5400000">
              <a:srgbClr val="1B2430">
                <a:alpha val="12000"/>
              </a:srgbClr>
            </a:outerShdw>
          </a:effectLst>
        </p:spPr>
      </p:sp>
      <p:sp>
        <p:nvSpPr>
          <p:cNvPr id="21" name="circulo-docker-2"/>
          <p:cNvSpPr/>
          <p:nvPr/>
        </p:nvSpPr>
        <p:spPr>
          <a:xfrm>
            <a:off x="777240" y="4617720"/>
            <a:ext cx="822960" cy="822960"/>
          </a:xfrm>
          <a:prstGeom prst="ellipse">
            <a:avLst/>
          </a:prstGeom>
          <a:solidFill>
            <a:schemeClr val="accent2"/>
          </a:solidFill>
          <a:ln/>
        </p:spPr>
      </p:sp>
      <p:pic>
        <p:nvPicPr>
          <p:cNvPr id="22" name="icono-docker-2" descr="preencoded.png">    </p:cNvPr>
          <p:cNvPicPr>
            <a:picLocks noChangeAspect="1"/>
          </p:cNvPicPr>
          <p:nvPr/>
        </p:nvPicPr>
        <p:blipFill>
          <a:blip r:embed="rId3"/>
          <a:stretch>
            <a:fillRect/>
          </a:stretch>
        </p:blipFill>
        <p:spPr>
          <a:xfrm>
            <a:off x="991210" y="4831690"/>
            <a:ext cx="395021" cy="395021"/>
          </a:xfrm>
          <a:prstGeom prst="rect">
            <a:avLst/>
          </a:prstGeom>
        </p:spPr>
      </p:pic>
      <p:sp>
        <p:nvSpPr>
          <p:cNvPr id="23" name="Text 17"/>
          <p:cNvSpPr txBox="1"/>
          <p:nvPr/>
        </p:nvSpPr>
        <p:spPr>
          <a:xfrm>
            <a:off x="1828800" y="4572000"/>
            <a:ext cx="2377440" cy="411480"/>
          </a:xfrm>
          <a:prstGeom prst="rect">
            <a:avLst/>
          </a:prstGeom>
          <a:noFill/>
          <a:ln/>
        </p:spPr>
        <p:txBody>
          <a:bodyPr wrap="square" lIns="0" tIns="0" rIns="0" bIns="0" rtlCol="0" anchor="t"/>
          <a:lstStyle/>
          <a:p>
            <a:pPr indent="0" marL="0">
              <a:buNone/>
            </a:pPr>
            <a:r>
              <a:rPr lang="es-AR" altLang="en-US" sz="1800" b="1" dirty="0">
                <a:solidFill>
                  <a:schemeClr val="tx1"/>
                </a:solidFill>
              </a:rPr>
              <a:t>Kubernetes</a:t>
            </a:r>
            <a:endParaRPr lang="es-AR" sz="1800" dirty="0"/>
          </a:p>
        </p:txBody>
      </p:sp>
      <p:sp>
        <p:nvSpPr>
          <p:cNvPr id="24" name="Text 18"/>
          <p:cNvSpPr txBox="1"/>
          <p:nvPr/>
        </p:nvSpPr>
        <p:spPr>
          <a:xfrm>
            <a:off x="1828800" y="5010912"/>
            <a:ext cx="3108960" cy="594360"/>
          </a:xfrm>
          <a:prstGeom prst="rect">
            <a:avLst/>
          </a:prstGeom>
          <a:noFill/>
          <a:ln/>
        </p:spPr>
        <p:txBody>
          <a:bodyPr wrap="square" lIns="0" tIns="0" rIns="0" bIns="0" rtlCol="0" anchor="t"/>
          <a:lstStyle/>
          <a:p>
            <a:pPr indent="0" marL="0">
              <a:buNone/>
            </a:pPr>
            <a:r>
              <a:rPr lang="es-AR" altLang="en-US" sz="1400" dirty="0">
                <a:solidFill>
                  <a:schemeClr val="accent3"/>
                </a:solidFill>
              </a:rPr>
              <a:t>Dos Jobs en paralelo, un pod por producto; credenciales en un Secret</a:t>
            </a:r>
            <a:endParaRPr lang="es-AR" sz="1400" dirty="0"/>
          </a:p>
        </p:txBody>
      </p:sp>
      <p:sp>
        <p:nvSpPr>
          <p:cNvPr id="25" name="cmd-docker-2"/>
          <p:cNvSpPr/>
          <p:nvPr/>
        </p:nvSpPr>
        <p:spPr>
          <a:xfrm>
            <a:off x="5029200" y="4773168"/>
            <a:ext cx="2011680" cy="502920"/>
          </a:xfrm>
          <a:prstGeom prst="roundRect">
            <a:avLst>
              <a:gd name="adj" fmla="val 18182"/>
            </a:avLst>
          </a:prstGeom>
          <a:solidFill>
            <a:schemeClr val="tx2"/>
          </a:solidFill>
          <a:ln/>
        </p:spPr>
      </p:sp>
      <p:sp>
        <p:nvSpPr>
          <p:cNvPr id="26" name="Text 20"/>
          <p:cNvSpPr txBox="1"/>
          <p:nvPr/>
        </p:nvSpPr>
        <p:spPr>
          <a:xfrm>
            <a:off x="5029200" y="4773168"/>
            <a:ext cx="2011680" cy="502920"/>
          </a:xfrm>
          <a:prstGeom prst="rect">
            <a:avLst/>
          </a:prstGeom>
          <a:noFill/>
          <a:ln/>
        </p:spPr>
        <p:txBody>
          <a:bodyPr wrap="square" lIns="0" tIns="0" rIns="0" bIns="0" rtlCol="0" anchor="ctr"/>
          <a:lstStyle/>
          <a:p>
            <a:pPr algn="ctr" indent="0" marL="0">
              <a:buNone/>
            </a:pPr>
            <a:r>
              <a:rPr lang="es-AR" altLang="en-US" sz="1200" dirty="0">
                <a:solidFill>
                  <a:schemeClr val="bg1"/>
                </a:solidFill>
                <a:latin typeface="Courier New" pitchFamily="34" charset="0"/>
                <a:ea typeface="Courier New" pitchFamily="34" charset="-122"/>
                <a:cs typeface="Courier New" pitchFamily="34" charset="-120"/>
              </a:rPr>
              <a:t>npm run k8s:test</a:t>
            </a:r>
            <a:endParaRPr lang="es-AR" sz="1200" dirty="0"/>
          </a:p>
        </p:txBody>
      </p:sp>
      <p:sp>
        <p:nvSpPr>
          <p:cNvPr id="27" name="Text 21"/>
          <p:cNvSpPr txBox="1"/>
          <p:nvPr/>
        </p:nvSpPr>
        <p:spPr>
          <a:xfrm>
            <a:off x="548640" y="5943600"/>
            <a:ext cx="6675120" cy="320040"/>
          </a:xfrm>
          <a:prstGeom prst="rect">
            <a:avLst/>
          </a:prstGeom>
          <a:noFill/>
          <a:ln/>
        </p:spPr>
        <p:txBody>
          <a:bodyPr wrap="square" lIns="0" tIns="0" rIns="0" bIns="0" rtlCol="0" anchor="t"/>
          <a:lstStyle/>
          <a:p>
            <a:pPr indent="0" marL="0">
              <a:buNone/>
            </a:pPr>
            <a:r>
              <a:rPr lang="es-AR" altLang="en-US" sz="1400" b="1" dirty="0">
                <a:solidFill>
                  <a:schemeClr val="accent1"/>
                </a:solidFill>
              </a:rPr>
              <a:t>Resultado: 12/12 en Docker (46 s) y en Kubernetes en paralelo (35 s)</a:t>
            </a:r>
            <a:endParaRPr lang="es-AR" sz="1400" dirty="0"/>
          </a:p>
        </p:txBody>
      </p:sp>
      <p:sp>
        <p:nvSpPr>
          <p:cNvPr id="28" name="tarjeta-licencia"/>
          <p:cNvSpPr/>
          <p:nvPr/>
        </p:nvSpPr>
        <p:spPr>
          <a:xfrm>
            <a:off x="7498080" y="1371600"/>
            <a:ext cx="4114800" cy="4206240"/>
          </a:xfrm>
          <a:prstGeom prst="roundRect">
            <a:avLst>
              <a:gd name="adj" fmla="val 2667"/>
            </a:avLst>
          </a:prstGeom>
          <a:solidFill>
            <a:schemeClr val="tx2"/>
          </a:solidFill>
          <a:ln/>
          <a:effectLst>
            <a:outerShdw sx="100000" sy="100000" kx="0" ky="0" algn="bl" rotWithShape="0" blurRad="101600" dist="25400" dir="5400000">
              <a:srgbClr val="1B2430">
                <a:alpha val="12000"/>
              </a:srgbClr>
            </a:outerShdw>
          </a:effectLst>
        </p:spPr>
      </p:sp>
      <p:sp>
        <p:nvSpPr>
          <p:cNvPr id="29" name="Text 23"/>
          <p:cNvSpPr txBox="1"/>
          <p:nvPr/>
        </p:nvSpPr>
        <p:spPr>
          <a:xfrm>
            <a:off x="7772400" y="1600200"/>
            <a:ext cx="3566160" cy="731520"/>
          </a:xfrm>
          <a:prstGeom prst="rect">
            <a:avLst/>
          </a:prstGeom>
          <a:noFill/>
          <a:ln/>
        </p:spPr>
        <p:txBody>
          <a:bodyPr wrap="square" lIns="0" tIns="0" rIns="0" bIns="0" rtlCol="0" anchor="t"/>
          <a:lstStyle/>
          <a:p>
            <a:pPr indent="0" marL="0">
              <a:buNone/>
            </a:pPr>
            <a:r>
              <a:rPr lang="es-AR" altLang="en-US" sz="1800" b="1" dirty="0">
                <a:solidFill>
                  <a:schemeClr val="bg1"/>
                </a:solidFill>
              </a:rPr>
              <a:t>¿Docker Desktop o Rancher Desktop?</a:t>
            </a:r>
            <a:endParaRPr lang="es-AR" sz="1800" dirty="0"/>
          </a:p>
        </p:txBody>
      </p:sp>
      <p:sp>
        <p:nvSpPr>
          <p:cNvPr id="30" name="Text 24"/>
          <p:cNvSpPr txBox="1"/>
          <p:nvPr/>
        </p:nvSpPr>
        <p:spPr>
          <a:xfrm>
            <a:off x="7772400" y="2423160"/>
            <a:ext cx="3566160" cy="3017520"/>
          </a:xfrm>
          <a:prstGeom prst="rect">
            <a:avLst/>
          </a:prstGeom>
          <a:noFill/>
          <a:ln/>
        </p:spPr>
        <p:txBody>
          <a:bodyPr wrap="square" lIns="0" tIns="0" rIns="0" bIns="0" rtlCol="0" anchor="t"/>
          <a:lstStyle/>
          <a:p>
            <a:pPr indent="0" marL="0">
              <a:buNone/>
            </a:pPr>
            <a:r>
              <a:rPr lang="es-AR" altLang="en-US" sz="1500" b="1" dirty="0">
                <a:solidFill>
                  <a:schemeClr val="bg1"/>
                </a:solidFill>
              </a:rPr>
              <a:t>Docker Desktop</a:t>
            </a:r>
            <a:endParaRPr lang="es-AR" sz="1500" dirty="0"/>
          </a:p>
          <a:p>
            <a:pPr indent="0" marL="0">
              <a:buNone/>
            </a:pPr>
            <a:r>
              <a:rPr lang="es-AR" altLang="en-US" sz="1500" dirty="0">
                <a:solidFill>
                  <a:schemeClr val="bg2"/>
                </a:solidFill>
              </a:rPr>
              <a:t>Pago en empresas de más de 250 empleados o 10 millones de dólares</a:t>
            </a:r>
            <a:endParaRPr lang="es-AR" sz="1500" dirty="0"/>
          </a:p>
          <a:p>
            <a:pPr indent="0" marL="0">
              <a:buNone/>
            </a:pPr>
            <a:r>
              <a:rPr lang="es-AR" altLang="en-US" sz="1500" dirty="0">
                <a:solidFill>
                  <a:schemeClr val="tx1"/>
                </a:solidFill>
              </a:rPr>
              <a:t> </a:t>
            </a:r>
            <a:endParaRPr lang="es-AR" sz="1500" dirty="0"/>
          </a:p>
          <a:p>
            <a:pPr indent="0" marL="0">
              <a:buNone/>
            </a:pPr>
            <a:r>
              <a:rPr lang="es-AR" altLang="en-US" sz="1500" b="1" dirty="0">
                <a:solidFill>
                  <a:schemeClr val="accent2"/>
                </a:solidFill>
              </a:rPr>
              <a:t>Rancher Desktop</a:t>
            </a:r>
            <a:endParaRPr lang="es-AR" sz="1500" dirty="0"/>
          </a:p>
          <a:p>
            <a:pPr indent="0" marL="0">
              <a:buNone/>
            </a:pPr>
            <a:r>
              <a:rPr lang="es-AR" altLang="en-US" sz="1500" dirty="0">
                <a:solidFill>
                  <a:schemeClr val="bg2"/>
                </a:solidFill>
              </a:rPr>
              <a:t>Gratis y open source: trae Docker y Kubernetes</a:t>
            </a:r>
            <a:endParaRPr lang="es-AR" sz="1500" dirty="0"/>
          </a:p>
          <a:p>
            <a:pPr indent="0" marL="0">
              <a:buNone/>
            </a:pPr>
            <a:r>
              <a:rPr lang="es-AR" altLang="en-US" sz="1500" dirty="0">
                <a:solidFill>
                  <a:schemeClr val="tx1"/>
                </a:solidFill>
              </a:rPr>
              <a:t> </a:t>
            </a:r>
            <a:endParaRPr lang="es-AR" sz="1500" dirty="0"/>
          </a:p>
          <a:p>
            <a:pPr indent="0" marL="0">
              <a:buNone/>
            </a:pPr>
            <a:r>
              <a:rPr lang="es-AR" altLang="en-US" sz="1500" i="1" dirty="0">
                <a:solidFill>
                  <a:schemeClr val="bg2"/>
                </a:solidFill>
              </a:rPr>
              <a:t>El mismo Dockerfile y los mismos comandos sirven para los dos</a:t>
            </a:r>
            <a:endParaRPr lang="es-AR" sz="1500" dirty="0"/>
          </a:p>
        </p:txBody>
      </p:sp>
      <p:sp>
        <p:nvSpPr>
          <p:cNvPr id="31" name="Text 25"/>
          <p:cNvSpPr txBox="1"/>
          <p:nvPr/>
        </p:nvSpPr>
        <p:spPr>
          <a:xfrm>
            <a:off x="7498080" y="5715000"/>
            <a:ext cx="4114800" cy="548640"/>
          </a:xfrm>
          <a:prstGeom prst="rect">
            <a:avLst/>
          </a:prstGeom>
          <a:noFill/>
          <a:ln/>
        </p:spPr>
        <p:txBody>
          <a:bodyPr wrap="square" lIns="0" tIns="0" rIns="0" bIns="0" rtlCol="0" anchor="t"/>
          <a:lstStyle/>
          <a:p>
            <a:pPr indent="0" marL="0">
              <a:buNone/>
            </a:pPr>
            <a:r>
              <a:rPr lang="es-AR" altLang="en-US" sz="1200" i="1" dirty="0">
                <a:solidFill>
                  <a:schemeClr val="accent3"/>
                </a:solidFill>
              </a:rPr>
              <a:t>VMS no corre en contenedores: necesita el escritorio de Windows</a:t>
            </a:r>
            <a:endParaRPr lang="es-AR" sz="12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tx1"/>
                </a:solidFill>
              </a:rPr>
              <a:t>Kubernetes en simple: Job, Pod y contenedor</a:t>
            </a:r>
            <a:endParaRPr lang="es-AR" sz="3200" dirty="0"/>
          </a:p>
        </p:txBody>
      </p:sp>
      <p:sp>
        <p:nvSpPr>
          <p:cNvPr id="4" name="diag-job"/>
          <p:cNvSpPr/>
          <p:nvPr/>
        </p:nvSpPr>
        <p:spPr>
          <a:xfrm>
            <a:off x="548640" y="1325880"/>
            <a:ext cx="6675120" cy="4709160"/>
          </a:xfrm>
          <a:prstGeom prst="roundRect">
            <a:avLst>
              <a:gd name="adj" fmla="val 2330"/>
            </a:avLst>
          </a:prstGeom>
          <a:solidFill>
            <a:schemeClr val="bg2"/>
          </a:solidFill>
          <a:ln/>
        </p:spPr>
      </p:sp>
      <p:sp>
        <p:nvSpPr>
          <p:cNvPr id="5" name="Text 2"/>
          <p:cNvSpPr txBox="1"/>
          <p:nvPr/>
        </p:nvSpPr>
        <p:spPr>
          <a:xfrm>
            <a:off x="777240" y="1463040"/>
            <a:ext cx="6217920" cy="365760"/>
          </a:xfrm>
          <a:prstGeom prst="rect">
            <a:avLst/>
          </a:prstGeom>
          <a:noFill/>
          <a:ln/>
        </p:spPr>
        <p:txBody>
          <a:bodyPr wrap="square" lIns="0" tIns="0" rIns="0" bIns="0" rtlCol="0" anchor="t"/>
          <a:lstStyle/>
          <a:p>
            <a:pPr indent="0" marL="0">
              <a:buNone/>
            </a:pPr>
            <a:r>
              <a:rPr lang="es-AR" altLang="en-US" sz="1700" b="1" dirty="0">
                <a:solidFill>
                  <a:schemeClr val="tx1"/>
                </a:solidFill>
              </a:rPr>
              <a:t>Job </a:t>
            </a:r>
            <a:pPr indent="0" marL="0">
              <a:buNone/>
            </a:pPr>
            <a:r>
              <a:rPr lang="es-AR" altLang="en-US" sz="1700" dirty="0">
                <a:solidFill>
                  <a:schemeClr val="accent1"/>
                </a:solidFill>
                <a:latin typeface="Courier New" pitchFamily="34" charset="0"/>
                <a:ea typeface="Courier New" pitchFamily="34" charset="-122"/>
                <a:cs typeface="Courier New" pitchFamily="34" charset="-120"/>
              </a:rPr>
              <a:t>qa-tests-anpr</a:t>
            </a:r>
            <a:endParaRPr lang="es-AR" sz="1700" dirty="0"/>
          </a:p>
        </p:txBody>
      </p:sp>
      <p:sp>
        <p:nvSpPr>
          <p:cNvPr id="6" name="Text 3"/>
          <p:cNvSpPr txBox="1"/>
          <p:nvPr/>
        </p:nvSpPr>
        <p:spPr>
          <a:xfrm>
            <a:off x="777240" y="1847088"/>
            <a:ext cx="6217920" cy="548640"/>
          </a:xfrm>
          <a:prstGeom prst="rect">
            <a:avLst/>
          </a:prstGeom>
          <a:noFill/>
          <a:ln/>
        </p:spPr>
        <p:txBody>
          <a:bodyPr wrap="square" lIns="0" tIns="0" rIns="0" bIns="0" rtlCol="0" anchor="t"/>
          <a:lstStyle/>
          <a:p>
            <a:pPr indent="0" marL="0">
              <a:buNone/>
            </a:pPr>
            <a:r>
              <a:rPr lang="es-AR" altLang="en-US" sz="1300" dirty="0">
                <a:solidFill>
                  <a:schemeClr val="accent3"/>
                </a:solidFill>
              </a:rPr>
              <a:t>La orden: "corré estos tests hasta que terminen". Dice si pasó (Complete) o falló (Failed)</a:t>
            </a:r>
            <a:endParaRPr lang="es-AR" sz="1300" dirty="0"/>
          </a:p>
        </p:txBody>
      </p:sp>
      <p:sp>
        <p:nvSpPr>
          <p:cNvPr id="7" name="diag-pod"/>
          <p:cNvSpPr/>
          <p:nvPr/>
        </p:nvSpPr>
        <p:spPr>
          <a:xfrm>
            <a:off x="777240" y="2514600"/>
            <a:ext cx="6217920" cy="3291840"/>
          </a:xfrm>
          <a:prstGeom prst="roundRect">
            <a:avLst>
              <a:gd name="adj" fmla="val 3333"/>
            </a:avLst>
          </a:prstGeom>
          <a:solidFill>
            <a:schemeClr val="bg1"/>
          </a:solidFill>
          <a:ln w="19050">
            <a:solidFill>
              <a:srgbClr val="0F8B8D"/>
            </a:solidFill>
            <a:prstDash val="solid"/>
          </a:ln>
        </p:spPr>
      </p:sp>
      <p:sp>
        <p:nvSpPr>
          <p:cNvPr id="8" name="Text 5"/>
          <p:cNvSpPr txBox="1"/>
          <p:nvPr/>
        </p:nvSpPr>
        <p:spPr>
          <a:xfrm>
            <a:off x="1005840" y="2651760"/>
            <a:ext cx="5760720" cy="365760"/>
          </a:xfrm>
          <a:prstGeom prst="rect">
            <a:avLst/>
          </a:prstGeom>
          <a:noFill/>
          <a:ln/>
        </p:spPr>
        <p:txBody>
          <a:bodyPr wrap="square" lIns="0" tIns="0" rIns="0" bIns="0" rtlCol="0" anchor="t"/>
          <a:lstStyle/>
          <a:p>
            <a:pPr indent="0" marL="0">
              <a:buNone/>
            </a:pPr>
            <a:r>
              <a:rPr lang="es-AR" altLang="en-US" sz="1700" b="1" dirty="0">
                <a:solidFill>
                  <a:schemeClr val="tx1"/>
                </a:solidFill>
              </a:rPr>
              <a:t>Pod </a:t>
            </a:r>
            <a:pPr indent="0" marL="0">
              <a:buNone/>
            </a:pPr>
            <a:r>
              <a:rPr lang="es-AR" altLang="en-US" sz="1700" dirty="0">
                <a:solidFill>
                  <a:schemeClr val="accent1"/>
                </a:solidFill>
                <a:latin typeface="Courier New" pitchFamily="34" charset="0"/>
                <a:ea typeface="Courier New" pitchFamily="34" charset="-122"/>
                <a:cs typeface="Courier New" pitchFamily="34" charset="-120"/>
              </a:rPr>
              <a:t>qa-tests-anpr-p7brh</a:t>
            </a:r>
            <a:endParaRPr lang="es-AR" sz="1700" dirty="0"/>
          </a:p>
        </p:txBody>
      </p:sp>
      <p:sp>
        <p:nvSpPr>
          <p:cNvPr id="9" name="Text 6"/>
          <p:cNvSpPr txBox="1"/>
          <p:nvPr/>
        </p:nvSpPr>
        <p:spPr>
          <a:xfrm>
            <a:off x="1005840" y="3017520"/>
            <a:ext cx="5760720" cy="320040"/>
          </a:xfrm>
          <a:prstGeom prst="rect">
            <a:avLst/>
          </a:prstGeom>
          <a:noFill/>
          <a:ln/>
        </p:spPr>
        <p:txBody>
          <a:bodyPr wrap="square" lIns="0" tIns="0" rIns="0" bIns="0" rtlCol="0" anchor="t"/>
          <a:lstStyle/>
          <a:p>
            <a:pPr indent="0" marL="0">
              <a:buNone/>
            </a:pPr>
            <a:r>
              <a:rPr lang="es-AR" altLang="en-US" sz="1300" dirty="0">
                <a:solidFill>
                  <a:schemeClr val="accent3"/>
                </a:solidFill>
              </a:rPr>
              <a:t>Donde corre: uno o más contenedores que comparten la red</a:t>
            </a:r>
            <a:endParaRPr lang="es-AR" sz="1300" dirty="0"/>
          </a:p>
        </p:txBody>
      </p:sp>
      <p:sp>
        <p:nvSpPr>
          <p:cNvPr id="10" name="diag-playwright"/>
          <p:cNvSpPr/>
          <p:nvPr/>
        </p:nvSpPr>
        <p:spPr>
          <a:xfrm>
            <a:off x="1005840" y="3520440"/>
            <a:ext cx="3246120" cy="2057400"/>
          </a:xfrm>
          <a:prstGeom prst="roundRect">
            <a:avLst>
              <a:gd name="adj" fmla="val 5333"/>
            </a:avLst>
          </a:prstGeom>
          <a:solidFill>
            <a:schemeClr val="tx2"/>
          </a:solidFill>
          <a:ln/>
        </p:spPr>
      </p:sp>
      <p:sp>
        <p:nvSpPr>
          <p:cNvPr id="11" name="circulo-diag-playwright"/>
          <p:cNvSpPr/>
          <p:nvPr/>
        </p:nvSpPr>
        <p:spPr>
          <a:xfrm>
            <a:off x="1188720" y="3703320"/>
            <a:ext cx="548640" cy="548640"/>
          </a:xfrm>
          <a:prstGeom prst="ellipse">
            <a:avLst/>
          </a:prstGeom>
          <a:solidFill>
            <a:schemeClr val="accent1"/>
          </a:solidFill>
          <a:ln/>
        </p:spPr>
      </p:sp>
      <p:pic>
        <p:nvPicPr>
          <p:cNvPr id="12" name="icono-diag-playwright" descr="preencoded.png">    </p:cNvPr>
          <p:cNvPicPr>
            <a:picLocks noChangeAspect="1"/>
          </p:cNvPicPr>
          <p:nvPr/>
        </p:nvPicPr>
        <p:blipFill>
          <a:blip r:embed="rId1"/>
          <a:stretch>
            <a:fillRect/>
          </a:stretch>
        </p:blipFill>
        <p:spPr>
          <a:xfrm>
            <a:off x="1331366" y="3845966"/>
            <a:ext cx="263347" cy="263347"/>
          </a:xfrm>
          <a:prstGeom prst="rect">
            <a:avLst/>
          </a:prstGeom>
        </p:spPr>
      </p:pic>
      <p:sp>
        <p:nvSpPr>
          <p:cNvPr id="13" name="Text 9"/>
          <p:cNvSpPr txBox="1"/>
          <p:nvPr/>
        </p:nvSpPr>
        <p:spPr>
          <a:xfrm>
            <a:off x="1874520" y="3749040"/>
            <a:ext cx="2286000" cy="457200"/>
          </a:xfrm>
          <a:prstGeom prst="rect">
            <a:avLst/>
          </a:prstGeom>
          <a:noFill/>
          <a:ln/>
        </p:spPr>
        <p:txBody>
          <a:bodyPr wrap="square" lIns="0" tIns="0" rIns="0" bIns="0" rtlCol="0" anchor="ctr"/>
          <a:lstStyle/>
          <a:p>
            <a:pPr indent="0" marL="0">
              <a:buNone/>
            </a:pPr>
            <a:r>
              <a:rPr lang="es-AR" altLang="en-US" sz="1500" b="1" dirty="0">
                <a:solidFill>
                  <a:schemeClr val="bg1"/>
                </a:solidFill>
              </a:rPr>
              <a:t>Contenedor "playwright"</a:t>
            </a:r>
            <a:endParaRPr lang="es-AR" sz="1500" dirty="0"/>
          </a:p>
        </p:txBody>
      </p:sp>
      <p:sp>
        <p:nvSpPr>
          <p:cNvPr id="14" name="Text 10"/>
          <p:cNvSpPr txBox="1"/>
          <p:nvPr/>
        </p:nvSpPr>
        <p:spPr>
          <a:xfrm>
            <a:off x="1188720" y="4389120"/>
            <a:ext cx="2926080" cy="1005840"/>
          </a:xfrm>
          <a:prstGeom prst="rect">
            <a:avLst/>
          </a:prstGeom>
          <a:noFill/>
          <a:ln/>
        </p:spPr>
        <p:txBody>
          <a:bodyPr wrap="square" lIns="0" tIns="0" rIns="0" bIns="0" rtlCol="0" anchor="t"/>
          <a:lstStyle/>
          <a:p>
            <a:pPr indent="0" marL="0">
              <a:buNone/>
            </a:pPr>
            <a:r>
              <a:rPr lang="es-AR" altLang="en-US" sz="1400" dirty="0">
                <a:solidFill>
                  <a:schemeClr val="bg2"/>
                </a:solidFill>
              </a:rPr>
              <a:t>Nuestra caja: corre los 7 tests de ANPR y termina</a:t>
            </a:r>
            <a:endParaRPr lang="es-AR" sz="1400" dirty="0"/>
          </a:p>
        </p:txBody>
      </p:sp>
      <p:sp>
        <p:nvSpPr>
          <p:cNvPr id="15" name="diag-pausa"/>
          <p:cNvSpPr/>
          <p:nvPr/>
        </p:nvSpPr>
        <p:spPr>
          <a:xfrm>
            <a:off x="4434840" y="3520440"/>
            <a:ext cx="2331720" cy="2057400"/>
          </a:xfrm>
          <a:prstGeom prst="roundRect">
            <a:avLst>
              <a:gd name="adj" fmla="val 5333"/>
            </a:avLst>
          </a:prstGeom>
          <a:solidFill>
            <a:schemeClr val="bg2"/>
          </a:solidFill>
          <a:ln/>
        </p:spPr>
      </p:sp>
      <p:sp>
        <p:nvSpPr>
          <p:cNvPr id="16" name="Text 12"/>
          <p:cNvSpPr txBox="1"/>
          <p:nvPr/>
        </p:nvSpPr>
        <p:spPr>
          <a:xfrm>
            <a:off x="4617720" y="3703320"/>
            <a:ext cx="2011680" cy="457200"/>
          </a:xfrm>
          <a:prstGeom prst="rect">
            <a:avLst/>
          </a:prstGeom>
          <a:noFill/>
          <a:ln/>
        </p:spPr>
        <p:txBody>
          <a:bodyPr wrap="square" lIns="0" tIns="0" rIns="0" bIns="0" rtlCol="0" anchor="t"/>
          <a:lstStyle/>
          <a:p>
            <a:pPr indent="0" marL="0">
              <a:buNone/>
            </a:pPr>
            <a:r>
              <a:rPr lang="es-AR" altLang="en-US" sz="1400" b="1" dirty="0">
                <a:solidFill>
                  <a:schemeClr val="tx1"/>
                </a:solidFill>
              </a:rPr>
              <a:t>Contenedor de pausa</a:t>
            </a:r>
            <a:endParaRPr lang="es-AR" sz="1400" dirty="0"/>
          </a:p>
        </p:txBody>
      </p:sp>
      <p:sp>
        <p:nvSpPr>
          <p:cNvPr id="17" name="Text 13"/>
          <p:cNvSpPr txBox="1"/>
          <p:nvPr/>
        </p:nvSpPr>
        <p:spPr>
          <a:xfrm>
            <a:off x="4617720" y="4206240"/>
            <a:ext cx="2011680" cy="1234440"/>
          </a:xfrm>
          <a:prstGeom prst="rect">
            <a:avLst/>
          </a:prstGeom>
          <a:noFill/>
          <a:ln/>
        </p:spPr>
        <p:txBody>
          <a:bodyPr wrap="square" lIns="0" tIns="0" rIns="0" bIns="0" rtlCol="0" anchor="t"/>
          <a:lstStyle/>
          <a:p>
            <a:pPr indent="0" marL="0">
              <a:buNone/>
            </a:pPr>
            <a:r>
              <a:rPr lang="es-AR" altLang="en-US" sz="1300" dirty="0">
                <a:solidFill>
                  <a:schemeClr val="accent3"/>
                </a:solidFill>
              </a:rPr>
              <a:t>Lo pone Kubernetes para guardar la red del Pod. Se puede ignorar</a:t>
            </a:r>
            <a:endParaRPr lang="es-AR" sz="1300" dirty="0"/>
          </a:p>
        </p:txBody>
      </p:sp>
      <p:sp>
        <p:nvSpPr>
          <p:cNvPr id="18" name="tarjeta-diag-imagen"/>
          <p:cNvSpPr/>
          <p:nvPr/>
        </p:nvSpPr>
        <p:spPr>
          <a:xfrm>
            <a:off x="7498080" y="1325880"/>
            <a:ext cx="4114800" cy="1371600"/>
          </a:xfrm>
          <a:prstGeom prst="roundRect">
            <a:avLst>
              <a:gd name="adj" fmla="val 8000"/>
            </a:avLst>
          </a:prstGeom>
          <a:solidFill>
            <a:schemeClr val="tx2"/>
          </a:solidFill>
          <a:ln/>
          <a:effectLst>
            <a:outerShdw sx="100000" sy="100000" kx="0" ky="0" algn="bl" rotWithShape="0" blurRad="101600" dist="25400" dir="5400000">
              <a:srgbClr val="1B2430">
                <a:alpha val="12000"/>
              </a:srgbClr>
            </a:outerShdw>
          </a:effectLst>
        </p:spPr>
      </p:sp>
      <p:sp>
        <p:nvSpPr>
          <p:cNvPr id="19" name="circulo-diag-imagen"/>
          <p:cNvSpPr/>
          <p:nvPr/>
        </p:nvSpPr>
        <p:spPr>
          <a:xfrm>
            <a:off x="7726680" y="1600200"/>
            <a:ext cx="731520" cy="731520"/>
          </a:xfrm>
          <a:prstGeom prst="ellipse">
            <a:avLst/>
          </a:prstGeom>
          <a:solidFill>
            <a:schemeClr val="accent2"/>
          </a:solidFill>
          <a:ln/>
        </p:spPr>
      </p:sp>
      <p:pic>
        <p:nvPicPr>
          <p:cNvPr id="20" name="icono-diag-imagen" descr="preencoded.png">    </p:cNvPr>
          <p:cNvPicPr>
            <a:picLocks noChangeAspect="1"/>
          </p:cNvPicPr>
          <p:nvPr/>
        </p:nvPicPr>
        <p:blipFill>
          <a:blip r:embed="rId2"/>
          <a:stretch>
            <a:fillRect/>
          </a:stretch>
        </p:blipFill>
        <p:spPr>
          <a:xfrm>
            <a:off x="7916875" y="1790395"/>
            <a:ext cx="351130" cy="351130"/>
          </a:xfrm>
          <a:prstGeom prst="rect">
            <a:avLst/>
          </a:prstGeom>
        </p:spPr>
      </p:pic>
      <p:sp>
        <p:nvSpPr>
          <p:cNvPr id="21" name="Text 16"/>
          <p:cNvSpPr txBox="1"/>
          <p:nvPr/>
        </p:nvSpPr>
        <p:spPr>
          <a:xfrm>
            <a:off x="8641080" y="1463040"/>
            <a:ext cx="2834640" cy="365760"/>
          </a:xfrm>
          <a:prstGeom prst="rect">
            <a:avLst/>
          </a:prstGeom>
          <a:noFill/>
          <a:ln/>
        </p:spPr>
        <p:txBody>
          <a:bodyPr wrap="square" lIns="0" tIns="0" rIns="0" bIns="0" rtlCol="0" anchor="t"/>
          <a:lstStyle/>
          <a:p>
            <a:pPr indent="0" marL="0">
              <a:buNone/>
            </a:pPr>
            <a:r>
              <a:rPr lang="es-AR" altLang="en-US" sz="1600" b="1" dirty="0">
                <a:solidFill>
                  <a:schemeClr val="bg1"/>
                </a:solidFill>
              </a:rPr>
              <a:t>Imagen</a:t>
            </a:r>
            <a:endParaRPr lang="es-AR" sz="1600" dirty="0"/>
          </a:p>
        </p:txBody>
      </p:sp>
      <p:sp>
        <p:nvSpPr>
          <p:cNvPr id="22" name="Text 17"/>
          <p:cNvSpPr txBox="1"/>
          <p:nvPr/>
        </p:nvSpPr>
        <p:spPr>
          <a:xfrm>
            <a:off x="8641080" y="1847088"/>
            <a:ext cx="2834640" cy="731520"/>
          </a:xfrm>
          <a:prstGeom prst="rect">
            <a:avLst/>
          </a:prstGeom>
          <a:noFill/>
          <a:ln/>
        </p:spPr>
        <p:txBody>
          <a:bodyPr wrap="square" lIns="0" tIns="0" rIns="0" bIns="0" rtlCol="0" anchor="t"/>
          <a:lstStyle/>
          <a:p>
            <a:pPr indent="0" marL="0">
              <a:buNone/>
            </a:pPr>
            <a:r>
              <a:rPr lang="es-AR" altLang="en-US" sz="1300" dirty="0">
                <a:solidFill>
                  <a:schemeClr val="bg2"/>
                </a:solidFill>
              </a:rPr>
              <a:t>qa-ai-workshop-tests: el molde del contenedor. La misma de Docker</a:t>
            </a:r>
            <a:endParaRPr lang="es-AR" sz="1300" dirty="0"/>
          </a:p>
        </p:txBody>
      </p:sp>
      <p:sp>
        <p:nvSpPr>
          <p:cNvPr id="23" name="tarjeta-diag-nombres"/>
          <p:cNvSpPr/>
          <p:nvPr/>
        </p:nvSpPr>
        <p:spPr>
          <a:xfrm>
            <a:off x="7498080" y="2880360"/>
            <a:ext cx="4114800" cy="1874520"/>
          </a:xfrm>
          <a:prstGeom prst="roundRect">
            <a:avLst>
              <a:gd name="adj" fmla="val 5854"/>
            </a:avLst>
          </a:prstGeom>
          <a:solidFill>
            <a:schemeClr val="bg2"/>
          </a:solidFill>
          <a:ln/>
          <a:effectLst>
            <a:outerShdw sx="100000" sy="100000" kx="0" ky="0" algn="bl" rotWithShape="0" blurRad="101600" dist="25400" dir="5400000">
              <a:srgbClr val="1B2430">
                <a:alpha val="12000"/>
              </a:srgbClr>
            </a:outerShdw>
          </a:effectLst>
        </p:spPr>
      </p:sp>
      <p:sp>
        <p:nvSpPr>
          <p:cNvPr id="24" name="Text 19"/>
          <p:cNvSpPr txBox="1"/>
          <p:nvPr/>
        </p:nvSpPr>
        <p:spPr>
          <a:xfrm>
            <a:off x="7726680" y="3017520"/>
            <a:ext cx="3657600" cy="365760"/>
          </a:xfrm>
          <a:prstGeom prst="rect">
            <a:avLst/>
          </a:prstGeom>
          <a:noFill/>
          <a:ln/>
        </p:spPr>
        <p:txBody>
          <a:bodyPr wrap="square" lIns="0" tIns="0" rIns="0" bIns="0" rtlCol="0" anchor="t"/>
          <a:lstStyle/>
          <a:p>
            <a:pPr indent="0" marL="0">
              <a:buNone/>
            </a:pPr>
            <a:r>
              <a:rPr lang="es-AR" altLang="en-US" sz="1500" b="1" dirty="0">
                <a:solidFill>
                  <a:schemeClr val="tx1"/>
                </a:solidFill>
              </a:rPr>
              <a:t>Cómo leer los nombres</a:t>
            </a:r>
            <a:endParaRPr lang="es-AR" sz="1500" dirty="0"/>
          </a:p>
        </p:txBody>
      </p:sp>
      <p:sp>
        <p:nvSpPr>
          <p:cNvPr id="25" name="Text 20"/>
          <p:cNvSpPr txBox="1"/>
          <p:nvPr/>
        </p:nvSpPr>
        <p:spPr>
          <a:xfrm>
            <a:off x="7726680" y="3401568"/>
            <a:ext cx="3703320" cy="1280160"/>
          </a:xfrm>
          <a:prstGeom prst="rect">
            <a:avLst/>
          </a:prstGeom>
          <a:noFill/>
          <a:ln/>
        </p:spPr>
        <p:txBody>
          <a:bodyPr wrap="square" lIns="0" tIns="0" rIns="0" bIns="0" rtlCol="0" anchor="t"/>
          <a:lstStyle/>
          <a:p>
            <a:pPr indent="0" marL="0">
              <a:buNone/>
            </a:pPr>
            <a:r>
              <a:rPr lang="es-AR" altLang="en-US" sz="1300" dirty="0">
                <a:solidFill>
                  <a:schemeClr val="accent1"/>
                </a:solidFill>
                <a:latin typeface="Courier New" pitchFamily="34" charset="0"/>
                <a:ea typeface="Courier New" pitchFamily="34" charset="-122"/>
                <a:cs typeface="Courier New" pitchFamily="34" charset="-120"/>
              </a:rPr>
              <a:t>default/qa-tests-anpr-p7brh</a:t>
            </a:r>
            <a:endParaRPr lang="es-AR" sz="1300" dirty="0"/>
          </a:p>
          <a:p>
            <a:pPr marL="342900" indent="-342900">
              <a:buSzPct val="100000"/>
              <a:buChar char="•"/>
            </a:pPr>
            <a:r>
              <a:rPr lang="es-AR" altLang="en-US" sz="1300" dirty="0">
                <a:solidFill>
                  <a:schemeClr val="tx1"/>
                </a:solidFill>
              </a:rPr>
              <a:t>default: el namespace, una carpeta de Kubernetes</a:t>
            </a:r>
            <a:endParaRPr lang="es-AR" sz="1300" dirty="0"/>
          </a:p>
          <a:p>
            <a:pPr marL="342900" indent="-342900">
              <a:buSzPct val="100000"/>
              <a:buChar char="•"/>
            </a:pPr>
            <a:r>
              <a:rPr lang="es-AR" altLang="en-US" sz="1300" dirty="0">
                <a:solidFill>
                  <a:schemeClr val="tx1"/>
                </a:solidFill>
              </a:rPr>
              <a:t>qa-tests-anpr: el Job que lo creó</a:t>
            </a:r>
            <a:endParaRPr lang="es-AR" sz="1300" dirty="0"/>
          </a:p>
          <a:p>
            <a:pPr marL="342900" indent="-342900">
              <a:buSzPct val="100000"/>
              <a:buChar char="•"/>
            </a:pPr>
            <a:r>
              <a:rPr lang="es-AR" altLang="en-US" sz="1300" dirty="0">
                <a:solidFill>
                  <a:schemeClr val="tx1"/>
                </a:solidFill>
              </a:rPr>
              <a:t>p7brh: letras al azar, cambian en cada corrida</a:t>
            </a:r>
            <a:endParaRPr lang="es-AR" sz="1300" dirty="0"/>
          </a:p>
        </p:txBody>
      </p:sp>
      <p:sp>
        <p:nvSpPr>
          <p:cNvPr id="26" name="tarjeta-diag-exited"/>
          <p:cNvSpPr/>
          <p:nvPr/>
        </p:nvSpPr>
        <p:spPr>
          <a:xfrm>
            <a:off x="7498080" y="4937760"/>
            <a:ext cx="4114800" cy="1097280"/>
          </a:xfrm>
          <a:prstGeom prst="roundRect">
            <a:avLst>
              <a:gd name="adj" fmla="val 10000"/>
            </a:avLst>
          </a:prstGeom>
          <a:solidFill>
            <a:schemeClr val="bg2"/>
          </a:solidFill>
          <a:ln/>
          <a:effectLst>
            <a:outerShdw sx="100000" sy="100000" kx="0" ky="0" algn="bl" rotWithShape="0" blurRad="101600" dist="25400" dir="5400000">
              <a:srgbClr val="1B2430">
                <a:alpha val="12000"/>
              </a:srgbClr>
            </a:outerShdw>
          </a:effectLst>
        </p:spPr>
      </p:sp>
      <p:sp>
        <p:nvSpPr>
          <p:cNvPr id="27" name="circulo-diag-exited"/>
          <p:cNvSpPr/>
          <p:nvPr/>
        </p:nvSpPr>
        <p:spPr>
          <a:xfrm>
            <a:off x="7726680" y="5138928"/>
            <a:ext cx="685800" cy="685800"/>
          </a:xfrm>
          <a:prstGeom prst="ellipse">
            <a:avLst/>
          </a:prstGeom>
          <a:solidFill>
            <a:schemeClr val="accent5"/>
          </a:solidFill>
          <a:ln/>
        </p:spPr>
      </p:sp>
      <p:pic>
        <p:nvPicPr>
          <p:cNvPr id="28" name="icono-diag-exited" descr="preencoded.png">    </p:cNvPr>
          <p:cNvPicPr>
            <a:picLocks noChangeAspect="1"/>
          </p:cNvPicPr>
          <p:nvPr/>
        </p:nvPicPr>
        <p:blipFill>
          <a:blip r:embed="rId3"/>
          <a:stretch>
            <a:fillRect/>
          </a:stretch>
        </p:blipFill>
        <p:spPr>
          <a:xfrm>
            <a:off x="7904988" y="5317236"/>
            <a:ext cx="329184" cy="329184"/>
          </a:xfrm>
          <a:prstGeom prst="rect">
            <a:avLst/>
          </a:prstGeom>
        </p:spPr>
      </p:pic>
      <p:sp>
        <p:nvSpPr>
          <p:cNvPr id="29" name="Text 23"/>
          <p:cNvSpPr txBox="1"/>
          <p:nvPr/>
        </p:nvSpPr>
        <p:spPr>
          <a:xfrm>
            <a:off x="8595360" y="5074920"/>
            <a:ext cx="2880360" cy="365760"/>
          </a:xfrm>
          <a:prstGeom prst="rect">
            <a:avLst/>
          </a:prstGeom>
          <a:noFill/>
          <a:ln/>
        </p:spPr>
        <p:txBody>
          <a:bodyPr wrap="square" lIns="0" tIns="0" rIns="0" bIns="0" rtlCol="0" anchor="t"/>
          <a:lstStyle/>
          <a:p>
            <a:pPr indent="0" marL="0">
              <a:buNone/>
            </a:pPr>
            <a:r>
              <a:rPr lang="es-AR" altLang="en-US" sz="1500" b="1" dirty="0">
                <a:solidFill>
                  <a:schemeClr val="tx1"/>
                </a:solidFill>
              </a:rPr>
              <a:t>"exited" es lo esperado</a:t>
            </a:r>
            <a:endParaRPr lang="es-AR" sz="1500" dirty="0"/>
          </a:p>
        </p:txBody>
      </p:sp>
      <p:sp>
        <p:nvSpPr>
          <p:cNvPr id="30" name="Text 24"/>
          <p:cNvSpPr txBox="1"/>
          <p:nvPr/>
        </p:nvSpPr>
        <p:spPr>
          <a:xfrm>
            <a:off x="8595360" y="5440680"/>
            <a:ext cx="2880360" cy="548640"/>
          </a:xfrm>
          <a:prstGeom prst="rect">
            <a:avLst/>
          </a:prstGeom>
          <a:noFill/>
          <a:ln/>
        </p:spPr>
        <p:txBody>
          <a:bodyPr wrap="square" lIns="0" tIns="0" rIns="0" bIns="0" rtlCol="0" anchor="t"/>
          <a:lstStyle/>
          <a:p>
            <a:pPr indent="0" marL="0">
              <a:buNone/>
            </a:pPr>
            <a:r>
              <a:rPr lang="es-AR" altLang="en-US" sz="1300" dirty="0">
                <a:solidFill>
                  <a:schemeClr val="accent3"/>
                </a:solidFill>
              </a:rPr>
              <a:t>Los tests terminaron. Si fallan, el Job dice Failed</a:t>
            </a:r>
            <a:endParaRPr lang="es-AR" sz="13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s-AR" altLang="en-US" sz="3200" b="1" dirty="0">
                <a:solidFill>
                  <a:schemeClr val="bg1"/>
                </a:solidFill>
              </a:rPr>
              <a:t>Lo que nos llevamos y próximos pasos</a:t>
            </a:r>
            <a:endParaRPr lang="es-AR" sz="3200" dirty="0"/>
          </a:p>
        </p:txBody>
      </p:sp>
      <p:sp>
        <p:nvSpPr>
          <p:cNvPr id="4" name="circulo-cierre-1"/>
          <p:cNvSpPr/>
          <p:nvPr/>
        </p:nvSpPr>
        <p:spPr>
          <a:xfrm>
            <a:off x="548640" y="1463040"/>
            <a:ext cx="777240" cy="777240"/>
          </a:xfrm>
          <a:prstGeom prst="ellipse">
            <a:avLst/>
          </a:prstGeom>
          <a:solidFill>
            <a:schemeClr val="accent2"/>
          </a:solidFill>
          <a:ln/>
        </p:spPr>
      </p:sp>
      <p:pic>
        <p:nvPicPr>
          <p:cNvPr id="5" name="icono-cierre-1" descr="preencoded.png">    </p:cNvPr>
          <p:cNvPicPr>
            <a:picLocks noChangeAspect="1"/>
          </p:cNvPicPr>
          <p:nvPr/>
        </p:nvPicPr>
        <p:blipFill>
          <a:blip r:embed="rId1"/>
          <a:stretch>
            <a:fillRect/>
          </a:stretch>
        </p:blipFill>
        <p:spPr>
          <a:xfrm>
            <a:off x="750722" y="1665122"/>
            <a:ext cx="373075" cy="373075"/>
          </a:xfrm>
          <a:prstGeom prst="rect">
            <a:avLst/>
          </a:prstGeom>
        </p:spPr>
      </p:pic>
      <p:sp>
        <p:nvSpPr>
          <p:cNvPr id="6" name="Text 2"/>
          <p:cNvSpPr txBox="1"/>
          <p:nvPr/>
        </p:nvSpPr>
        <p:spPr>
          <a:xfrm>
            <a:off x="1554480" y="1600200"/>
            <a:ext cx="4206240" cy="457200"/>
          </a:xfrm>
          <a:prstGeom prst="rect">
            <a:avLst/>
          </a:prstGeom>
          <a:noFill/>
          <a:ln/>
        </p:spPr>
        <p:txBody>
          <a:bodyPr wrap="square" lIns="0" tIns="0" rIns="0" bIns="0" rtlCol="0" anchor="t"/>
          <a:lstStyle/>
          <a:p>
            <a:pPr indent="0" marL="0">
              <a:buNone/>
            </a:pPr>
            <a:r>
              <a:rPr lang="es-AR" altLang="en-US" sz="2000" b="1" dirty="0">
                <a:solidFill>
                  <a:schemeClr val="bg1"/>
                </a:solidFill>
              </a:rPr>
              <a:t>Lo que nos llevamos</a:t>
            </a:r>
            <a:endParaRPr lang="es-AR" sz="2000" dirty="0"/>
          </a:p>
        </p:txBody>
      </p:sp>
      <p:sp>
        <p:nvSpPr>
          <p:cNvPr id="7" name="Text 3"/>
          <p:cNvSpPr txBox="1"/>
          <p:nvPr/>
        </p:nvSpPr>
        <p:spPr>
          <a:xfrm>
            <a:off x="548640" y="2514600"/>
            <a:ext cx="5120640" cy="2743200"/>
          </a:xfrm>
          <a:prstGeom prst="rect">
            <a:avLst/>
          </a:prstGeom>
          <a:noFill/>
          <a:ln/>
        </p:spPr>
        <p:txBody>
          <a:bodyPr wrap="square" lIns="0" tIns="0" rIns="0" bIns="0" rtlCol="0" anchor="t"/>
          <a:lstStyle/>
          <a:p>
            <a:pPr marL="342900" indent="-342900">
              <a:spcAft>
                <a:spcPts val="1000"/>
              </a:spcAft>
              <a:buSzPct val="100000"/>
              <a:buChar char="•"/>
            </a:pPr>
            <a:r>
              <a:rPr lang="es-AR" altLang="en-US" sz="1600" dirty="0">
                <a:solidFill>
                  <a:schemeClr val="bg2"/>
                </a:solidFill>
              </a:rPr>
              <a:t>Cada agente para su tarea: Antigravity prueba la web con evidencia; Claude Code, servidores, escritorio y CI</a:t>
            </a:r>
            <a:endParaRPr lang="es-AR" sz="1600" dirty="0"/>
          </a:p>
          <a:p>
            <a:pPr marL="342900" indent="-342900">
              <a:spcAft>
                <a:spcPts val="1000"/>
              </a:spcAft>
              <a:buSzPct val="100000"/>
              <a:buChar char="•"/>
            </a:pPr>
            <a:r>
              <a:rPr lang="es-AR" altLang="en-US" sz="1600" dirty="0">
                <a:solidFill>
                  <a:schemeClr val="bg2"/>
                </a:solidFill>
              </a:rPr>
              <a:t>La IA escribe y ejecuta; QA decide qué probar y valida el resultado</a:t>
            </a:r>
            <a:endParaRPr lang="es-AR" sz="1600" dirty="0"/>
          </a:p>
          <a:p>
            <a:pPr marL="342900" indent="-342900">
              <a:spcAft>
                <a:spcPts val="1000"/>
              </a:spcAft>
              <a:buSzPct val="100000"/>
              <a:buChar char="•"/>
            </a:pPr>
            <a:r>
              <a:rPr lang="es-AR" altLang="en-US" sz="1600" dirty="0">
                <a:solidFill>
                  <a:schemeClr val="bg2"/>
                </a:solidFill>
              </a:rPr>
              <a:t>Las integraciones encontraron lo que los tests de un producto no ven</a:t>
            </a:r>
            <a:endParaRPr lang="es-AR" sz="1600" dirty="0"/>
          </a:p>
          <a:p>
            <a:pPr marL="342900" indent="-342900">
              <a:spcAft>
                <a:spcPts val="1000"/>
              </a:spcAft>
              <a:buSzPct val="100000"/>
              <a:buChar char="•"/>
            </a:pPr>
            <a:r>
              <a:rPr lang="es-AR" altLang="en-US" sz="1600" dirty="0">
                <a:solidFill>
                  <a:schemeClr val="bg2"/>
                </a:solidFill>
              </a:rPr>
              <a:t>Mirar más allá de la pantalla: base de datos y logs</a:t>
            </a:r>
            <a:endParaRPr lang="es-AR" sz="1600" dirty="0"/>
          </a:p>
        </p:txBody>
      </p:sp>
      <p:sp>
        <p:nvSpPr>
          <p:cNvPr id="8" name="circulo-cierre-2"/>
          <p:cNvSpPr/>
          <p:nvPr/>
        </p:nvSpPr>
        <p:spPr>
          <a:xfrm>
            <a:off x="6309360" y="1463040"/>
            <a:ext cx="777240" cy="777240"/>
          </a:xfrm>
          <a:prstGeom prst="ellipse">
            <a:avLst/>
          </a:prstGeom>
          <a:solidFill>
            <a:schemeClr val="accent1"/>
          </a:solidFill>
          <a:ln/>
        </p:spPr>
      </p:sp>
      <p:pic>
        <p:nvPicPr>
          <p:cNvPr id="9" name="icono-cierre-2" descr="preencoded.png">    </p:cNvPr>
          <p:cNvPicPr>
            <a:picLocks noChangeAspect="1"/>
          </p:cNvPicPr>
          <p:nvPr/>
        </p:nvPicPr>
        <p:blipFill>
          <a:blip r:embed="rId2"/>
          <a:stretch>
            <a:fillRect/>
          </a:stretch>
        </p:blipFill>
        <p:spPr>
          <a:xfrm>
            <a:off x="6511442" y="1665122"/>
            <a:ext cx="373075" cy="373075"/>
          </a:xfrm>
          <a:prstGeom prst="rect">
            <a:avLst/>
          </a:prstGeom>
        </p:spPr>
      </p:pic>
      <p:sp>
        <p:nvSpPr>
          <p:cNvPr id="10" name="Text 5"/>
          <p:cNvSpPr txBox="1"/>
          <p:nvPr/>
        </p:nvSpPr>
        <p:spPr>
          <a:xfrm>
            <a:off x="7315200" y="1600200"/>
            <a:ext cx="4206240" cy="457200"/>
          </a:xfrm>
          <a:prstGeom prst="rect">
            <a:avLst/>
          </a:prstGeom>
          <a:noFill/>
          <a:ln/>
        </p:spPr>
        <p:txBody>
          <a:bodyPr wrap="square" lIns="0" tIns="0" rIns="0" bIns="0" rtlCol="0" anchor="t"/>
          <a:lstStyle/>
          <a:p>
            <a:pPr indent="0" marL="0">
              <a:buNone/>
            </a:pPr>
            <a:r>
              <a:rPr lang="es-AR" altLang="en-US" sz="2000" b="1" dirty="0">
                <a:solidFill>
                  <a:schemeClr val="bg1"/>
                </a:solidFill>
              </a:rPr>
              <a:t>Próximos pasos</a:t>
            </a:r>
            <a:endParaRPr lang="es-AR" sz="2000" dirty="0"/>
          </a:p>
        </p:txBody>
      </p:sp>
      <p:sp>
        <p:nvSpPr>
          <p:cNvPr id="11" name="Text 6"/>
          <p:cNvSpPr txBox="1"/>
          <p:nvPr/>
        </p:nvSpPr>
        <p:spPr>
          <a:xfrm>
            <a:off x="6309360" y="2514600"/>
            <a:ext cx="5120640" cy="2743200"/>
          </a:xfrm>
          <a:prstGeom prst="rect">
            <a:avLst/>
          </a:prstGeom>
          <a:noFill/>
          <a:ln/>
        </p:spPr>
        <p:txBody>
          <a:bodyPr wrap="square" lIns="0" tIns="0" rIns="0" bIns="0" rtlCol="0" anchor="t"/>
          <a:lstStyle/>
          <a:p>
            <a:pPr marL="342900" indent="-342900">
              <a:spcAft>
                <a:spcPts val="1000"/>
              </a:spcAft>
              <a:buSzPct val="100000"/>
              <a:buChar char="•"/>
            </a:pPr>
            <a:r>
              <a:rPr lang="es-AR" altLang="en-US" sz="1600" dirty="0">
                <a:solidFill>
                  <a:schemeClr val="bg2"/>
                </a:solidFill>
              </a:rPr>
              <a:t>Esperar el feedback de la líder de QA y de los compañeros</a:t>
            </a:r>
            <a:endParaRPr lang="es-AR" sz="1600" dirty="0"/>
          </a:p>
          <a:p>
            <a:pPr marL="342900" indent="-342900">
              <a:spcAft>
                <a:spcPts val="1000"/>
              </a:spcAft>
              <a:buSzPct val="100000"/>
              <a:buChar char="•"/>
            </a:pPr>
            <a:r>
              <a:rPr lang="es-AR" altLang="en-US" sz="1600" dirty="0">
                <a:solidFill>
                  <a:schemeClr val="bg2"/>
                </a:solidFill>
              </a:rPr>
              <a:t>Si les gusta, seguimos; si no, sigue el colega Erik automatizando :)</a:t>
            </a:r>
            <a:endParaRPr lang="es-AR" sz="1600" dirty="0"/>
          </a:p>
        </p:txBody>
      </p:sp>
      <p:sp>
        <p:nvSpPr>
          <p:cNvPr id="12" name="Text 7"/>
          <p:cNvSpPr txBox="1"/>
          <p:nvPr/>
        </p:nvSpPr>
        <p:spPr>
          <a:xfrm>
            <a:off x="548640" y="5394960"/>
            <a:ext cx="5486400" cy="640080"/>
          </a:xfrm>
          <a:prstGeom prst="rect">
            <a:avLst/>
          </a:prstGeom>
          <a:noFill/>
          <a:ln/>
        </p:spPr>
        <p:txBody>
          <a:bodyPr wrap="square" lIns="0" tIns="0" rIns="0" bIns="0" rtlCol="0" anchor="t"/>
          <a:lstStyle/>
          <a:p>
            <a:pPr indent="0" marL="0">
              <a:buNone/>
            </a:pPr>
            <a:r>
              <a:rPr lang="es-AR" altLang="en-US" sz="3000" b="1" dirty="0">
                <a:solidFill>
                  <a:schemeClr val="accent2"/>
                </a:solidFill>
                <a:latin typeface="Arial" pitchFamily="34" charset="0"/>
                <a:ea typeface="Arial" pitchFamily="34" charset="-122"/>
                <a:cs typeface="Arial" pitchFamily="34" charset="-120"/>
              </a:rPr>
              <a:t>¿Preguntas?</a:t>
            </a:r>
            <a:endParaRPr lang="es-AR" sz="3000" dirty="0"/>
          </a:p>
        </p:txBody>
      </p:sp>
      <p:sp>
        <p:nvSpPr>
          <p:cNvPr id="25" name="Slide Number Placeholder 0"/>
          <p:cNvSpPr>
            <a:spLocks noGrp="1"/>
          </p:cNvSpPr>
          <p:nvPr>
            <p:ph type="sldNum" sz="quarter" idx="4294967295"/>
          </p:nvPr>
        </p:nvSpPr>
        <p:spPr>
          <a:xfrm>
            <a:off x="10698480" y="640080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bg2"/>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Workshop QA IA">
  <a:themeElements>
    <a:clrScheme name="Workshop QA IA">
      <a:dk1>
        <a:srgbClr val="1B2430"/>
      </a:dk1>
      <a:lt1>
        <a:srgbClr val="FFFFFF"/>
      </a:lt1>
      <a:dk2>
        <a:srgbClr val="0E2A33"/>
      </a:dk2>
      <a:lt2>
        <a:srgbClr val="EEF4F3"/>
      </a:lt2>
      <a:accent1>
        <a:srgbClr val="0F8B8D"/>
      </a:accent1>
      <a:accent2>
        <a:srgbClr val="F4A259"/>
      </a:accent2>
      <a:accent3>
        <a:srgbClr val="6B7C85"/>
      </a:accent3>
      <a:accent4>
        <a:srgbClr val="C0504D"/>
      </a:accent4>
      <a:accent5>
        <a:srgbClr val="6A994E"/>
      </a:accent5>
      <a:accent6>
        <a:srgbClr val="2E4057"/>
      </a:accent6>
      <a:hlink>
        <a:srgbClr val="0F8B8D"/>
      </a:hlink>
      <a:folHlink>
        <a:srgbClr val="6B7C85"/>
      </a:folHlink>
    </a:clrScheme>
    <a:fontScheme name="Workshop QA 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Automatización de pruebas con agentes de IA</dc:title>
  <dc:subject>Workshop QA + IA</dc:subject>
  <dc:creator>Maximiliano Francesconi</dc:creator>
  <cp:lastModifiedBy>Maximiliano Francesconi</cp:lastModifiedBy>
  <cp:revision>1</cp:revision>
  <dcterms:created xsi:type="dcterms:W3CDTF">2026-10-21T21:05:14Z</dcterms:created>
  <dcterms:modified xsi:type="dcterms:W3CDTF">2026-10-21T21:05:14Z</dcterms:modified>
</cp:coreProperties>
</file>